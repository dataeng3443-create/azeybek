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70" r:id="rId6"/>
    <p:sldId id="260" r:id="rId7"/>
    <p:sldId id="261" r:id="rId8"/>
    <p:sldId id="271" r:id="rId9"/>
    <p:sldId id="273" r:id="rId10"/>
    <p:sldId id="262" r:id="rId11"/>
    <p:sldId id="263" r:id="rId12"/>
    <p:sldId id="272" r:id="rId13"/>
    <p:sldId id="264" r:id="rId14"/>
    <p:sldId id="265" r:id="rId15"/>
    <p:sldId id="266" r:id="rId16"/>
    <p:sldId id="269"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492"/>
    <p:restoredTop sz="94610"/>
  </p:normalViewPr>
  <p:slideViewPr>
    <p:cSldViewPr snapToGrid="0" snapToObjects="1">
      <p:cViewPr>
        <p:scale>
          <a:sx n="120" d="100"/>
          <a:sy n="120" d="100"/>
        </p:scale>
        <p:origin x="328"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80362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Açılış: Son dönemde AI kodlama asistanlarıyla, yani vibe coding yaklaşımıyla geliştirdiğim dört projeyi göstereceğim. Hepsi BI ekibinin günlük işindeki tekrarlayan ve zaman alan adımları hedefliyor.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Dört projeyi isimleriyle tanıtın. Hepsi aynı alanda çalışıyor: Power BI ve SSAS. Üçü Power BI şablon dosyası (.pbit) alıp işliyor, sonuncusu doğal dilde soruyu dashboard'a çeviriyor. Şimdi tek tek detaya geçiyoruz.</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Bugün Power BI'da hazırlanan bir modeli SSAS'a taşımak büyük ölçüde elle yapılan bir iş. Bu araç .pbit dosyasını okuyup Visual Studio'daki SSAS Tabular projesine doğrudan konabilecek Model.bim dosyasını üretiyor. Önemli ilke: dönüştüremediği bir şey varsa tahmin etmiyor, raporda açıkça söylüyor.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Akış dört adım: yükle, hedef sürümü seç, dönüştür, indir. Model Microsoft'un kendi TOM kütüphanesiyle kuruluyor ve indirilmeden önce yeniden okunup doğrulanıyor. 64 otomatik testin tamamı geçiyor. Testler sentetik dosyalarla yapıldı; bir sonraki adım gerçek bir PBIT ve SSAS sunucusunda deploy ve process testi.</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İkinci proje kalite kontrolü. Bugün bir raporun iyi kurulup kurulmadığı, inceleyen kişinin deneyimine bağlı. Bu araç herkese aynı kural setini uyguluyor ve sonucu puan, bulgu ve düzeltme önerisi olarak veriyor.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Puan üç kategoriden oluşuyor: veri modellemesi 40, sorgu ve DAX 40, görselleştirme 20 puan. Her kategori alt başlıklara bölünmüş, böylece bir alandaki sorun diğerinin puanını yemiyor. Puanı kural motoru veriyor; AI yalnızca bulguları yorumluyor ve açıklıyor, puanı değiştirmiyor. İki gerçek ekip raporunda denedik: 57,7 ve 73,3 puan aldılar, her biri için 11 ile 16 arasında somut bulgu çıktı.</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Üçüncü proje tasarım tarafında. Temel fikir: analist neyi göstereceğine karar verir, AI nasıl gösterileceğine. Araç raporun analitik içeriğini değiştirmiyor; sadece görünümü, yerleşimi ve uygun grafik türünü iyileştiriyor.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Üç mod var. İyileştir: mevcut görsellerin grafik türü, rengi ve yerleşimi düzeltilir. Sıfırdan tasarım: sayfalar veri modeline göre yeniden kurulur. Referans: beğenilen bir dashboard görseli yüklenir, renk paleti ve kompozisyonu rapora uygulanır. Her değişiklik izin listesiyle karşılaştırılıyor; sorgu, filtre veya ölçü bağında tek fark çıkarsa dosya teslim edilmiyor. Çıktı Power BI Desktop'ta açılıp son kontrol yapılıyor.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Son proje self-servis analitik tarafında. Kullanıcı "risk seviyesine göre dağılımı karşılaştır" gibi bir soru yazıyor, sistem ilgili tabloları bulup DAX sorgusunu üretiyor ve sonuca uygun dashboard'u çiziyor. AI yalnızca plan, sorgu önerisi ve dashboard tanımı üretiyor; kod çalıştırmıyor.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 sorgu, elle düzenlenmiş olsa bile, aynı doğrulama kapısından geçiyor: yalnızca EVALUATE ile başlayan okuma sorguları, bilinen alanlar ve sınırlı satır sayısı. Dil modeli yanıt vermezse uygulama kural tabanlı yedek akışla çalışmaya devam ediyor. Şu an sentetik veriyle çalışıyor; veri katmanı değiştirilebilir tasarlandı, Faz 2'de gerçek SSAS'a bağlanacak.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Yönetim açısından en önemli slayt bu olabilir. Veri güvenliği: AI kullanan üç araçta model bilgisayarda yerel çalışıyor, hiçbir veri dışarı gitmiyor. Mevcut ekosistemle uyumlu: Power BI ve SSAS dosyalarıyla çalışıyor. Güvenilirlik: AI'ın ürettiği her şey kurallarla kontrol ediliyor ve AI devre dışı kalsa bile araç çalışıyor.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Kapanış. Zaman varsa canlı demo: en etkileyici olan BI Skorlama ile gerçek bir raporun puanlanması veya UX Designer ile bir raporun referans görsele göre yeniden tasarlanması olabilir.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20"/>
            <a:ext cx="10566400" cy="502890"/>
          </a:xfrm>
          <a:prstGeom prst="rect">
            <a:avLst/>
          </a:prstGeom>
          <a:noFill/>
          <a:ln/>
        </p:spPr>
        <p:txBody>
          <a:bodyPr wrap="square" lIns="0" tIns="0" rIns="0" bIns="0" rtlCol="0" anchor="t"/>
          <a:lstStyle>
            <a:lvl1pPr marL="0" indent="0" algn="l">
              <a:lnSpc>
                <a:spcPct val="115000"/>
              </a:lnSpc>
              <a:buNone/>
              <a:defRPr lang="en-US" sz="3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35411"/>
            <a:ext cx="10566400" cy="4109789"/>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20"/>
            <a:ext cx="10566400" cy="502890"/>
          </a:xfrm>
          <a:prstGeom prst="rect">
            <a:avLst/>
          </a:prstGeom>
          <a:noFill/>
          <a:ln/>
        </p:spPr>
        <p:txBody>
          <a:bodyPr wrap="square" lIns="0" tIns="0" rIns="0" bIns="0" rtlCol="0" anchor="t"/>
          <a:lstStyle>
            <a:lvl1pPr marL="0" indent="0" algn="l">
              <a:lnSpc>
                <a:spcPct val="115000"/>
              </a:lnSpc>
              <a:buNone/>
              <a:defRPr lang="en-US" sz="3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35411"/>
            <a:ext cx="10566400" cy="4109789"/>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F59E5B"/>
          </a:solidFill>
          <a:ln/>
        </p:spPr>
        <p:txBody>
          <a:bodyPr/>
          <a:lstStyle/>
          <a:p>
            <a:endParaRPr lang="en-TR"/>
          </a:p>
        </p:txBody>
      </p:sp>
      <p:sp>
        <p:nvSpPr>
          <p:cNvPr id="4" name="Text 2"/>
          <p:cNvSpPr>
            <a:spLocks noGrp="1"/>
          </p:cNvSpPr>
          <p:nvPr>
            <p:ph type="title"/>
          </p:nvPr>
        </p:nvSpPr>
        <p:spPr>
          <a:xfrm>
            <a:off x="812800" y="2085380"/>
            <a:ext cx="10883392" cy="1732260"/>
          </a:xfrm>
          <a:prstGeom prst="rect">
            <a:avLst/>
          </a:prstGeom>
          <a:noFill/>
          <a:ln/>
        </p:spPr>
        <p:txBody>
          <a:bodyPr wrap="square" lIns="0" tIns="0" rIns="0" bIns="0" rtlCol="0" anchor="t">
            <a:normAutofit/>
          </a:bodyPr>
          <a:lstStyle/>
          <a:p>
            <a:pPr marL="0" indent="0" algn="l">
              <a:lnSpc>
                <a:spcPts val="6720"/>
              </a:lnSpc>
              <a:buNone/>
            </a:pPr>
            <a:r>
              <a:rPr lang="en-US" sz="6400" b="1" i="0" dirty="0">
                <a:solidFill>
                  <a:srgbClr val="F6F4EF"/>
                </a:solidFill>
                <a:latin typeface="IBM Plex Sans" pitchFamily="34" charset="0"/>
                <a:ea typeface="IBM Plex Sans" pitchFamily="34" charset="-122"/>
                <a:cs typeface="IBM Plex Sans" pitchFamily="34" charset="-120"/>
              </a:rPr>
              <a:t>AI Vibe Coding</a:t>
            </a:r>
            <a:endParaRPr lang="en-US" sz="6400" dirty="0"/>
          </a:p>
          <a:p>
            <a:pPr marL="0" indent="0" algn="l">
              <a:lnSpc>
                <a:spcPts val="6720"/>
              </a:lnSpc>
              <a:buNone/>
            </a:pPr>
            <a:r>
              <a:rPr lang="en-US" sz="6400" b="1" i="0" dirty="0">
                <a:solidFill>
                  <a:srgbClr val="F6F4EF"/>
                </a:solidFill>
                <a:latin typeface="IBM Plex Sans" pitchFamily="34" charset="0"/>
                <a:ea typeface="IBM Plex Sans" pitchFamily="34" charset="-122"/>
                <a:cs typeface="IBM Plex Sans" pitchFamily="34" charset="-120"/>
              </a:rPr>
              <a:t>Projeleri</a:t>
            </a:r>
            <a:endParaRPr lang="en-US" sz="6400" dirty="0"/>
          </a:p>
        </p:txBody>
      </p:sp>
      <p:sp>
        <p:nvSpPr>
          <p:cNvPr id="5" name="Text 3"/>
          <p:cNvSpPr/>
          <p:nvPr/>
        </p:nvSpPr>
        <p:spPr>
          <a:xfrm>
            <a:off x="812800" y="4046240"/>
            <a:ext cx="10883392" cy="751780"/>
          </a:xfrm>
          <a:prstGeom prst="rect">
            <a:avLst/>
          </a:prstGeom>
          <a:noFill/>
          <a:ln/>
        </p:spPr>
        <p:txBody>
          <a:bodyPr wrap="square" lIns="0" tIns="0" rIns="0" bIns="0" rtlCol="0" anchor="t">
            <a:normAutofit/>
          </a:bodyPr>
          <a:lstStyle/>
          <a:p>
            <a:pPr>
              <a:lnSpc>
                <a:spcPts val="2860"/>
              </a:lnSpc>
            </a:pPr>
            <a:r>
              <a:rPr lang="en-US" sz="2200" dirty="0">
                <a:solidFill>
                  <a:srgbClr val="C9D3E3"/>
                </a:solidFill>
                <a:latin typeface="IBM Plex Sans" pitchFamily="34" charset="0"/>
                <a:ea typeface="IBM Plex Sans" pitchFamily="34" charset="-122"/>
                <a:cs typeface="IBM Plex Sans" pitchFamily="34" charset="-120"/>
              </a:rPr>
              <a:t>SSAS Generator · BI </a:t>
            </a:r>
            <a:r>
              <a:rPr lang="en-US" sz="2200" dirty="0" err="1">
                <a:solidFill>
                  <a:srgbClr val="C9D3E3"/>
                </a:solidFill>
                <a:latin typeface="IBM Plex Sans" pitchFamily="34" charset="0"/>
                <a:ea typeface="IBM Plex Sans" pitchFamily="34" charset="-122"/>
                <a:cs typeface="IBM Plex Sans" pitchFamily="34" charset="-120"/>
              </a:rPr>
              <a:t>Skorlama</a:t>
            </a:r>
            <a:endParaRPr lang="en-US" sz="2200" dirty="0"/>
          </a:p>
          <a:p>
            <a:pPr>
              <a:lnSpc>
                <a:spcPts val="2860"/>
              </a:lnSpc>
            </a:pPr>
            <a:r>
              <a:rPr lang="en-US" sz="2200" dirty="0">
                <a:solidFill>
                  <a:srgbClr val="C9D3E3"/>
                </a:solidFill>
                <a:latin typeface="IBM Plex Sans" pitchFamily="34" charset="0"/>
                <a:ea typeface="IBM Plex Sans" pitchFamily="34" charset="-122"/>
                <a:cs typeface="IBM Plex Sans" pitchFamily="34" charset="-120"/>
              </a:rPr>
              <a:t>BI UX Designer · LLM </a:t>
            </a:r>
            <a:r>
              <a:rPr lang="en-US" sz="2200" dirty="0" err="1">
                <a:solidFill>
                  <a:srgbClr val="C9D3E3"/>
                </a:solidFill>
                <a:latin typeface="IBM Plex Sans" pitchFamily="34" charset="0"/>
                <a:ea typeface="IBM Plex Sans" pitchFamily="34" charset="-122"/>
                <a:cs typeface="IBM Plex Sans" pitchFamily="34" charset="-120"/>
              </a:rPr>
              <a:t>Destekli</a:t>
            </a:r>
            <a:r>
              <a:rPr lang="en-US" sz="2200" dirty="0">
                <a:solidFill>
                  <a:srgbClr val="C9D3E3"/>
                </a:solidFill>
                <a:latin typeface="IBM Plex Sans" pitchFamily="34" charset="0"/>
                <a:ea typeface="IBM Plex Sans" pitchFamily="34" charset="-122"/>
                <a:cs typeface="IBM Plex Sans" pitchFamily="34" charset="-120"/>
              </a:rPr>
              <a:t> BI </a:t>
            </a:r>
            <a:r>
              <a:rPr lang="en-US" sz="2200" dirty="0" err="1">
                <a:solidFill>
                  <a:srgbClr val="C9D3E3"/>
                </a:solidFill>
                <a:latin typeface="IBM Plex Sans" pitchFamily="34" charset="0"/>
                <a:ea typeface="IBM Plex Sans" pitchFamily="34" charset="-122"/>
                <a:cs typeface="IBM Plex Sans" pitchFamily="34" charset="-120"/>
              </a:rPr>
              <a:t>Paneli</a:t>
            </a:r>
            <a:endParaRPr lang="en-US" sz="2200" dirty="0"/>
          </a:p>
        </p:txBody>
      </p:sp>
      <p:sp>
        <p:nvSpPr>
          <p:cNvPr id="6" name="Text 4"/>
          <p:cNvSpPr/>
          <p:nvPr/>
        </p:nvSpPr>
        <p:spPr>
          <a:xfrm>
            <a:off x="812800" y="579631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E3"/>
                </a:solidFill>
                <a:latin typeface="IBM Plex Sans" pitchFamily="34" charset="0"/>
                <a:ea typeface="IBM Plex Sans" pitchFamily="34" charset="-122"/>
                <a:cs typeface="IBM Plex Sans" pitchFamily="34" charset="-120"/>
              </a:rPr>
              <a:t>Ahmet Enes Zeybek · Veri Hazırlama ve İş Zekası</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A84A14"/>
                </a:solidFill>
                <a:latin typeface="IBM Plex Mono" pitchFamily="49" charset="0"/>
                <a:ea typeface="IBM Plex Mono" pitchFamily="49" charset="-122"/>
                <a:cs typeface="IBM Plex Mono" pitchFamily="49" charset="-120"/>
              </a:rPr>
              <a:t>GENEL BAKIŞ</a:t>
            </a:r>
            <a:endParaRPr lang="en-US" sz="1200" dirty="0"/>
          </a:p>
        </p:txBody>
      </p:sp>
      <p:sp>
        <p:nvSpPr>
          <p:cNvPr id="4" name="Shape 2"/>
          <p:cNvSpPr/>
          <p:nvPr/>
        </p:nvSpPr>
        <p:spPr>
          <a:xfrm>
            <a:off x="815975" y="1989386"/>
            <a:ext cx="2482850" cy="3849439"/>
          </a:xfrm>
          <a:prstGeom prst="roundRect">
            <a:avLst>
              <a:gd name="adj" fmla="val 3964"/>
            </a:avLst>
          </a:prstGeom>
          <a:solidFill>
            <a:srgbClr val="FFFDF8"/>
          </a:solidFill>
          <a:ln w="6350">
            <a:solidFill>
              <a:srgbClr val="DDD7CA"/>
            </a:solidFill>
            <a:prstDash val="solid"/>
          </a:ln>
        </p:spPr>
        <p:txBody>
          <a:bodyPr/>
          <a:lstStyle/>
          <a:p>
            <a:endParaRPr lang="en-TR"/>
          </a:p>
        </p:txBody>
      </p:sp>
      <p:sp>
        <p:nvSpPr>
          <p:cNvPr id="5" name="Text 3"/>
          <p:cNvSpPr/>
          <p:nvPr/>
        </p:nvSpPr>
        <p:spPr>
          <a:xfrm>
            <a:off x="1073150" y="2246561"/>
            <a:ext cx="2027555"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A84A14"/>
                </a:solidFill>
                <a:latin typeface="IBM Plex Mono" pitchFamily="49" charset="0"/>
                <a:ea typeface="IBM Plex Mono" pitchFamily="49" charset="-122"/>
                <a:cs typeface="IBM Plex Mono" pitchFamily="49" charset="-120"/>
              </a:rPr>
              <a:t>01</a:t>
            </a:r>
            <a:endParaRPr lang="en-US" sz="1400" dirty="0"/>
          </a:p>
        </p:txBody>
      </p:sp>
      <p:sp>
        <p:nvSpPr>
          <p:cNvPr id="6" name="Text 4"/>
          <p:cNvSpPr/>
          <p:nvPr/>
        </p:nvSpPr>
        <p:spPr>
          <a:xfrm>
            <a:off x="1073150" y="2622451"/>
            <a:ext cx="2027555" cy="60960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4213D"/>
                </a:solidFill>
                <a:latin typeface="IBM Plex Sans" pitchFamily="34" charset="0"/>
                <a:ea typeface="IBM Plex Sans" pitchFamily="34" charset="-122"/>
                <a:cs typeface="IBM Plex Sans" pitchFamily="34" charset="-120"/>
              </a:rPr>
              <a:t>SSAS</a:t>
            </a:r>
            <a:endParaRPr lang="en-US" sz="2000" dirty="0"/>
          </a:p>
          <a:p>
            <a:pPr marL="0" indent="0" algn="l">
              <a:lnSpc>
                <a:spcPts val="2300"/>
              </a:lnSpc>
              <a:buNone/>
            </a:pPr>
            <a:r>
              <a:rPr lang="en-US" sz="2000" b="1" dirty="0">
                <a:solidFill>
                  <a:srgbClr val="14213D"/>
                </a:solidFill>
                <a:latin typeface="IBM Plex Sans" pitchFamily="34" charset="0"/>
                <a:ea typeface="IBM Plex Sans" pitchFamily="34" charset="-122"/>
                <a:cs typeface="IBM Plex Sans" pitchFamily="34" charset="-120"/>
              </a:rPr>
              <a:t>Generator</a:t>
            </a:r>
            <a:endParaRPr lang="en-US" sz="2000" dirty="0"/>
          </a:p>
        </p:txBody>
      </p:sp>
      <p:sp>
        <p:nvSpPr>
          <p:cNvPr id="7" name="Text 5"/>
          <p:cNvSpPr/>
          <p:nvPr/>
        </p:nvSpPr>
        <p:spPr>
          <a:xfrm>
            <a:off x="1073150" y="3333651"/>
            <a:ext cx="2027555" cy="1500000"/>
          </a:xfrm>
          <a:prstGeom prst="rect">
            <a:avLst/>
          </a:prstGeom>
          <a:noFill/>
          <a:ln/>
        </p:spPr>
        <p:txBody>
          <a:bodyPr wrap="square" lIns="0" tIns="0" rIns="0" bIns="0" rtlCol="0" anchor="t">
            <a:normAutofit/>
          </a:bodyPr>
          <a:lstStyle/>
          <a:p>
            <a:pPr marL="0" indent="0" algn="l">
              <a:lnSpc>
                <a:spcPts val="1960"/>
              </a:lnSpc>
              <a:buNone/>
            </a:pPr>
            <a:r>
              <a:rPr lang="tr-TR" sz="1400" dirty="0">
                <a:solidFill>
                  <a:srgbClr val="4A5568"/>
                </a:solidFill>
                <a:latin typeface="IBM Plex Sans" pitchFamily="34" charset="0"/>
                <a:ea typeface="IBM Plex Sans" pitchFamily="34" charset="-122"/>
                <a:cs typeface="IBM Plex Sans" pitchFamily="34" charset="-120"/>
              </a:rPr>
              <a:t>Power BI modelini SSAS Tabular modeline dönüştürür.</a:t>
            </a:r>
            <a:endParaRPr lang="en-US" sz="1400" dirty="0"/>
          </a:p>
        </p:txBody>
      </p:sp>
      <p:sp>
        <p:nvSpPr>
          <p:cNvPr id="8" name="Text 6"/>
          <p:cNvSpPr/>
          <p:nvPr/>
        </p:nvSpPr>
        <p:spPr>
          <a:xfrm>
            <a:off x="1073150" y="5215930"/>
            <a:ext cx="1968500" cy="365720"/>
          </a:xfrm>
          <a:prstGeom prst="roundRect">
            <a:avLst>
              <a:gd name="adj" fmla="val 13890"/>
            </a:avLst>
          </a:prstGeom>
          <a:solidFill>
            <a:srgbClr val="ECE8DF"/>
          </a:solidFill>
          <a:ln/>
        </p:spPr>
        <p:txBody>
          <a:bodyPr wrap="square" lIns="86721" tIns="61321" rIns="33762" bIns="35921" rtlCol="0" anchor="t">
            <a:normAutofit/>
          </a:bodyPr>
          <a:lstStyle/>
          <a:p>
            <a:pPr marL="0" indent="0" algn="l">
              <a:lnSpc>
                <a:spcPts val="1680"/>
              </a:lnSpc>
              <a:buNone/>
            </a:pPr>
            <a:r>
              <a:rPr lang="en-US" sz="1100" dirty="0">
                <a:solidFill>
                  <a:srgbClr val="14213D"/>
                </a:solidFill>
                <a:latin typeface="IBM Plex Mono" pitchFamily="49" charset="0"/>
                <a:ea typeface="IBM Plex Mono" pitchFamily="49" charset="-122"/>
                <a:cs typeface="IBM Plex Mono" pitchFamily="49" charset="-120"/>
              </a:rPr>
              <a:t>.pbit → Model.bim</a:t>
            </a:r>
            <a:endParaRPr lang="en-US" sz="1100" dirty="0"/>
          </a:p>
        </p:txBody>
      </p:sp>
      <p:sp>
        <p:nvSpPr>
          <p:cNvPr id="9" name="Shape 7"/>
          <p:cNvSpPr/>
          <p:nvPr/>
        </p:nvSpPr>
        <p:spPr>
          <a:xfrm>
            <a:off x="3508375" y="1989386"/>
            <a:ext cx="2482850" cy="3849439"/>
          </a:xfrm>
          <a:prstGeom prst="roundRect">
            <a:avLst>
              <a:gd name="adj" fmla="val 3964"/>
            </a:avLst>
          </a:prstGeom>
          <a:solidFill>
            <a:srgbClr val="FFFDF8"/>
          </a:solidFill>
          <a:ln w="6350">
            <a:solidFill>
              <a:srgbClr val="DDD7CA"/>
            </a:solidFill>
            <a:prstDash val="solid"/>
          </a:ln>
        </p:spPr>
        <p:txBody>
          <a:bodyPr/>
          <a:lstStyle/>
          <a:p>
            <a:endParaRPr lang="en-TR"/>
          </a:p>
        </p:txBody>
      </p:sp>
      <p:sp>
        <p:nvSpPr>
          <p:cNvPr id="10" name="Text 8"/>
          <p:cNvSpPr/>
          <p:nvPr/>
        </p:nvSpPr>
        <p:spPr>
          <a:xfrm>
            <a:off x="3765550" y="2246561"/>
            <a:ext cx="2027555"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F5D8C"/>
                </a:solidFill>
                <a:latin typeface="IBM Plex Mono" pitchFamily="49" charset="0"/>
                <a:ea typeface="IBM Plex Mono" pitchFamily="49" charset="-122"/>
                <a:cs typeface="IBM Plex Mono" pitchFamily="49" charset="-120"/>
              </a:rPr>
              <a:t>02</a:t>
            </a:r>
            <a:endParaRPr lang="en-US" sz="1400" dirty="0"/>
          </a:p>
        </p:txBody>
      </p:sp>
      <p:sp>
        <p:nvSpPr>
          <p:cNvPr id="11" name="Text 9"/>
          <p:cNvSpPr/>
          <p:nvPr/>
        </p:nvSpPr>
        <p:spPr>
          <a:xfrm>
            <a:off x="3765550" y="2622451"/>
            <a:ext cx="2027555" cy="60960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4213D"/>
                </a:solidFill>
                <a:latin typeface="IBM Plex Sans" pitchFamily="34" charset="0"/>
                <a:ea typeface="IBM Plex Sans" pitchFamily="34" charset="-122"/>
                <a:cs typeface="IBM Plex Sans" pitchFamily="34" charset="-120"/>
              </a:rPr>
              <a:t>BI</a:t>
            </a:r>
            <a:endParaRPr lang="en-US" sz="2000" dirty="0"/>
          </a:p>
          <a:p>
            <a:pPr marL="0" indent="0" algn="l">
              <a:lnSpc>
                <a:spcPts val="2300"/>
              </a:lnSpc>
              <a:buNone/>
            </a:pPr>
            <a:r>
              <a:rPr lang="en-US" sz="2000" b="1" dirty="0" err="1">
                <a:solidFill>
                  <a:srgbClr val="14213D"/>
                </a:solidFill>
                <a:latin typeface="IBM Plex Sans" pitchFamily="34" charset="0"/>
                <a:ea typeface="IBM Plex Sans" pitchFamily="34" charset="-122"/>
                <a:cs typeface="IBM Plex Sans" pitchFamily="34" charset="-120"/>
              </a:rPr>
              <a:t>Skorlama</a:t>
            </a:r>
            <a:endParaRPr lang="en-US" sz="2000" dirty="0"/>
          </a:p>
        </p:txBody>
      </p:sp>
      <p:sp>
        <p:nvSpPr>
          <p:cNvPr id="12" name="Text 10"/>
          <p:cNvSpPr/>
          <p:nvPr/>
        </p:nvSpPr>
        <p:spPr>
          <a:xfrm>
            <a:off x="3765550" y="3333651"/>
            <a:ext cx="2027555" cy="1500000"/>
          </a:xfrm>
          <a:prstGeom prst="rect">
            <a:avLst/>
          </a:prstGeom>
          <a:noFill/>
          <a:ln/>
        </p:spPr>
        <p:txBody>
          <a:bodyPr wrap="square" lIns="0" tIns="0" rIns="0" bIns="0" rtlCol="0" anchor="t">
            <a:normAutofit/>
          </a:bodyPr>
          <a:lstStyle/>
          <a:p>
            <a:pPr marL="0" indent="0" algn="l">
              <a:lnSpc>
                <a:spcPts val="1960"/>
              </a:lnSpc>
              <a:buNone/>
            </a:pPr>
            <a:r>
              <a:rPr lang="tr-TR" sz="1400" dirty="0">
                <a:solidFill>
                  <a:srgbClr val="4A5568"/>
                </a:solidFill>
                <a:latin typeface="IBM Plex Sans" pitchFamily="34" charset="0"/>
                <a:ea typeface="IBM Plex Sans" pitchFamily="34" charset="-122"/>
                <a:cs typeface="IBM Plex Sans" pitchFamily="34" charset="-120"/>
              </a:rPr>
              <a:t>Raporun kalitesini 100 üzerinden puanlar, düzeltmeler önerir.</a:t>
            </a:r>
            <a:endParaRPr lang="en-US" sz="1400" dirty="0"/>
          </a:p>
        </p:txBody>
      </p:sp>
      <p:sp>
        <p:nvSpPr>
          <p:cNvPr id="13" name="Text 11"/>
          <p:cNvSpPr/>
          <p:nvPr/>
        </p:nvSpPr>
        <p:spPr>
          <a:xfrm>
            <a:off x="3765550" y="5215930"/>
            <a:ext cx="1968500" cy="365720"/>
          </a:xfrm>
          <a:prstGeom prst="roundRect">
            <a:avLst>
              <a:gd name="adj" fmla="val 13890"/>
            </a:avLst>
          </a:prstGeom>
          <a:solidFill>
            <a:srgbClr val="ECE8DF"/>
          </a:solidFill>
          <a:ln/>
        </p:spPr>
        <p:txBody>
          <a:bodyPr wrap="square" lIns="86721" tIns="61321" rIns="33762" bIns="35921" rtlCol="0" anchor="t">
            <a:noAutofit/>
          </a:bodyPr>
          <a:lstStyle/>
          <a:p>
            <a:pPr marL="0" indent="0" algn="l">
              <a:lnSpc>
                <a:spcPts val="1680"/>
              </a:lnSpc>
              <a:buNone/>
            </a:pPr>
            <a:r>
              <a:rPr lang="en-US" sz="1100" dirty="0">
                <a:solidFill>
                  <a:srgbClr val="14213D"/>
                </a:solidFill>
                <a:latin typeface="IBM Plex Mono" pitchFamily="49" charset="0"/>
                <a:ea typeface="IBM Plex Mono" pitchFamily="49" charset="-122"/>
                <a:cs typeface="IBM Plex Mono" pitchFamily="49" charset="-120"/>
              </a:rPr>
              <a:t>.pbit → </a:t>
            </a:r>
            <a:r>
              <a:rPr lang="en-US" sz="1100" dirty="0" err="1">
                <a:solidFill>
                  <a:srgbClr val="14213D"/>
                </a:solidFill>
                <a:latin typeface="IBM Plex Mono" pitchFamily="49" charset="0"/>
                <a:ea typeface="IBM Plex Mono" pitchFamily="49" charset="-122"/>
                <a:cs typeface="IBM Plex Mono" pitchFamily="49" charset="-120"/>
              </a:rPr>
              <a:t>Kalite</a:t>
            </a:r>
            <a:r>
              <a:rPr lang="en-US" sz="1100" dirty="0">
                <a:solidFill>
                  <a:srgbClr val="14213D"/>
                </a:solidFill>
                <a:latin typeface="IBM Plex Mono" pitchFamily="49" charset="0"/>
                <a:ea typeface="IBM Plex Mono" pitchFamily="49" charset="-122"/>
                <a:cs typeface="IBM Plex Mono" pitchFamily="49" charset="-120"/>
              </a:rPr>
              <a:t> </a:t>
            </a:r>
            <a:r>
              <a:rPr lang="en-US" sz="1100" dirty="0" err="1">
                <a:solidFill>
                  <a:srgbClr val="14213D"/>
                </a:solidFill>
                <a:latin typeface="IBM Plex Mono" pitchFamily="49" charset="0"/>
                <a:ea typeface="IBM Plex Mono" pitchFamily="49" charset="-122"/>
                <a:cs typeface="IBM Plex Mono" pitchFamily="49" charset="-120"/>
              </a:rPr>
              <a:t>Raporu</a:t>
            </a:r>
            <a:endParaRPr lang="en-US" sz="1100" dirty="0"/>
          </a:p>
        </p:txBody>
      </p:sp>
      <p:sp>
        <p:nvSpPr>
          <p:cNvPr id="14" name="Shape 12"/>
          <p:cNvSpPr/>
          <p:nvPr/>
        </p:nvSpPr>
        <p:spPr>
          <a:xfrm>
            <a:off x="6200775" y="1989386"/>
            <a:ext cx="2482850" cy="3849439"/>
          </a:xfrm>
          <a:prstGeom prst="roundRect">
            <a:avLst>
              <a:gd name="adj" fmla="val 3964"/>
            </a:avLst>
          </a:prstGeom>
          <a:solidFill>
            <a:srgbClr val="FFFDF8"/>
          </a:solidFill>
          <a:ln w="6350">
            <a:solidFill>
              <a:srgbClr val="DDD7CA"/>
            </a:solidFill>
            <a:prstDash val="solid"/>
          </a:ln>
        </p:spPr>
        <p:txBody>
          <a:bodyPr/>
          <a:lstStyle/>
          <a:p>
            <a:endParaRPr lang="en-TR"/>
          </a:p>
        </p:txBody>
      </p:sp>
      <p:sp>
        <p:nvSpPr>
          <p:cNvPr id="15" name="Text 13"/>
          <p:cNvSpPr/>
          <p:nvPr/>
        </p:nvSpPr>
        <p:spPr>
          <a:xfrm>
            <a:off x="6457950" y="2246561"/>
            <a:ext cx="2027555"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A84A14"/>
                </a:solidFill>
                <a:latin typeface="IBM Plex Mono" pitchFamily="49" charset="0"/>
                <a:ea typeface="IBM Plex Mono" pitchFamily="49" charset="-122"/>
                <a:cs typeface="IBM Plex Mono" pitchFamily="49" charset="-120"/>
              </a:rPr>
              <a:t>03</a:t>
            </a:r>
            <a:endParaRPr lang="en-US" sz="1400" dirty="0"/>
          </a:p>
        </p:txBody>
      </p:sp>
      <p:sp>
        <p:nvSpPr>
          <p:cNvPr id="16" name="Text 14"/>
          <p:cNvSpPr/>
          <p:nvPr/>
        </p:nvSpPr>
        <p:spPr>
          <a:xfrm>
            <a:off x="6457950" y="2622451"/>
            <a:ext cx="2027555" cy="60960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4213D"/>
                </a:solidFill>
                <a:latin typeface="IBM Plex Sans" pitchFamily="34" charset="0"/>
                <a:ea typeface="IBM Plex Sans" pitchFamily="34" charset="-122"/>
                <a:cs typeface="IBM Plex Sans" pitchFamily="34" charset="-120"/>
              </a:rPr>
              <a:t>BI</a:t>
            </a:r>
            <a:endParaRPr lang="en-US" sz="2000" dirty="0"/>
          </a:p>
          <a:p>
            <a:pPr marL="0" indent="0" algn="l">
              <a:lnSpc>
                <a:spcPts val="2300"/>
              </a:lnSpc>
              <a:buNone/>
            </a:pPr>
            <a:r>
              <a:rPr lang="en-US" sz="2000" b="1" dirty="0">
                <a:solidFill>
                  <a:srgbClr val="14213D"/>
                </a:solidFill>
                <a:latin typeface="IBM Plex Sans" pitchFamily="34" charset="0"/>
                <a:ea typeface="IBM Plex Sans" pitchFamily="34" charset="-122"/>
                <a:cs typeface="IBM Plex Sans" pitchFamily="34" charset="-120"/>
              </a:rPr>
              <a:t>UX Designer</a:t>
            </a:r>
            <a:endParaRPr lang="en-US" sz="2000" dirty="0"/>
          </a:p>
        </p:txBody>
      </p:sp>
      <p:sp>
        <p:nvSpPr>
          <p:cNvPr id="17" name="Text 15"/>
          <p:cNvSpPr/>
          <p:nvPr/>
        </p:nvSpPr>
        <p:spPr>
          <a:xfrm>
            <a:off x="6457950" y="3333652"/>
            <a:ext cx="2027555" cy="1500000"/>
          </a:xfrm>
          <a:prstGeom prst="rect">
            <a:avLst/>
          </a:prstGeom>
          <a:noFill/>
          <a:ln/>
        </p:spPr>
        <p:txBody>
          <a:bodyPr wrap="square" lIns="0" tIns="0" rIns="0" bIns="0" rtlCol="0" anchor="t">
            <a:normAutofit/>
          </a:bodyPr>
          <a:lstStyle/>
          <a:p>
            <a:pPr marL="0" indent="0" algn="l">
              <a:lnSpc>
                <a:spcPts val="1960"/>
              </a:lnSpc>
              <a:buNone/>
            </a:pPr>
            <a:r>
              <a:rPr lang="tr-TR" sz="1400" dirty="0">
                <a:solidFill>
                  <a:srgbClr val="4A5568"/>
                </a:solidFill>
                <a:latin typeface="IBM Plex Sans" pitchFamily="34" charset="0"/>
                <a:ea typeface="IBM Plex Sans" pitchFamily="34" charset="-122"/>
                <a:cs typeface="IBM Plex Sans" pitchFamily="34" charset="-120"/>
              </a:rPr>
              <a:t>Mevcut raporun görselini iyileştirir, sıfırdan tasarlar veya referans görsele uyarlar.</a:t>
            </a:r>
            <a:endParaRPr lang="en-US" sz="1400" dirty="0"/>
          </a:p>
        </p:txBody>
      </p:sp>
      <p:sp>
        <p:nvSpPr>
          <p:cNvPr id="18" name="Text 16"/>
          <p:cNvSpPr/>
          <p:nvPr/>
        </p:nvSpPr>
        <p:spPr>
          <a:xfrm>
            <a:off x="6457950" y="5215930"/>
            <a:ext cx="1968500" cy="365720"/>
          </a:xfrm>
          <a:prstGeom prst="roundRect">
            <a:avLst>
              <a:gd name="adj" fmla="val 13890"/>
            </a:avLst>
          </a:prstGeom>
          <a:solidFill>
            <a:srgbClr val="ECE8DF"/>
          </a:solidFill>
          <a:ln/>
        </p:spPr>
        <p:txBody>
          <a:bodyPr wrap="square" lIns="86721" tIns="61321" rIns="33762" bIns="35921" rtlCol="0" anchor="t">
            <a:normAutofit/>
          </a:bodyPr>
          <a:lstStyle/>
          <a:p>
            <a:pPr marL="0" indent="0" algn="l">
              <a:lnSpc>
                <a:spcPts val="1680"/>
              </a:lnSpc>
              <a:buNone/>
            </a:pPr>
            <a:r>
              <a:rPr lang="en-US" sz="1100" dirty="0">
                <a:solidFill>
                  <a:srgbClr val="14213D"/>
                </a:solidFill>
                <a:latin typeface="IBM Plex Mono" pitchFamily="49" charset="0"/>
                <a:ea typeface="IBM Plex Mono" pitchFamily="49" charset="-122"/>
                <a:cs typeface="IBM Plex Mono" pitchFamily="49" charset="-120"/>
              </a:rPr>
              <a:t>.pbit → _UX.pbit</a:t>
            </a:r>
            <a:endParaRPr lang="en-US" sz="1100" dirty="0"/>
          </a:p>
        </p:txBody>
      </p:sp>
      <p:sp>
        <p:nvSpPr>
          <p:cNvPr id="19" name="Shape 17"/>
          <p:cNvSpPr/>
          <p:nvPr/>
        </p:nvSpPr>
        <p:spPr>
          <a:xfrm>
            <a:off x="8893175" y="1989386"/>
            <a:ext cx="2482850" cy="3849439"/>
          </a:xfrm>
          <a:prstGeom prst="roundRect">
            <a:avLst>
              <a:gd name="adj" fmla="val 3964"/>
            </a:avLst>
          </a:prstGeom>
          <a:solidFill>
            <a:srgbClr val="FFFDF8"/>
          </a:solidFill>
          <a:ln w="6350">
            <a:solidFill>
              <a:srgbClr val="DDD7CA"/>
            </a:solidFill>
            <a:prstDash val="solid"/>
          </a:ln>
        </p:spPr>
        <p:txBody>
          <a:bodyPr/>
          <a:lstStyle/>
          <a:p>
            <a:endParaRPr lang="en-TR"/>
          </a:p>
        </p:txBody>
      </p:sp>
      <p:sp>
        <p:nvSpPr>
          <p:cNvPr id="20" name="Text 18"/>
          <p:cNvSpPr/>
          <p:nvPr/>
        </p:nvSpPr>
        <p:spPr>
          <a:xfrm>
            <a:off x="9150350" y="2246561"/>
            <a:ext cx="2027555"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F5D8C"/>
                </a:solidFill>
                <a:latin typeface="IBM Plex Mono" pitchFamily="49" charset="0"/>
                <a:ea typeface="IBM Plex Mono" pitchFamily="49" charset="-122"/>
                <a:cs typeface="IBM Plex Mono" pitchFamily="49" charset="-120"/>
              </a:rPr>
              <a:t>04</a:t>
            </a:r>
            <a:endParaRPr lang="en-US" sz="1400" dirty="0"/>
          </a:p>
        </p:txBody>
      </p:sp>
      <p:sp>
        <p:nvSpPr>
          <p:cNvPr id="21" name="Text 19"/>
          <p:cNvSpPr/>
          <p:nvPr/>
        </p:nvSpPr>
        <p:spPr>
          <a:xfrm>
            <a:off x="9150350" y="2622451"/>
            <a:ext cx="2027555" cy="60960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4213D"/>
                </a:solidFill>
                <a:latin typeface="IBM Plex Sans" pitchFamily="34" charset="0"/>
                <a:ea typeface="IBM Plex Sans" pitchFamily="34" charset="-122"/>
                <a:cs typeface="IBM Plex Sans" pitchFamily="34" charset="-120"/>
              </a:rPr>
              <a:t>LLM Destekli</a:t>
            </a:r>
            <a:endParaRPr lang="en-US" sz="2000" dirty="0"/>
          </a:p>
          <a:p>
            <a:pPr marL="0" indent="0" algn="l">
              <a:lnSpc>
                <a:spcPts val="2300"/>
              </a:lnSpc>
              <a:buNone/>
            </a:pPr>
            <a:r>
              <a:rPr lang="en-US" sz="2000" b="1" dirty="0">
                <a:solidFill>
                  <a:srgbClr val="14213D"/>
                </a:solidFill>
                <a:latin typeface="IBM Plex Sans" pitchFamily="34" charset="0"/>
                <a:ea typeface="IBM Plex Sans" pitchFamily="34" charset="-122"/>
                <a:cs typeface="IBM Plex Sans" pitchFamily="34" charset="-120"/>
              </a:rPr>
              <a:t>BI Paneli</a:t>
            </a:r>
            <a:endParaRPr lang="en-US" sz="2000" dirty="0"/>
          </a:p>
        </p:txBody>
      </p:sp>
      <p:sp>
        <p:nvSpPr>
          <p:cNvPr id="22" name="Text 20"/>
          <p:cNvSpPr/>
          <p:nvPr/>
        </p:nvSpPr>
        <p:spPr>
          <a:xfrm>
            <a:off x="9150350" y="3333651"/>
            <a:ext cx="2027555" cy="1500000"/>
          </a:xfrm>
          <a:prstGeom prst="rect">
            <a:avLst/>
          </a:prstGeom>
          <a:noFill/>
          <a:ln/>
        </p:spPr>
        <p:txBody>
          <a:bodyPr wrap="square" lIns="0" tIns="0" rIns="0" bIns="0" rtlCol="0" anchor="t">
            <a:normAutofit/>
          </a:bodyPr>
          <a:lstStyle/>
          <a:p>
            <a:pPr marL="0" indent="0" algn="l">
              <a:lnSpc>
                <a:spcPts val="1960"/>
              </a:lnSpc>
              <a:buNone/>
            </a:pPr>
            <a:r>
              <a:rPr lang="tr-TR" sz="1400" dirty="0">
                <a:solidFill>
                  <a:srgbClr val="4A5568"/>
                </a:solidFill>
                <a:latin typeface="IBM Plex Sans" pitchFamily="34" charset="0"/>
                <a:ea typeface="IBM Plex Sans" pitchFamily="34" charset="-122"/>
                <a:cs typeface="IBM Plex Sans" pitchFamily="34" charset="-120"/>
              </a:rPr>
              <a:t>Doğal dilde sorulan soruya </a:t>
            </a:r>
            <a:r>
              <a:rPr lang="tr-TR" sz="1400" dirty="0" err="1">
                <a:solidFill>
                  <a:srgbClr val="4A5568"/>
                </a:solidFill>
                <a:latin typeface="IBM Plex Sans" pitchFamily="34" charset="0"/>
                <a:ea typeface="IBM Plex Sans" pitchFamily="34" charset="-122"/>
                <a:cs typeface="IBM Plex Sans" pitchFamily="34" charset="-120"/>
              </a:rPr>
              <a:t>dashboard</a:t>
            </a:r>
            <a:r>
              <a:rPr lang="tr-TR" sz="1400" dirty="0">
                <a:solidFill>
                  <a:srgbClr val="4A5568"/>
                </a:solidFill>
                <a:latin typeface="IBM Plex Sans" pitchFamily="34" charset="0"/>
                <a:ea typeface="IBM Plex Sans" pitchFamily="34" charset="-122"/>
                <a:cs typeface="IBM Plex Sans" pitchFamily="34" charset="-120"/>
              </a:rPr>
              <a:t> görseli üretir.</a:t>
            </a:r>
            <a:endParaRPr lang="en-US" sz="1400" dirty="0"/>
          </a:p>
        </p:txBody>
      </p:sp>
      <p:sp>
        <p:nvSpPr>
          <p:cNvPr id="23" name="Text 21"/>
          <p:cNvSpPr/>
          <p:nvPr/>
        </p:nvSpPr>
        <p:spPr>
          <a:xfrm>
            <a:off x="9150350" y="5215930"/>
            <a:ext cx="1968500" cy="365720"/>
          </a:xfrm>
          <a:prstGeom prst="roundRect">
            <a:avLst>
              <a:gd name="adj" fmla="val 13890"/>
            </a:avLst>
          </a:prstGeom>
          <a:solidFill>
            <a:srgbClr val="ECE8DF"/>
          </a:solidFill>
          <a:ln/>
        </p:spPr>
        <p:txBody>
          <a:bodyPr wrap="square" lIns="86721" tIns="61321" rIns="33762" bIns="35921" rtlCol="0" anchor="t">
            <a:normAutofit/>
          </a:bodyPr>
          <a:lstStyle/>
          <a:p>
            <a:pPr marL="0" indent="0" algn="l">
              <a:lnSpc>
                <a:spcPts val="1680"/>
              </a:lnSpc>
              <a:buNone/>
            </a:pPr>
            <a:r>
              <a:rPr lang="en-US" sz="1100" dirty="0">
                <a:solidFill>
                  <a:srgbClr val="14213D"/>
                </a:solidFill>
                <a:latin typeface="IBM Plex Mono" pitchFamily="49" charset="0"/>
                <a:ea typeface="IBM Plex Mono" pitchFamily="49" charset="-122"/>
                <a:cs typeface="IBM Plex Mono" pitchFamily="49" charset="-120"/>
              </a:rPr>
              <a:t>Soru → Dashboard</a:t>
            </a:r>
            <a:endParaRPr lang="en-US" sz="1100" dirty="0"/>
          </a:p>
        </p:txBody>
      </p:sp>
      <p:sp>
        <p:nvSpPr>
          <p:cNvPr id="24" name="Text 22"/>
          <p:cNvSpPr/>
          <p:nvPr/>
        </p:nvSpPr>
        <p:spPr>
          <a:xfrm>
            <a:off x="812800" y="6238280"/>
            <a:ext cx="193839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AI Vibe Coding Projeleri</a:t>
            </a:r>
            <a:endParaRPr lang="en-US" sz="1200" dirty="0"/>
          </a:p>
        </p:txBody>
      </p:sp>
      <p:sp>
        <p:nvSpPr>
          <p:cNvPr id="25" name="Text 23"/>
          <p:cNvSpPr/>
          <p:nvPr/>
        </p:nvSpPr>
        <p:spPr>
          <a:xfrm>
            <a:off x="11145490" y="6238280"/>
            <a:ext cx="23371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F"/>
        </a:solidFill>
        <a:effectLst/>
      </p:bgPr>
    </p:bg>
    <p:spTree>
      <p:nvGrpSpPr>
        <p:cNvPr id="1" name=""/>
        <p:cNvGrpSpPr/>
        <p:nvPr/>
      </p:nvGrpSpPr>
      <p:grpSpPr>
        <a:xfrm>
          <a:off x="0" y="0"/>
          <a:ext cx="0" cy="0"/>
          <a:chOff x="0" y="0"/>
          <a:chExt cx="0" cy="0"/>
        </a:xfrm>
      </p:grpSpPr>
      <p:sp>
        <p:nvSpPr>
          <p:cNvPr id="2" name="Shape 0"/>
          <p:cNvSpPr/>
          <p:nvPr/>
        </p:nvSpPr>
        <p:spPr>
          <a:xfrm>
            <a:off x="812800" y="812800"/>
            <a:ext cx="3556000" cy="5029200"/>
          </a:xfrm>
          <a:prstGeom prst="roundRect">
            <a:avLst>
              <a:gd name="adj" fmla="val 4286"/>
            </a:avLst>
          </a:prstGeom>
          <a:solidFill>
            <a:srgbClr val="14213D"/>
          </a:solidFill>
          <a:ln/>
        </p:spPr>
        <p:txBody>
          <a:bodyPr/>
          <a:lstStyle/>
          <a:p>
            <a:endParaRPr lang="en-TR"/>
          </a:p>
        </p:txBody>
      </p:sp>
      <p:sp>
        <p:nvSpPr>
          <p:cNvPr id="4" name="Text 2"/>
          <p:cNvSpPr>
            <a:spLocks noGrp="1"/>
          </p:cNvSpPr>
          <p:nvPr>
            <p:ph type="title"/>
          </p:nvPr>
        </p:nvSpPr>
        <p:spPr>
          <a:xfrm>
            <a:off x="1168400" y="2557859"/>
            <a:ext cx="2930144" cy="103118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6F4EF"/>
                </a:solidFill>
                <a:latin typeface="IBM Plex Sans" pitchFamily="34" charset="0"/>
                <a:ea typeface="IBM Plex Sans" pitchFamily="34" charset="-122"/>
                <a:cs typeface="IBM Plex Sans" pitchFamily="34" charset="-120"/>
              </a:rPr>
              <a:t>SSAS</a:t>
            </a:r>
            <a:endParaRPr lang="en-US" sz="3600" dirty="0"/>
          </a:p>
          <a:p>
            <a:pPr marL="0" indent="0" algn="l">
              <a:lnSpc>
                <a:spcPts val="3960"/>
              </a:lnSpc>
              <a:buNone/>
            </a:pPr>
            <a:r>
              <a:rPr lang="en-US" sz="3600" b="1" i="0" dirty="0">
                <a:solidFill>
                  <a:srgbClr val="F6F4EF"/>
                </a:solidFill>
                <a:latin typeface="IBM Plex Sans" pitchFamily="34" charset="0"/>
                <a:ea typeface="IBM Plex Sans" pitchFamily="34" charset="-122"/>
                <a:cs typeface="IBM Plex Sans" pitchFamily="34" charset="-120"/>
              </a:rPr>
              <a:t>Generator</a:t>
            </a:r>
            <a:endParaRPr lang="en-US" sz="3600" dirty="0"/>
          </a:p>
        </p:txBody>
      </p:sp>
      <p:sp>
        <p:nvSpPr>
          <p:cNvPr id="5" name="Text 3"/>
          <p:cNvSpPr/>
          <p:nvPr/>
        </p:nvSpPr>
        <p:spPr>
          <a:xfrm>
            <a:off x="1168400" y="4511800"/>
            <a:ext cx="2930144" cy="1000000"/>
          </a:xfrm>
          <a:prstGeom prst="rect">
            <a:avLst/>
          </a:prstGeom>
          <a:noFill/>
          <a:ln/>
        </p:spPr>
        <p:txBody>
          <a:bodyPr wrap="square" lIns="0" tIns="0" rIns="0" bIns="0" rtlCol="0" anchor="b">
            <a:normAutofit/>
          </a:bodyPr>
          <a:lstStyle/>
          <a:p>
            <a:pPr marL="0" indent="0" algn="l">
              <a:lnSpc>
                <a:spcPts val="1960"/>
              </a:lnSpc>
              <a:buNone/>
            </a:pPr>
            <a:r>
              <a:rPr lang="en-US" sz="1400" dirty="0">
                <a:solidFill>
                  <a:srgbClr val="C9D3E3"/>
                </a:solidFill>
                <a:latin typeface="IBM Plex Sans" pitchFamily="34" charset="0"/>
                <a:ea typeface="IBM Plex Sans" pitchFamily="34" charset="-122"/>
                <a:cs typeface="IBM Plex Sans" pitchFamily="34" charset="-120"/>
              </a:rPr>
              <a:t>Power BI modelini kurumsal SSAS Tabular sunucusuna taşıyan dönüştürücü</a:t>
            </a:r>
            <a:endParaRPr lang="en-US" sz="1400" dirty="0"/>
          </a:p>
        </p:txBody>
      </p:sp>
      <p:sp>
        <p:nvSpPr>
          <p:cNvPr id="6" name="Text 4"/>
          <p:cNvSpPr/>
          <p:nvPr/>
        </p:nvSpPr>
        <p:spPr>
          <a:xfrm>
            <a:off x="4826000" y="1630000"/>
            <a:ext cx="6749796"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A84A14"/>
                </a:solidFill>
                <a:latin typeface="IBM Plex Mono" pitchFamily="49" charset="0"/>
                <a:ea typeface="IBM Plex Mono" pitchFamily="49" charset="-122"/>
                <a:cs typeface="IBM Plex Mono" pitchFamily="49" charset="-120"/>
              </a:rPr>
              <a:t>PROBLEM</a:t>
            </a:r>
            <a:endParaRPr lang="en-US" sz="1200" dirty="0"/>
          </a:p>
        </p:txBody>
      </p:sp>
      <p:sp>
        <p:nvSpPr>
          <p:cNvPr id="7" name="Text 5"/>
          <p:cNvSpPr/>
          <p:nvPr/>
        </p:nvSpPr>
        <p:spPr>
          <a:xfrm>
            <a:off x="4826000" y="1970000"/>
            <a:ext cx="6749796" cy="1280160"/>
          </a:xfrm>
          <a:prstGeom prst="rect">
            <a:avLst/>
          </a:prstGeom>
          <a:noFill/>
          <a:ln/>
        </p:spPr>
        <p:txBody>
          <a:bodyPr wrap="square" lIns="0" tIns="0" rIns="0" bIns="0" rtlCol="0" anchor="t">
            <a:normAutofit/>
          </a:bodyPr>
          <a:lstStyle/>
          <a:p>
            <a:pPr marL="0" indent="0" algn="l">
              <a:lnSpc>
                <a:spcPts val="2520"/>
              </a:lnSpc>
              <a:buNone/>
            </a:pPr>
            <a:r>
              <a:rPr lang="tr-TR" sz="1800" dirty="0">
                <a:solidFill>
                  <a:srgbClr val="14213D"/>
                </a:solidFill>
                <a:latin typeface="IBM Plex Sans" pitchFamily="34" charset="0"/>
                <a:ea typeface="IBM Plex Sans" pitchFamily="34" charset="-122"/>
                <a:cs typeface="IBM Plex Sans" pitchFamily="34" charset="-120"/>
              </a:rPr>
              <a:t>Power BI </a:t>
            </a:r>
            <a:r>
              <a:rPr lang="tr-TR" sz="1800" dirty="0" err="1">
                <a:solidFill>
                  <a:srgbClr val="14213D"/>
                </a:solidFill>
                <a:latin typeface="IBM Plex Sans" pitchFamily="34" charset="0"/>
                <a:ea typeface="IBM Plex Sans" pitchFamily="34" charset="-122"/>
                <a:cs typeface="IBM Plex Sans" pitchFamily="34" charset="-120"/>
              </a:rPr>
              <a:t>üzerinde</a:t>
            </a:r>
            <a:r>
              <a:rPr lang="tr-TR" sz="1800" dirty="0">
                <a:solidFill>
                  <a:srgbClr val="14213D"/>
                </a:solidFill>
                <a:latin typeface="IBM Plex Sans" pitchFamily="34" charset="0"/>
                <a:ea typeface="IBM Plex Sans" pitchFamily="34" charset="-122"/>
                <a:cs typeface="IBM Plex Sans" pitchFamily="34" charset="-120"/>
              </a:rPr>
              <a:t> geliştirilen bir modeli SSAS'a taşımak için tablolar, </a:t>
            </a:r>
            <a:r>
              <a:rPr lang="tr-TR" sz="1800" dirty="0" err="1">
                <a:solidFill>
                  <a:srgbClr val="14213D"/>
                </a:solidFill>
                <a:latin typeface="IBM Plex Sans" pitchFamily="34" charset="0"/>
                <a:ea typeface="IBM Plex Sans" pitchFamily="34" charset="-122"/>
                <a:cs typeface="IBM Plex Sans" pitchFamily="34" charset="-120"/>
              </a:rPr>
              <a:t>kolonlar</a:t>
            </a:r>
            <a:r>
              <a:rPr lang="tr-TR" sz="1800" dirty="0">
                <a:solidFill>
                  <a:srgbClr val="14213D"/>
                </a:solidFill>
                <a:latin typeface="IBM Plex Sans" pitchFamily="34" charset="0"/>
                <a:ea typeface="IBM Plex Sans" pitchFamily="34" charset="-122"/>
                <a:cs typeface="IBM Plex Sans" pitchFamily="34" charset="-120"/>
              </a:rPr>
              <a:t>, </a:t>
            </a:r>
            <a:r>
              <a:rPr lang="tr-TR" sz="1800" dirty="0" err="1">
                <a:solidFill>
                  <a:srgbClr val="14213D"/>
                </a:solidFill>
                <a:latin typeface="IBM Plex Sans" pitchFamily="34" charset="0"/>
                <a:ea typeface="IBM Plex Sans" pitchFamily="34" charset="-122"/>
                <a:cs typeface="IBM Plex Sans" pitchFamily="34" charset="-120"/>
              </a:rPr>
              <a:t>ölçüler</a:t>
            </a:r>
            <a:r>
              <a:rPr lang="tr-TR" sz="1800" dirty="0">
                <a:solidFill>
                  <a:srgbClr val="14213D"/>
                </a:solidFill>
                <a:latin typeface="IBM Plex Sans" pitchFamily="34" charset="0"/>
                <a:ea typeface="IBM Plex Sans" pitchFamily="34" charset="-122"/>
                <a:cs typeface="IBM Plex Sans" pitchFamily="34" charset="-120"/>
              </a:rPr>
              <a:t> ve </a:t>
            </a:r>
            <a:r>
              <a:rPr lang="tr-TR" sz="1800" dirty="0" err="1">
                <a:solidFill>
                  <a:srgbClr val="14213D"/>
                </a:solidFill>
                <a:latin typeface="IBM Plex Sans" pitchFamily="34" charset="0"/>
                <a:ea typeface="IBM Plex Sans" pitchFamily="34" charset="-122"/>
                <a:cs typeface="IBM Plex Sans" pitchFamily="34" charset="-120"/>
              </a:rPr>
              <a:t>ilişkiler</a:t>
            </a:r>
            <a:r>
              <a:rPr lang="tr-TR" sz="1800" dirty="0">
                <a:solidFill>
                  <a:srgbClr val="14213D"/>
                </a:solidFill>
                <a:latin typeface="IBM Plex Sans" pitchFamily="34" charset="0"/>
                <a:ea typeface="IBM Plex Sans" pitchFamily="34" charset="-122"/>
                <a:cs typeface="IBM Plex Sans" pitchFamily="34" charset="-120"/>
              </a:rPr>
              <a:t> </a:t>
            </a:r>
            <a:r>
              <a:rPr lang="tr-TR" sz="1800" dirty="0" err="1">
                <a:solidFill>
                  <a:srgbClr val="14213D"/>
                </a:solidFill>
                <a:latin typeface="IBM Plex Sans" pitchFamily="34" charset="0"/>
                <a:ea typeface="IBM Plex Sans" pitchFamily="34" charset="-122"/>
                <a:cs typeface="IBM Plex Sans" pitchFamily="34" charset="-120"/>
              </a:rPr>
              <a:t>manuel</a:t>
            </a:r>
            <a:r>
              <a:rPr lang="tr-TR" sz="1800" dirty="0">
                <a:solidFill>
                  <a:srgbClr val="14213D"/>
                </a:solidFill>
                <a:latin typeface="IBM Plex Sans" pitchFamily="34" charset="0"/>
                <a:ea typeface="IBM Plex Sans" pitchFamily="34" charset="-122"/>
                <a:cs typeface="IBM Plex Sans" pitchFamily="34" charset="-120"/>
              </a:rPr>
              <a:t> </a:t>
            </a:r>
            <a:r>
              <a:rPr lang="tr-TR" sz="1800" dirty="0" err="1">
                <a:solidFill>
                  <a:srgbClr val="14213D"/>
                </a:solidFill>
                <a:latin typeface="IBM Plex Sans" pitchFamily="34" charset="0"/>
                <a:ea typeface="IBM Plex Sans" pitchFamily="34" charset="-122"/>
                <a:cs typeface="IBM Plex Sans" pitchFamily="34" charset="-120"/>
              </a:rPr>
              <a:t>bir</a:t>
            </a:r>
            <a:r>
              <a:rPr lang="tr-TR" sz="1800" dirty="0">
                <a:solidFill>
                  <a:srgbClr val="14213D"/>
                </a:solidFill>
                <a:latin typeface="IBM Plex Sans" pitchFamily="34" charset="0"/>
                <a:ea typeface="IBM Plex Sans" pitchFamily="34" charset="-122"/>
                <a:cs typeface="IBM Plex Sans" pitchFamily="34" charset="-120"/>
              </a:rPr>
              <a:t> </a:t>
            </a:r>
            <a:r>
              <a:rPr lang="tr-TR" sz="1800" dirty="0" err="1">
                <a:solidFill>
                  <a:srgbClr val="14213D"/>
                </a:solidFill>
                <a:latin typeface="IBM Plex Sans" pitchFamily="34" charset="0"/>
                <a:ea typeface="IBM Plex Sans" pitchFamily="34" charset="-122"/>
                <a:cs typeface="IBM Plex Sans" pitchFamily="34" charset="-120"/>
              </a:rPr>
              <a:t>şekilde</a:t>
            </a:r>
            <a:r>
              <a:rPr lang="tr-TR" sz="1800" dirty="0">
                <a:solidFill>
                  <a:srgbClr val="14213D"/>
                </a:solidFill>
                <a:latin typeface="IBM Plex Sans" pitchFamily="34" charset="0"/>
                <a:ea typeface="IBM Plex Sans" pitchFamily="34" charset="-122"/>
                <a:cs typeface="IBM Plex Sans" pitchFamily="34" charset="-120"/>
              </a:rPr>
              <a:t> </a:t>
            </a:r>
            <a:r>
              <a:rPr lang="tr-TR" sz="1800" dirty="0" err="1">
                <a:solidFill>
                  <a:srgbClr val="14213D"/>
                </a:solidFill>
                <a:latin typeface="IBM Plex Sans" pitchFamily="34" charset="0"/>
                <a:ea typeface="IBM Plex Sans" pitchFamily="34" charset="-122"/>
                <a:cs typeface="IBM Plex Sans" pitchFamily="34" charset="-120"/>
              </a:rPr>
              <a:t>oluşturulmaktadır</a:t>
            </a:r>
            <a:r>
              <a:rPr lang="tr-TR" sz="1800" dirty="0">
                <a:solidFill>
                  <a:srgbClr val="14213D"/>
                </a:solidFill>
                <a:latin typeface="IBM Plex Sans" pitchFamily="34" charset="0"/>
                <a:ea typeface="IBM Plex Sans" pitchFamily="34" charset="-122"/>
                <a:cs typeface="IBM Plex Sans" pitchFamily="34" charset="-120"/>
              </a:rPr>
              <a:t>.</a:t>
            </a:r>
            <a:endParaRPr lang="en-US" sz="1800" dirty="0"/>
          </a:p>
        </p:txBody>
      </p:sp>
      <p:pic>
        <p:nvPicPr>
          <p:cNvPr id="8" name="Image 0" descr="line"/>
          <p:cNvPicPr>
            <a:picLocks noChangeAspect="1"/>
          </p:cNvPicPr>
          <p:nvPr/>
        </p:nvPicPr>
        <p:blipFill>
          <a:blip r:embed="rId3"/>
          <a:srcRect/>
          <a:stretch/>
        </p:blipFill>
        <p:spPr>
          <a:xfrm>
            <a:off x="4826000" y="3530000"/>
            <a:ext cx="6749796" cy="12700"/>
          </a:xfrm>
          <a:prstGeom prst="rect">
            <a:avLst/>
          </a:prstGeom>
        </p:spPr>
      </p:pic>
      <p:sp>
        <p:nvSpPr>
          <p:cNvPr id="9" name="Text 6"/>
          <p:cNvSpPr/>
          <p:nvPr/>
        </p:nvSpPr>
        <p:spPr>
          <a:xfrm>
            <a:off x="4826000" y="3770000"/>
            <a:ext cx="6749796"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A84A14"/>
                </a:solidFill>
                <a:latin typeface="IBM Plex Mono" pitchFamily="49" charset="0"/>
                <a:ea typeface="IBM Plex Mono" pitchFamily="49" charset="-122"/>
                <a:cs typeface="IBM Plex Mono" pitchFamily="49" charset="-120"/>
              </a:rPr>
              <a:t>NE AMAÇLIYOR</a:t>
            </a:r>
            <a:endParaRPr lang="en-US" sz="1200" dirty="0"/>
          </a:p>
        </p:txBody>
      </p:sp>
      <p:sp>
        <p:nvSpPr>
          <p:cNvPr id="10" name="Text 7"/>
          <p:cNvSpPr/>
          <p:nvPr/>
        </p:nvSpPr>
        <p:spPr>
          <a:xfrm>
            <a:off x="4897120" y="4110000"/>
            <a:ext cx="6671056" cy="1151391"/>
          </a:xfrm>
          <a:prstGeom prst="rect">
            <a:avLst/>
          </a:prstGeom>
          <a:noFill/>
          <a:ln/>
        </p:spPr>
        <p:txBody>
          <a:bodyPr wrap="square" lIns="0" tIns="0" rIns="0" bIns="0" rtlCol="0" anchor="t">
            <a:noAutofit/>
          </a:bodyPr>
          <a:lstStyle/>
          <a:p>
            <a:pPr marL="182880" indent="-182880" algn="l">
              <a:lnSpc>
                <a:spcPts val="2175"/>
              </a:lnSpc>
              <a:buSzPct val="100000"/>
              <a:buChar char="•"/>
            </a:pPr>
            <a:r>
              <a:rPr lang="tr-TR" sz="1500" dirty="0">
                <a:solidFill>
                  <a:srgbClr val="4A5568"/>
                </a:solidFill>
                <a:latin typeface="IBM Plex Sans" pitchFamily="34" charset="0"/>
                <a:ea typeface="IBM Plex Sans" pitchFamily="34" charset="-122"/>
                <a:cs typeface="IBM Plex Sans" pitchFamily="34" charset="-120"/>
              </a:rPr>
              <a:t>.pbit şablonunu SSAS'a uygun Model.bim dosyasına tek adımda çevirmek</a:t>
            </a:r>
            <a:endParaRPr lang="en-US" sz="1500" dirty="0"/>
          </a:p>
          <a:p>
            <a:pPr marL="182880" indent="-182880" algn="l">
              <a:lnSpc>
                <a:spcPts val="2175"/>
              </a:lnSpc>
              <a:buSzPct val="100000"/>
              <a:buChar char="•"/>
            </a:pPr>
            <a:r>
              <a:rPr lang="tr-TR" sz="1500" dirty="0">
                <a:solidFill>
                  <a:srgbClr val="4A5568"/>
                </a:solidFill>
                <a:latin typeface="IBM Plex Sans" pitchFamily="34" charset="0"/>
                <a:ea typeface="IBM Plex Sans" pitchFamily="34" charset="-122"/>
                <a:cs typeface="IBM Plex Sans" pitchFamily="34" charset="-120"/>
              </a:rPr>
              <a:t>DAX, M ve SQL ifadelerini değiştirmeden korumak</a:t>
            </a:r>
            <a:endParaRPr lang="en-US" sz="1500" dirty="0"/>
          </a:p>
          <a:p>
            <a:pPr marL="182880" indent="-182880" algn="l">
              <a:lnSpc>
                <a:spcPts val="2175"/>
              </a:lnSpc>
              <a:buSzPct val="100000"/>
              <a:buChar char="•"/>
            </a:pPr>
            <a:r>
              <a:rPr lang="tr-TR" sz="1500" dirty="0" err="1">
                <a:solidFill>
                  <a:srgbClr val="4A5568"/>
                </a:solidFill>
                <a:latin typeface="IBM Plex Sans" pitchFamily="34" charset="0"/>
                <a:ea typeface="IBM Plex Sans" pitchFamily="34" charset="-122"/>
                <a:cs typeface="IBM Plex Sans" pitchFamily="34" charset="-120"/>
              </a:rPr>
              <a:t>Dönüştürülemeyen</a:t>
            </a:r>
            <a:r>
              <a:rPr lang="tr-TR" sz="1500" dirty="0">
                <a:solidFill>
                  <a:srgbClr val="4A5568"/>
                </a:solidFill>
                <a:latin typeface="IBM Plex Sans" pitchFamily="34" charset="0"/>
                <a:ea typeface="IBM Plex Sans" pitchFamily="34" charset="-122"/>
                <a:cs typeface="IBM Plex Sans" pitchFamily="34" charset="-120"/>
              </a:rPr>
              <a:t> </a:t>
            </a:r>
            <a:r>
              <a:rPr lang="tr-TR" sz="1500" dirty="0" err="1">
                <a:solidFill>
                  <a:srgbClr val="4A5568"/>
                </a:solidFill>
                <a:latin typeface="IBM Plex Sans" pitchFamily="34" charset="0"/>
                <a:ea typeface="IBM Plex Sans" pitchFamily="34" charset="-122"/>
                <a:cs typeface="IBM Plex Sans" pitchFamily="34" charset="-120"/>
              </a:rPr>
              <a:t>bileşenleri</a:t>
            </a:r>
            <a:r>
              <a:rPr lang="tr-TR" sz="1500" dirty="0">
                <a:solidFill>
                  <a:srgbClr val="4A5568"/>
                </a:solidFill>
                <a:latin typeface="IBM Plex Sans" pitchFamily="34" charset="0"/>
                <a:ea typeface="IBM Plex Sans" pitchFamily="34" charset="-122"/>
                <a:cs typeface="IBM Plex Sans" pitchFamily="34" charset="-120"/>
              </a:rPr>
              <a:t> </a:t>
            </a:r>
            <a:r>
              <a:rPr lang="tr-TR" sz="1500" dirty="0" err="1">
                <a:solidFill>
                  <a:srgbClr val="4A5568"/>
                </a:solidFill>
                <a:latin typeface="IBM Plex Sans" pitchFamily="34" charset="0"/>
                <a:ea typeface="IBM Plex Sans" pitchFamily="34" charset="-122"/>
                <a:cs typeface="IBM Plex Sans" pitchFamily="34" charset="-120"/>
              </a:rPr>
              <a:t>varsayımla</a:t>
            </a:r>
            <a:r>
              <a:rPr lang="tr-TR" sz="1500" dirty="0">
                <a:solidFill>
                  <a:srgbClr val="4A5568"/>
                </a:solidFill>
                <a:latin typeface="IBM Plex Sans" pitchFamily="34" charset="0"/>
                <a:ea typeface="IBM Plex Sans" pitchFamily="34" charset="-122"/>
                <a:cs typeface="IBM Plex Sans" pitchFamily="34" charset="-120"/>
              </a:rPr>
              <a:t> </a:t>
            </a:r>
            <a:r>
              <a:rPr lang="tr-TR" sz="1500" dirty="0" err="1">
                <a:solidFill>
                  <a:srgbClr val="4A5568"/>
                </a:solidFill>
                <a:latin typeface="IBM Plex Sans" pitchFamily="34" charset="0"/>
                <a:ea typeface="IBM Plex Sans" pitchFamily="34" charset="-122"/>
                <a:cs typeface="IBM Plex Sans" pitchFamily="34" charset="-120"/>
              </a:rPr>
              <a:t>tamamlamadan</a:t>
            </a:r>
            <a:r>
              <a:rPr lang="tr-TR" sz="1500" dirty="0">
                <a:solidFill>
                  <a:srgbClr val="4A5568"/>
                </a:solidFill>
                <a:latin typeface="IBM Plex Sans" pitchFamily="34" charset="0"/>
                <a:ea typeface="IBM Plex Sans" pitchFamily="34" charset="-122"/>
                <a:cs typeface="IBM Plex Sans" pitchFamily="34" charset="-120"/>
              </a:rPr>
              <a:t>, </a:t>
            </a:r>
            <a:r>
              <a:rPr lang="tr-TR" sz="1500" dirty="0" err="1">
                <a:solidFill>
                  <a:srgbClr val="4A5568"/>
                </a:solidFill>
                <a:latin typeface="IBM Plex Sans" pitchFamily="34" charset="0"/>
                <a:ea typeface="IBM Plex Sans" pitchFamily="34" charset="-122"/>
                <a:cs typeface="IBM Plex Sans" pitchFamily="34" charset="-120"/>
              </a:rPr>
              <a:t>çıktıda</a:t>
            </a:r>
            <a:r>
              <a:rPr lang="tr-TR" sz="1500" dirty="0">
                <a:solidFill>
                  <a:srgbClr val="4A5568"/>
                </a:solidFill>
                <a:latin typeface="IBM Plex Sans" pitchFamily="34" charset="0"/>
                <a:ea typeface="IBM Plex Sans" pitchFamily="34" charset="-122"/>
                <a:cs typeface="IBM Plex Sans" pitchFamily="34" charset="-120"/>
              </a:rPr>
              <a:t> </a:t>
            </a:r>
            <a:r>
              <a:rPr lang="tr-TR" sz="1500" dirty="0" err="1">
                <a:solidFill>
                  <a:srgbClr val="4A5568"/>
                </a:solidFill>
                <a:latin typeface="IBM Plex Sans" pitchFamily="34" charset="0"/>
                <a:ea typeface="IBM Plex Sans" pitchFamily="34" charset="-122"/>
                <a:cs typeface="IBM Plex Sans" pitchFamily="34" charset="-120"/>
              </a:rPr>
              <a:t>açıkça</a:t>
            </a:r>
            <a:r>
              <a:rPr lang="tr-TR" sz="1500" dirty="0">
                <a:solidFill>
                  <a:srgbClr val="4A5568"/>
                </a:solidFill>
                <a:latin typeface="IBM Plex Sans" pitchFamily="34" charset="0"/>
                <a:ea typeface="IBM Plex Sans" pitchFamily="34" charset="-122"/>
                <a:cs typeface="IBM Plex Sans" pitchFamily="34" charset="-120"/>
              </a:rPr>
              <a:t> </a:t>
            </a:r>
            <a:r>
              <a:rPr lang="tr-TR" sz="1500" dirty="0" err="1">
                <a:solidFill>
                  <a:srgbClr val="4A5568"/>
                </a:solidFill>
                <a:latin typeface="IBM Plex Sans" pitchFamily="34" charset="0"/>
                <a:ea typeface="IBM Plex Sans" pitchFamily="34" charset="-122"/>
                <a:cs typeface="IBM Plex Sans" pitchFamily="34" charset="-120"/>
              </a:rPr>
              <a:t>göstermek</a:t>
            </a:r>
            <a:endParaRPr lang="en-US" sz="1500" dirty="0"/>
          </a:p>
        </p:txBody>
      </p:sp>
      <p:sp>
        <p:nvSpPr>
          <p:cNvPr id="11" name="Text 8"/>
          <p:cNvSpPr/>
          <p:nvPr/>
        </p:nvSpPr>
        <p:spPr>
          <a:xfrm>
            <a:off x="812800" y="6238280"/>
            <a:ext cx="193839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AI Vibe Coding Projeleri</a:t>
            </a:r>
            <a:endParaRPr lang="en-US" sz="1200" dirty="0"/>
          </a:p>
        </p:txBody>
      </p:sp>
      <p:sp>
        <p:nvSpPr>
          <p:cNvPr id="12" name="Text 9"/>
          <p:cNvSpPr/>
          <p:nvPr/>
        </p:nvSpPr>
        <p:spPr>
          <a:xfrm>
            <a:off x="11145490" y="6238280"/>
            <a:ext cx="23371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nSpc>
                <a:spcPts val="1680"/>
              </a:lnSpc>
            </a:pPr>
            <a:r>
              <a:rPr lang="en-US" sz="1200" kern="0" spc="100" dirty="0">
                <a:solidFill>
                  <a:srgbClr val="A84A14"/>
                </a:solidFill>
                <a:latin typeface="IBM Plex Mono" pitchFamily="49" charset="0"/>
                <a:ea typeface="IBM Plex Mono" pitchFamily="49" charset="-122"/>
                <a:cs typeface="IBM Plex Mono" pitchFamily="49" charset="-120"/>
              </a:rPr>
              <a:t>· NASIL ÇALIŞIR ·</a:t>
            </a:r>
            <a:endParaRPr lang="en-US" sz="1200" dirty="0"/>
          </a:p>
        </p:txBody>
      </p:sp>
      <p:sp>
        <p:nvSpPr>
          <p:cNvPr id="3" name="Text 1"/>
          <p:cNvSpPr>
            <a:spLocks noGrp="1"/>
          </p:cNvSpPr>
          <p:nvPr>
            <p:ph type="title"/>
          </p:nvPr>
        </p:nvSpPr>
        <p:spPr>
          <a:xfrm>
            <a:off x="812800" y="11277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SSAS Generator</a:t>
            </a:r>
            <a:endParaRPr lang="en-US" sz="3200" dirty="0"/>
          </a:p>
        </p:txBody>
      </p:sp>
      <p:sp>
        <p:nvSpPr>
          <p:cNvPr id="4" name="Text 2"/>
          <p:cNvSpPr/>
          <p:nvPr/>
        </p:nvSpPr>
        <p:spPr>
          <a:xfrm>
            <a:off x="812800" y="167635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.NET 8 · Blazor web arayüzü · Microsoft Analysis Services (TOM) kütüphanesi</a:t>
            </a:r>
            <a:endParaRPr lang="en-US" sz="1400" dirty="0"/>
          </a:p>
        </p:txBody>
      </p:sp>
      <p:sp>
        <p:nvSpPr>
          <p:cNvPr id="5" name="Shape 3"/>
          <p:cNvSpPr/>
          <p:nvPr/>
        </p:nvSpPr>
        <p:spPr>
          <a:xfrm>
            <a:off x="815975" y="2233216"/>
            <a:ext cx="2292350" cy="1950000"/>
          </a:xfrm>
          <a:prstGeom prst="roundRect">
            <a:avLst>
              <a:gd name="adj" fmla="val 5737"/>
            </a:avLst>
          </a:prstGeom>
          <a:solidFill>
            <a:srgbClr val="FFFDF8"/>
          </a:solidFill>
          <a:ln w="6350">
            <a:solidFill>
              <a:srgbClr val="DDD7CA"/>
            </a:solidFill>
            <a:prstDash val="solid"/>
          </a:ln>
        </p:spPr>
        <p:txBody>
          <a:bodyPr/>
          <a:lstStyle/>
          <a:p>
            <a:endParaRPr lang="en-TR"/>
          </a:p>
        </p:txBody>
      </p:sp>
      <p:sp>
        <p:nvSpPr>
          <p:cNvPr id="6" name="Text 4"/>
          <p:cNvSpPr/>
          <p:nvPr/>
        </p:nvSpPr>
        <p:spPr>
          <a:xfrm>
            <a:off x="1022350" y="2439591"/>
            <a:ext cx="193598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84A14"/>
                </a:solidFill>
                <a:latin typeface="IBM Plex Mono" pitchFamily="49" charset="0"/>
                <a:ea typeface="IBM Plex Mono" pitchFamily="49" charset="-122"/>
                <a:cs typeface="IBM Plex Mono" pitchFamily="49" charset="-120"/>
              </a:rPr>
              <a:t>1</a:t>
            </a:r>
            <a:endParaRPr lang="en-US" sz="1200" dirty="0"/>
          </a:p>
        </p:txBody>
      </p:sp>
      <p:sp>
        <p:nvSpPr>
          <p:cNvPr id="7" name="Text 5"/>
          <p:cNvSpPr/>
          <p:nvPr/>
        </p:nvSpPr>
        <p:spPr>
          <a:xfrm>
            <a:off x="1022350" y="2729111"/>
            <a:ext cx="1935988"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Yükle</a:t>
            </a:r>
            <a:endParaRPr lang="en-US" sz="1600" dirty="0"/>
          </a:p>
        </p:txBody>
      </p:sp>
      <p:sp>
        <p:nvSpPr>
          <p:cNvPr id="8" name="Text 6"/>
          <p:cNvSpPr/>
          <p:nvPr/>
        </p:nvSpPr>
        <p:spPr>
          <a:xfrm>
            <a:off x="1022350" y="3049141"/>
            <a:ext cx="1935988" cy="718790"/>
          </a:xfrm>
          <a:prstGeom prst="rect">
            <a:avLst/>
          </a:prstGeom>
          <a:noFill/>
          <a:ln/>
        </p:spPr>
        <p:txBody>
          <a:bodyPr wrap="square" lIns="0" tIns="0" rIns="0" bIns="0" rtlCol="0" anchor="t">
            <a:normAutofit/>
          </a:bodyPr>
          <a:lstStyle/>
          <a:p>
            <a:pPr marL="0" indent="0" algn="l">
              <a:lnSpc>
                <a:spcPts val="1820"/>
              </a:lnSpc>
              <a:buNone/>
            </a:pPr>
            <a:r>
              <a:rPr lang="en-US" sz="1200" dirty="0">
                <a:solidFill>
                  <a:srgbClr val="4A5568"/>
                </a:solidFill>
                <a:latin typeface="IBM Plex Sans" pitchFamily="34" charset="0"/>
                <a:ea typeface="IBM Plex Sans" pitchFamily="34" charset="-122"/>
                <a:cs typeface="IBM Plex Sans" pitchFamily="34" charset="-120"/>
              </a:rPr>
              <a:t>Power BI'dan dışa aktarılan .pbit dosyası sürüklenir.</a:t>
            </a:r>
            <a:endParaRPr lang="en-US" sz="1200" dirty="0"/>
          </a:p>
        </p:txBody>
      </p:sp>
      <p:pic>
        <p:nvPicPr>
          <p:cNvPr id="9" name="Image 0" descr="arrow-right"/>
          <p:cNvPicPr>
            <a:picLocks noChangeAspect="1"/>
          </p:cNvPicPr>
          <p:nvPr/>
        </p:nvPicPr>
        <p:blipFill>
          <a:blip r:embed="rId3"/>
          <a:srcRect/>
          <a:stretch/>
        </p:blipFill>
        <p:spPr>
          <a:xfrm>
            <a:off x="3213100" y="3132016"/>
            <a:ext cx="254000" cy="152400"/>
          </a:xfrm>
          <a:prstGeom prst="rect">
            <a:avLst/>
          </a:prstGeom>
        </p:spPr>
      </p:pic>
      <p:sp>
        <p:nvSpPr>
          <p:cNvPr id="10" name="Shape 7"/>
          <p:cNvSpPr/>
          <p:nvPr/>
        </p:nvSpPr>
        <p:spPr>
          <a:xfrm>
            <a:off x="3571875" y="2233216"/>
            <a:ext cx="2292350" cy="1950000"/>
          </a:xfrm>
          <a:prstGeom prst="roundRect">
            <a:avLst>
              <a:gd name="adj" fmla="val 5737"/>
            </a:avLst>
          </a:prstGeom>
          <a:solidFill>
            <a:srgbClr val="FFFDF8"/>
          </a:solidFill>
          <a:ln w="6350">
            <a:solidFill>
              <a:srgbClr val="DDD7CA"/>
            </a:solidFill>
            <a:prstDash val="solid"/>
          </a:ln>
        </p:spPr>
        <p:txBody>
          <a:bodyPr/>
          <a:lstStyle/>
          <a:p>
            <a:endParaRPr lang="en-TR"/>
          </a:p>
        </p:txBody>
      </p:sp>
      <p:sp>
        <p:nvSpPr>
          <p:cNvPr id="11" name="Text 8"/>
          <p:cNvSpPr/>
          <p:nvPr/>
        </p:nvSpPr>
        <p:spPr>
          <a:xfrm>
            <a:off x="3778250" y="2439591"/>
            <a:ext cx="193598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84A14"/>
                </a:solidFill>
                <a:latin typeface="IBM Plex Mono" pitchFamily="49" charset="0"/>
                <a:ea typeface="IBM Plex Mono" pitchFamily="49" charset="-122"/>
                <a:cs typeface="IBM Plex Mono" pitchFamily="49" charset="-120"/>
              </a:rPr>
              <a:t>2</a:t>
            </a:r>
            <a:endParaRPr lang="en-US" sz="1200" dirty="0"/>
          </a:p>
        </p:txBody>
      </p:sp>
      <p:sp>
        <p:nvSpPr>
          <p:cNvPr id="12" name="Text 9"/>
          <p:cNvSpPr/>
          <p:nvPr/>
        </p:nvSpPr>
        <p:spPr>
          <a:xfrm>
            <a:off x="3778250" y="2729111"/>
            <a:ext cx="1935988"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Hedef seç</a:t>
            </a:r>
            <a:endParaRPr lang="en-US" sz="1600" dirty="0"/>
          </a:p>
        </p:txBody>
      </p:sp>
      <p:sp>
        <p:nvSpPr>
          <p:cNvPr id="13" name="Text 10"/>
          <p:cNvSpPr/>
          <p:nvPr/>
        </p:nvSpPr>
        <p:spPr>
          <a:xfrm>
            <a:off x="3778250" y="3049141"/>
            <a:ext cx="1935988" cy="718790"/>
          </a:xfrm>
          <a:prstGeom prst="rect">
            <a:avLst/>
          </a:prstGeom>
          <a:noFill/>
          <a:ln/>
        </p:spPr>
        <p:txBody>
          <a:bodyPr wrap="square" lIns="0" tIns="0" rIns="0" bIns="0" rtlCol="0" anchor="t">
            <a:noAutofit/>
          </a:bodyPr>
          <a:lstStyle/>
          <a:p>
            <a:pPr marL="0" indent="0" algn="l">
              <a:lnSpc>
                <a:spcPts val="1820"/>
              </a:lnSpc>
              <a:buNone/>
            </a:pPr>
            <a:r>
              <a:rPr lang="en-US" sz="1200" dirty="0">
                <a:solidFill>
                  <a:srgbClr val="4A5568"/>
                </a:solidFill>
                <a:latin typeface="IBM Plex Sans" pitchFamily="34" charset="0"/>
                <a:ea typeface="IBM Plex Sans" pitchFamily="34" charset="-122"/>
                <a:cs typeface="IBM Plex Sans" pitchFamily="34" charset="-120"/>
              </a:rPr>
              <a:t>SQL Server 2016, 2019 </a:t>
            </a:r>
            <a:r>
              <a:rPr lang="en-US" sz="1200" dirty="0" err="1">
                <a:solidFill>
                  <a:srgbClr val="4A5568"/>
                </a:solidFill>
                <a:latin typeface="IBM Plex Sans" pitchFamily="34" charset="0"/>
                <a:ea typeface="IBM Plex Sans" pitchFamily="34" charset="-122"/>
                <a:cs typeface="IBM Plex Sans" pitchFamily="34" charset="-120"/>
              </a:rPr>
              <a:t>veya</a:t>
            </a:r>
            <a:r>
              <a:rPr lang="en-US" sz="1200" dirty="0">
                <a:solidFill>
                  <a:srgbClr val="4A5568"/>
                </a:solidFill>
                <a:latin typeface="IBM Plex Sans" pitchFamily="34" charset="0"/>
                <a:ea typeface="IBM Plex Sans" pitchFamily="34" charset="-122"/>
                <a:cs typeface="IBM Plex Sans" pitchFamily="34" charset="-120"/>
              </a:rPr>
              <a:t> Custom SSAS sürümü.</a:t>
            </a:r>
            <a:endParaRPr lang="en-US" sz="1200" dirty="0"/>
          </a:p>
        </p:txBody>
      </p:sp>
      <p:pic>
        <p:nvPicPr>
          <p:cNvPr id="14" name="Image 1" descr="arrow-right"/>
          <p:cNvPicPr>
            <a:picLocks noChangeAspect="1"/>
          </p:cNvPicPr>
          <p:nvPr/>
        </p:nvPicPr>
        <p:blipFill>
          <a:blip r:embed="rId3"/>
          <a:srcRect/>
          <a:stretch/>
        </p:blipFill>
        <p:spPr>
          <a:xfrm>
            <a:off x="5969000" y="3132016"/>
            <a:ext cx="254000" cy="152400"/>
          </a:xfrm>
          <a:prstGeom prst="rect">
            <a:avLst/>
          </a:prstGeom>
        </p:spPr>
      </p:pic>
      <p:sp>
        <p:nvSpPr>
          <p:cNvPr id="15" name="Shape 11"/>
          <p:cNvSpPr/>
          <p:nvPr/>
        </p:nvSpPr>
        <p:spPr>
          <a:xfrm>
            <a:off x="6327775" y="2233216"/>
            <a:ext cx="2292350" cy="1950000"/>
          </a:xfrm>
          <a:prstGeom prst="roundRect">
            <a:avLst>
              <a:gd name="adj" fmla="val 5737"/>
            </a:avLst>
          </a:prstGeom>
          <a:solidFill>
            <a:srgbClr val="FFFDF8"/>
          </a:solidFill>
          <a:ln w="6350">
            <a:solidFill>
              <a:srgbClr val="DDD7CA"/>
            </a:solidFill>
            <a:prstDash val="solid"/>
          </a:ln>
        </p:spPr>
        <p:txBody>
          <a:bodyPr/>
          <a:lstStyle/>
          <a:p>
            <a:endParaRPr lang="en-TR"/>
          </a:p>
        </p:txBody>
      </p:sp>
      <p:sp>
        <p:nvSpPr>
          <p:cNvPr id="16" name="Text 12"/>
          <p:cNvSpPr/>
          <p:nvPr/>
        </p:nvSpPr>
        <p:spPr>
          <a:xfrm>
            <a:off x="6534150" y="2439591"/>
            <a:ext cx="193598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84A14"/>
                </a:solidFill>
                <a:latin typeface="IBM Plex Mono" pitchFamily="49" charset="0"/>
                <a:ea typeface="IBM Plex Mono" pitchFamily="49" charset="-122"/>
                <a:cs typeface="IBM Plex Mono" pitchFamily="49" charset="-120"/>
              </a:rPr>
              <a:t>3</a:t>
            </a:r>
            <a:endParaRPr lang="en-US" sz="1200" dirty="0"/>
          </a:p>
        </p:txBody>
      </p:sp>
      <p:sp>
        <p:nvSpPr>
          <p:cNvPr id="17" name="Text 13"/>
          <p:cNvSpPr/>
          <p:nvPr/>
        </p:nvSpPr>
        <p:spPr>
          <a:xfrm>
            <a:off x="6534150" y="2729111"/>
            <a:ext cx="1935988"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Dönüştür</a:t>
            </a:r>
            <a:endParaRPr lang="en-US" sz="1600" dirty="0"/>
          </a:p>
        </p:txBody>
      </p:sp>
      <p:sp>
        <p:nvSpPr>
          <p:cNvPr id="18" name="Text 14"/>
          <p:cNvSpPr/>
          <p:nvPr/>
        </p:nvSpPr>
        <p:spPr>
          <a:xfrm>
            <a:off x="6534150" y="3049141"/>
            <a:ext cx="1935988" cy="934046"/>
          </a:xfrm>
          <a:prstGeom prst="rect">
            <a:avLst/>
          </a:prstGeom>
          <a:noFill/>
          <a:ln/>
        </p:spPr>
        <p:txBody>
          <a:bodyPr wrap="square" lIns="0" tIns="0" rIns="0" bIns="0" rtlCol="0" anchor="t">
            <a:noAutofit/>
          </a:bodyPr>
          <a:lstStyle/>
          <a:p>
            <a:pPr marL="0" indent="0" algn="l">
              <a:lnSpc>
                <a:spcPts val="1820"/>
              </a:lnSpc>
              <a:buNone/>
            </a:pPr>
            <a:r>
              <a:rPr lang="en-US" sz="1200" dirty="0">
                <a:solidFill>
                  <a:srgbClr val="4A5568"/>
                </a:solidFill>
                <a:latin typeface="IBM Plex Sans" pitchFamily="34" charset="0"/>
                <a:ea typeface="IBM Plex Sans" pitchFamily="34" charset="-122"/>
                <a:cs typeface="IBM Plex Sans" pitchFamily="34" charset="-120"/>
              </a:rPr>
              <a:t>Tablolar, </a:t>
            </a:r>
            <a:r>
              <a:rPr lang="en-US" sz="1200" dirty="0" err="1">
                <a:solidFill>
                  <a:srgbClr val="4A5568"/>
                </a:solidFill>
                <a:latin typeface="IBM Plex Sans" pitchFamily="34" charset="0"/>
                <a:ea typeface="IBM Plex Sans" pitchFamily="34" charset="-122"/>
                <a:cs typeface="IBM Plex Sans" pitchFamily="34" charset="-120"/>
              </a:rPr>
              <a:t>kolonlar</a:t>
            </a:r>
            <a:r>
              <a:rPr lang="en-US" sz="1200" dirty="0">
                <a:solidFill>
                  <a:srgbClr val="4A5568"/>
                </a:solidFill>
                <a:latin typeface="IBM Plex Sans" pitchFamily="34" charset="0"/>
                <a:ea typeface="IBM Plex Sans" pitchFamily="34" charset="-122"/>
                <a:cs typeface="IBM Plex Sans" pitchFamily="34" charset="-120"/>
              </a:rPr>
              <a:t>, </a:t>
            </a:r>
            <a:r>
              <a:rPr lang="en-US" sz="1200" dirty="0" err="1">
                <a:solidFill>
                  <a:srgbClr val="4A5568"/>
                </a:solidFill>
                <a:latin typeface="IBM Plex Sans" pitchFamily="34" charset="0"/>
                <a:ea typeface="IBM Plex Sans" pitchFamily="34" charset="-122"/>
                <a:cs typeface="IBM Plex Sans" pitchFamily="34" charset="-120"/>
              </a:rPr>
              <a:t>ölçüler</a:t>
            </a:r>
            <a:r>
              <a:rPr lang="en-US" sz="1200" dirty="0">
                <a:solidFill>
                  <a:srgbClr val="4A5568"/>
                </a:solidFill>
                <a:latin typeface="IBM Plex Sans" pitchFamily="34" charset="0"/>
                <a:ea typeface="IBM Plex Sans" pitchFamily="34" charset="-122"/>
                <a:cs typeface="IBM Plex Sans" pitchFamily="34" charset="-120"/>
              </a:rPr>
              <a:t> ve </a:t>
            </a:r>
            <a:r>
              <a:rPr lang="en-US" sz="1200" dirty="0" err="1">
                <a:solidFill>
                  <a:srgbClr val="4A5568"/>
                </a:solidFill>
                <a:latin typeface="IBM Plex Sans" pitchFamily="34" charset="0"/>
                <a:ea typeface="IBM Plex Sans" pitchFamily="34" charset="-122"/>
                <a:cs typeface="IBM Plex Sans" pitchFamily="34" charset="-120"/>
              </a:rPr>
              <a:t>ilişkiler</a:t>
            </a:r>
            <a:r>
              <a:rPr lang="en-US" sz="1200" dirty="0">
                <a:solidFill>
                  <a:srgbClr val="4A5568"/>
                </a:solidFill>
                <a:latin typeface="IBM Plex Sans" pitchFamily="34" charset="0"/>
                <a:ea typeface="IBM Plex Sans" pitchFamily="34" charset="-122"/>
                <a:cs typeface="IBM Plex Sans" pitchFamily="34" charset="-120"/>
              </a:rPr>
              <a:t> </a:t>
            </a:r>
            <a:r>
              <a:rPr lang="en-US" sz="1200" dirty="0" err="1">
                <a:solidFill>
                  <a:srgbClr val="4A5568"/>
                </a:solidFill>
                <a:latin typeface="IBM Plex Sans" pitchFamily="34" charset="0"/>
                <a:ea typeface="IBM Plex Sans" pitchFamily="34" charset="-122"/>
                <a:cs typeface="IBM Plex Sans" pitchFamily="34" charset="-120"/>
              </a:rPr>
              <a:t>oluşturulur</a:t>
            </a:r>
            <a:r>
              <a:rPr lang="en-US" sz="1200" dirty="0">
                <a:solidFill>
                  <a:srgbClr val="4A5568"/>
                </a:solidFill>
                <a:latin typeface="IBM Plex Sans" pitchFamily="34" charset="0"/>
                <a:ea typeface="IBM Plex Sans" pitchFamily="34" charset="-122"/>
                <a:cs typeface="IBM Plex Sans" pitchFamily="34" charset="-120"/>
              </a:rPr>
              <a:t>; connection </a:t>
            </a:r>
            <a:r>
              <a:rPr lang="en-US" sz="1200" dirty="0" err="1">
                <a:solidFill>
                  <a:srgbClr val="4A5568"/>
                </a:solidFill>
                <a:latin typeface="IBM Plex Sans" pitchFamily="34" charset="0"/>
                <a:ea typeface="IBM Plex Sans" pitchFamily="34" charset="-122"/>
                <a:cs typeface="IBM Plex Sans" pitchFamily="34" charset="-120"/>
              </a:rPr>
              <a:t>bilgileri</a:t>
            </a:r>
            <a:r>
              <a:rPr lang="en-US" sz="1200" dirty="0">
                <a:solidFill>
                  <a:srgbClr val="4A5568"/>
                </a:solidFill>
                <a:latin typeface="IBM Plex Sans" pitchFamily="34" charset="0"/>
                <a:ea typeface="IBM Plex Sans" pitchFamily="34" charset="-122"/>
                <a:cs typeface="IBM Plex Sans" pitchFamily="34" charset="-120"/>
              </a:rPr>
              <a:t> temizlenir.</a:t>
            </a:r>
            <a:endParaRPr lang="en-US" sz="1200" dirty="0"/>
          </a:p>
        </p:txBody>
      </p:sp>
      <p:pic>
        <p:nvPicPr>
          <p:cNvPr id="19" name="Image 2" descr="arrow-right"/>
          <p:cNvPicPr>
            <a:picLocks noChangeAspect="1"/>
          </p:cNvPicPr>
          <p:nvPr/>
        </p:nvPicPr>
        <p:blipFill>
          <a:blip r:embed="rId3"/>
          <a:srcRect/>
          <a:stretch/>
        </p:blipFill>
        <p:spPr>
          <a:xfrm>
            <a:off x="8724900" y="3132016"/>
            <a:ext cx="254000" cy="152400"/>
          </a:xfrm>
          <a:prstGeom prst="rect">
            <a:avLst/>
          </a:prstGeom>
        </p:spPr>
      </p:pic>
      <p:sp>
        <p:nvSpPr>
          <p:cNvPr id="20" name="Shape 15"/>
          <p:cNvSpPr/>
          <p:nvPr/>
        </p:nvSpPr>
        <p:spPr>
          <a:xfrm>
            <a:off x="9083675" y="2233216"/>
            <a:ext cx="2292350" cy="1950000"/>
          </a:xfrm>
          <a:prstGeom prst="roundRect">
            <a:avLst>
              <a:gd name="adj" fmla="val 5737"/>
            </a:avLst>
          </a:prstGeom>
          <a:solidFill>
            <a:srgbClr val="FFFDF8"/>
          </a:solidFill>
          <a:ln w="6350">
            <a:solidFill>
              <a:srgbClr val="DDD7CA"/>
            </a:solidFill>
            <a:prstDash val="solid"/>
          </a:ln>
        </p:spPr>
        <p:txBody>
          <a:bodyPr/>
          <a:lstStyle/>
          <a:p>
            <a:endParaRPr lang="en-TR"/>
          </a:p>
        </p:txBody>
      </p:sp>
      <p:sp>
        <p:nvSpPr>
          <p:cNvPr id="21" name="Text 16"/>
          <p:cNvSpPr/>
          <p:nvPr/>
        </p:nvSpPr>
        <p:spPr>
          <a:xfrm>
            <a:off x="9290050" y="2439591"/>
            <a:ext cx="193598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84A14"/>
                </a:solidFill>
                <a:latin typeface="IBM Plex Mono" pitchFamily="49" charset="0"/>
                <a:ea typeface="IBM Plex Mono" pitchFamily="49" charset="-122"/>
                <a:cs typeface="IBM Plex Mono" pitchFamily="49" charset="-120"/>
              </a:rPr>
              <a:t>4</a:t>
            </a:r>
            <a:endParaRPr lang="en-US" sz="1200" dirty="0"/>
          </a:p>
        </p:txBody>
      </p:sp>
      <p:sp>
        <p:nvSpPr>
          <p:cNvPr id="22" name="Text 17"/>
          <p:cNvSpPr/>
          <p:nvPr/>
        </p:nvSpPr>
        <p:spPr>
          <a:xfrm>
            <a:off x="9290050" y="2729111"/>
            <a:ext cx="1935988"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İndir</a:t>
            </a:r>
            <a:endParaRPr lang="en-US" sz="1600" dirty="0"/>
          </a:p>
        </p:txBody>
      </p:sp>
      <p:sp>
        <p:nvSpPr>
          <p:cNvPr id="23" name="Text 18"/>
          <p:cNvSpPr/>
          <p:nvPr/>
        </p:nvSpPr>
        <p:spPr>
          <a:xfrm>
            <a:off x="9290050" y="3049141"/>
            <a:ext cx="1935988" cy="718790"/>
          </a:xfrm>
          <a:prstGeom prst="rect">
            <a:avLst/>
          </a:prstGeom>
          <a:noFill/>
          <a:ln/>
        </p:spPr>
        <p:txBody>
          <a:bodyPr wrap="square" lIns="0" tIns="0" rIns="0" bIns="0" rtlCol="0" anchor="t">
            <a:noAutofit/>
          </a:bodyPr>
          <a:lstStyle/>
          <a:p>
            <a:pPr marL="0" indent="0" algn="l">
              <a:lnSpc>
                <a:spcPts val="1820"/>
              </a:lnSpc>
              <a:buNone/>
            </a:pPr>
            <a:r>
              <a:rPr lang="en-US" sz="1200" dirty="0" err="1">
                <a:solidFill>
                  <a:srgbClr val="4A5568"/>
                </a:solidFill>
                <a:latin typeface="IBM Plex Sans" pitchFamily="34" charset="0"/>
                <a:ea typeface="IBM Plex Sans" pitchFamily="34" charset="-122"/>
                <a:cs typeface="IBM Plex Sans" pitchFamily="34" charset="-120"/>
              </a:rPr>
              <a:t>SSAS’e</a:t>
            </a:r>
            <a:r>
              <a:rPr lang="en-US" sz="1200" dirty="0">
                <a:solidFill>
                  <a:srgbClr val="4A5568"/>
                </a:solidFill>
                <a:latin typeface="IBM Plex Sans" pitchFamily="34" charset="0"/>
                <a:ea typeface="IBM Plex Sans" pitchFamily="34" charset="-122"/>
                <a:cs typeface="IBM Plex Sans" pitchFamily="34" charset="-120"/>
              </a:rPr>
              <a:t> </a:t>
            </a:r>
            <a:r>
              <a:rPr lang="en-US" sz="1200" dirty="0" err="1">
                <a:solidFill>
                  <a:srgbClr val="4A5568"/>
                </a:solidFill>
                <a:latin typeface="IBM Plex Sans" pitchFamily="34" charset="0"/>
                <a:ea typeface="IBM Plex Sans" pitchFamily="34" charset="-122"/>
                <a:cs typeface="IBM Plex Sans" pitchFamily="34" charset="-120"/>
              </a:rPr>
              <a:t>hazır</a:t>
            </a:r>
            <a:r>
              <a:rPr lang="en-US" sz="1200" dirty="0">
                <a:solidFill>
                  <a:srgbClr val="4A5568"/>
                </a:solidFill>
                <a:latin typeface="IBM Plex Sans" pitchFamily="34" charset="0"/>
                <a:ea typeface="IBM Plex Sans" pitchFamily="34" charset="-122"/>
                <a:cs typeface="IBM Plex Sans" pitchFamily="34" charset="-120"/>
              </a:rPr>
              <a:t> </a:t>
            </a:r>
            <a:r>
              <a:rPr lang="en-US" sz="1200" dirty="0" err="1">
                <a:solidFill>
                  <a:srgbClr val="4A5568"/>
                </a:solidFill>
                <a:latin typeface="IBM Plex Sans" pitchFamily="34" charset="0"/>
                <a:ea typeface="IBM Plex Sans" pitchFamily="34" charset="-122"/>
                <a:cs typeface="IBM Plex Sans" pitchFamily="34" charset="-120"/>
              </a:rPr>
              <a:t>doğrulanmış</a:t>
            </a:r>
            <a:r>
              <a:rPr lang="en-US" sz="1200" dirty="0">
                <a:solidFill>
                  <a:srgbClr val="4A5568"/>
                </a:solidFill>
                <a:latin typeface="IBM Plex Sans" pitchFamily="34" charset="0"/>
                <a:ea typeface="IBM Plex Sans" pitchFamily="34" charset="-122"/>
                <a:cs typeface="IBM Plex Sans" pitchFamily="34" charset="-120"/>
              </a:rPr>
              <a:t> </a:t>
            </a:r>
            <a:r>
              <a:rPr lang="en-US" sz="1200" dirty="0" err="1">
                <a:solidFill>
                  <a:srgbClr val="4A5568"/>
                </a:solidFill>
                <a:latin typeface="IBM Plex Sans" pitchFamily="34" charset="0"/>
                <a:ea typeface="IBM Plex Sans" pitchFamily="34" charset="-122"/>
                <a:cs typeface="IBM Plex Sans" pitchFamily="34" charset="-120"/>
              </a:rPr>
              <a:t>Model.bim</a:t>
            </a:r>
            <a:r>
              <a:rPr lang="en-US" sz="1200" dirty="0">
                <a:solidFill>
                  <a:srgbClr val="4A5568"/>
                </a:solidFill>
                <a:latin typeface="IBM Plex Sans" pitchFamily="34" charset="0"/>
                <a:ea typeface="IBM Plex Sans" pitchFamily="34" charset="-122"/>
                <a:cs typeface="IBM Plex Sans" pitchFamily="34" charset="-120"/>
              </a:rPr>
              <a:t> </a:t>
            </a:r>
            <a:r>
              <a:rPr lang="en-US" sz="1200" dirty="0" err="1">
                <a:solidFill>
                  <a:srgbClr val="4A5568"/>
                </a:solidFill>
                <a:latin typeface="IBM Plex Sans" pitchFamily="34" charset="0"/>
                <a:ea typeface="IBM Plex Sans" pitchFamily="34" charset="-122"/>
                <a:cs typeface="IBM Plex Sans" pitchFamily="34" charset="-120"/>
              </a:rPr>
              <a:t>dosyası</a:t>
            </a:r>
            <a:r>
              <a:rPr lang="en-US" sz="1200" dirty="0">
                <a:solidFill>
                  <a:srgbClr val="4A5568"/>
                </a:solidFill>
                <a:latin typeface="IBM Plex Sans" pitchFamily="34" charset="0"/>
                <a:ea typeface="IBM Plex Sans" pitchFamily="34" charset="-122"/>
                <a:cs typeface="IBM Plex Sans" pitchFamily="34" charset="-120"/>
              </a:rPr>
              <a:t> </a:t>
            </a:r>
            <a:r>
              <a:rPr lang="en-US" sz="1200" dirty="0" err="1">
                <a:solidFill>
                  <a:srgbClr val="4A5568"/>
                </a:solidFill>
                <a:latin typeface="IBM Plex Sans" pitchFamily="34" charset="0"/>
                <a:ea typeface="IBM Plex Sans" pitchFamily="34" charset="-122"/>
                <a:cs typeface="IBM Plex Sans" pitchFamily="34" charset="-120"/>
              </a:rPr>
              <a:t>indirilir</a:t>
            </a:r>
            <a:r>
              <a:rPr lang="en-US" sz="1200" dirty="0">
                <a:solidFill>
                  <a:srgbClr val="4A5568"/>
                </a:solidFill>
                <a:latin typeface="IBM Plex Sans" pitchFamily="34" charset="0"/>
                <a:ea typeface="IBM Plex Sans" pitchFamily="34" charset="-122"/>
                <a:cs typeface="IBM Plex Sans" pitchFamily="34" charset="-120"/>
              </a:rPr>
              <a:t>.</a:t>
            </a:r>
            <a:endParaRPr lang="en-US" sz="1200" dirty="0"/>
          </a:p>
        </p:txBody>
      </p:sp>
      <p:sp>
        <p:nvSpPr>
          <p:cNvPr id="33" name="Text 28"/>
          <p:cNvSpPr/>
          <p:nvPr/>
        </p:nvSpPr>
        <p:spPr>
          <a:xfrm>
            <a:off x="812800" y="6238280"/>
            <a:ext cx="193839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AI Vibe Coding Projeleri</a:t>
            </a:r>
            <a:endParaRPr lang="en-US" sz="1200" dirty="0"/>
          </a:p>
        </p:txBody>
      </p:sp>
      <p:sp>
        <p:nvSpPr>
          <p:cNvPr id="34" name="Text 29"/>
          <p:cNvSpPr/>
          <p:nvPr/>
        </p:nvSpPr>
        <p:spPr>
          <a:xfrm>
            <a:off x="11145490" y="6238280"/>
            <a:ext cx="23371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nSpc>
                <a:spcPts val="1680"/>
              </a:lnSpc>
            </a:pPr>
            <a:r>
              <a:rPr lang="en-US" sz="1200" kern="0" spc="100" dirty="0">
                <a:solidFill>
                  <a:srgbClr val="A84A14"/>
                </a:solidFill>
                <a:latin typeface="IBM Plex Mono" pitchFamily="49" charset="0"/>
                <a:ea typeface="IBM Plex Mono" pitchFamily="49" charset="-122"/>
                <a:cs typeface="IBM Plex Mono" pitchFamily="49" charset="-120"/>
              </a:rPr>
              <a:t>· ARAYÜZ ·</a:t>
            </a:r>
            <a:endParaRPr lang="en-US" sz="1200" dirty="0"/>
          </a:p>
        </p:txBody>
      </p:sp>
      <p:sp>
        <p:nvSpPr>
          <p:cNvPr id="3" name="Text 1"/>
          <p:cNvSpPr>
            <a:spLocks noGrp="1"/>
          </p:cNvSpPr>
          <p:nvPr>
            <p:ph type="title"/>
          </p:nvPr>
        </p:nvSpPr>
        <p:spPr>
          <a:xfrm>
            <a:off x="812800" y="11277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SSAS Generator</a:t>
            </a:r>
            <a:endParaRPr lang="en-US" sz="3200" dirty="0"/>
          </a:p>
        </p:txBody>
      </p:sp>
      <p:sp>
        <p:nvSpPr>
          <p:cNvPr id="33" name="Text 28"/>
          <p:cNvSpPr/>
          <p:nvPr/>
        </p:nvSpPr>
        <p:spPr>
          <a:xfrm>
            <a:off x="812800" y="6238280"/>
            <a:ext cx="193839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AI Vibe Coding Projeleri</a:t>
            </a:r>
            <a:endParaRPr lang="en-US" sz="1200" dirty="0"/>
          </a:p>
        </p:txBody>
      </p:sp>
      <p:sp>
        <p:nvSpPr>
          <p:cNvPr id="34" name="Text 29"/>
          <p:cNvSpPr/>
          <p:nvPr/>
        </p:nvSpPr>
        <p:spPr>
          <a:xfrm>
            <a:off x="11145490" y="6238280"/>
            <a:ext cx="23371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05</a:t>
            </a:r>
            <a:endParaRPr lang="en-US" sz="1200" dirty="0"/>
          </a:p>
        </p:txBody>
      </p:sp>
      <p:sp>
        <p:nvSpPr>
          <p:cNvPr id="300" name="Frame window"/>
          <p:cNvSpPr/>
          <p:nvPr/>
        </p:nvSpPr>
        <p:spPr>
          <a:xfrm>
            <a:off x="2718393" y="1830000"/>
            <a:ext cx="7072206" cy="3980000"/>
          </a:xfrm>
          <a:prstGeom prst="roundRect">
            <a:avLst>
              <a:gd name="adj" fmla="val 3500"/>
            </a:avLst>
          </a:prstGeom>
          <a:solidFill>
            <a:srgbClr val="14213D"/>
          </a:solidFill>
          <a:ln>
            <a:noFill/>
          </a:ln>
          <a:effectLst>
            <a:outerShdw blurRad="254000" dist="63500" dir="5400000" algn="t" rotWithShape="0">
              <a:srgbClr val="14213D">
                <a:alpha val="22000"/>
              </a:srgbClr>
            </a:outerShdw>
          </a:effectLst>
        </p:spPr>
        <p:txBody>
          <a:bodyPr/>
          <a:lstStyle/>
          <a:p>
            <a:endParaRPr lang="tr-TR"/>
          </a:p>
        </p:txBody>
      </p:sp>
      <p:sp>
        <p:nvSpPr>
          <p:cNvPr id="301" name="Frame dot 0"/>
          <p:cNvSpPr/>
          <p:nvPr/>
        </p:nvSpPr>
        <p:spPr>
          <a:xfrm>
            <a:off x="2888393" y="1927500"/>
            <a:ext cx="105000" cy="105000"/>
          </a:xfrm>
          <a:prstGeom prst="ellipse">
            <a:avLst/>
          </a:prstGeom>
          <a:solidFill>
            <a:srgbClr val="F59E5B"/>
          </a:solidFill>
          <a:ln>
            <a:noFill/>
          </a:ln>
        </p:spPr>
        <p:txBody>
          <a:bodyPr/>
          <a:lstStyle/>
          <a:p>
            <a:endParaRPr lang="tr-TR"/>
          </a:p>
        </p:txBody>
      </p:sp>
      <p:sp>
        <p:nvSpPr>
          <p:cNvPr id="302" name="Frame dot 1"/>
          <p:cNvSpPr/>
          <p:nvPr/>
        </p:nvSpPr>
        <p:spPr>
          <a:xfrm>
            <a:off x="3073393" y="1927500"/>
            <a:ext cx="105000" cy="105000"/>
          </a:xfrm>
          <a:prstGeom prst="ellipse">
            <a:avLst/>
          </a:prstGeom>
          <a:solidFill>
            <a:srgbClr val="C9D3E3"/>
          </a:solidFill>
          <a:ln>
            <a:noFill/>
          </a:ln>
        </p:spPr>
        <p:txBody>
          <a:bodyPr/>
          <a:lstStyle/>
          <a:p>
            <a:endParaRPr lang="tr-TR"/>
          </a:p>
        </p:txBody>
      </p:sp>
      <p:sp>
        <p:nvSpPr>
          <p:cNvPr id="303" name="Frame dot 2"/>
          <p:cNvSpPr/>
          <p:nvPr/>
        </p:nvSpPr>
        <p:spPr>
          <a:xfrm>
            <a:off x="3258393" y="1927500"/>
            <a:ext cx="105000" cy="105000"/>
          </a:xfrm>
          <a:prstGeom prst="ellipse">
            <a:avLst/>
          </a:prstGeom>
          <a:solidFill>
            <a:srgbClr val="5B6B8C"/>
          </a:solidFill>
          <a:ln>
            <a:noFill/>
          </a:ln>
        </p:spPr>
        <p:txBody>
          <a:bodyPr/>
          <a:lstStyle/>
          <a:p>
            <a:endParaRPr lang="tr-TR"/>
          </a:p>
        </p:txBody>
      </p:sp>
      <p:pic>
        <p:nvPicPr>
          <p:cNvPr id="100" name="Screenshot 100" descr="SSAS Generator arayüzü"/>
          <p:cNvPicPr>
            <a:picLocks noChangeAspect="1"/>
          </p:cNvPicPr>
          <p:nvPr/>
        </p:nvPicPr>
        <p:blipFill>
          <a:blip r:embed="rId2"/>
          <a:stretch>
            <a:fillRect/>
          </a:stretch>
        </p:blipFill>
        <p:spPr>
          <a:xfrm>
            <a:off x="2828393" y="2130000"/>
            <a:ext cx="6852206" cy="3570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6F4EF"/>
        </a:solidFill>
        <a:effectLst/>
      </p:bgPr>
    </p:bg>
    <p:spTree>
      <p:nvGrpSpPr>
        <p:cNvPr id="1" name=""/>
        <p:cNvGrpSpPr/>
        <p:nvPr/>
      </p:nvGrpSpPr>
      <p:grpSpPr>
        <a:xfrm>
          <a:off x="0" y="0"/>
          <a:ext cx="0" cy="0"/>
          <a:chOff x="0" y="0"/>
          <a:chExt cx="0" cy="0"/>
        </a:xfrm>
      </p:grpSpPr>
      <p:sp>
        <p:nvSpPr>
          <p:cNvPr id="2" name="Shape 0"/>
          <p:cNvSpPr/>
          <p:nvPr/>
        </p:nvSpPr>
        <p:spPr>
          <a:xfrm>
            <a:off x="812800" y="812800"/>
            <a:ext cx="3556000" cy="5029200"/>
          </a:xfrm>
          <a:prstGeom prst="roundRect">
            <a:avLst>
              <a:gd name="adj" fmla="val 4286"/>
            </a:avLst>
          </a:prstGeom>
          <a:solidFill>
            <a:srgbClr val="14213D"/>
          </a:solidFill>
          <a:ln/>
        </p:spPr>
        <p:txBody>
          <a:bodyPr/>
          <a:lstStyle/>
          <a:p>
            <a:endParaRPr lang="en-TR"/>
          </a:p>
        </p:txBody>
      </p:sp>
      <p:sp>
        <p:nvSpPr>
          <p:cNvPr id="4" name="Text 2"/>
          <p:cNvSpPr>
            <a:spLocks noGrp="1"/>
          </p:cNvSpPr>
          <p:nvPr>
            <p:ph type="title"/>
          </p:nvPr>
        </p:nvSpPr>
        <p:spPr>
          <a:xfrm>
            <a:off x="1168400" y="2557859"/>
            <a:ext cx="2930144" cy="103118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6F4EF"/>
                </a:solidFill>
                <a:latin typeface="IBM Plex Sans" pitchFamily="34" charset="0"/>
                <a:ea typeface="IBM Plex Sans" pitchFamily="34" charset="-122"/>
                <a:cs typeface="IBM Plex Sans" pitchFamily="34" charset="-120"/>
              </a:rPr>
              <a:t>BI</a:t>
            </a:r>
            <a:endParaRPr lang="en-US" sz="3600" dirty="0"/>
          </a:p>
          <a:p>
            <a:pPr marL="0" indent="0" algn="l">
              <a:lnSpc>
                <a:spcPts val="3960"/>
              </a:lnSpc>
              <a:buNone/>
            </a:pPr>
            <a:r>
              <a:rPr lang="en-US" sz="3600" b="1" i="0" dirty="0">
                <a:solidFill>
                  <a:srgbClr val="F6F4EF"/>
                </a:solidFill>
                <a:latin typeface="IBM Plex Sans" pitchFamily="34" charset="0"/>
                <a:ea typeface="IBM Plex Sans" pitchFamily="34" charset="-122"/>
                <a:cs typeface="IBM Plex Sans" pitchFamily="34" charset="-120"/>
              </a:rPr>
              <a:t>Skorlama</a:t>
            </a:r>
            <a:endParaRPr lang="en-US" sz="3600" dirty="0"/>
          </a:p>
        </p:txBody>
      </p:sp>
      <p:sp>
        <p:nvSpPr>
          <p:cNvPr id="5" name="Text 3"/>
          <p:cNvSpPr/>
          <p:nvPr/>
        </p:nvSpPr>
        <p:spPr>
          <a:xfrm>
            <a:off x="1168400" y="4511800"/>
            <a:ext cx="2930144" cy="1000000"/>
          </a:xfrm>
          <a:prstGeom prst="rect">
            <a:avLst/>
          </a:prstGeom>
          <a:noFill/>
          <a:ln/>
        </p:spPr>
        <p:txBody>
          <a:bodyPr wrap="square" lIns="0" tIns="0" rIns="0" bIns="0" rtlCol="0" anchor="b">
            <a:normAutofit/>
          </a:bodyPr>
          <a:lstStyle/>
          <a:p>
            <a:pPr marL="0" indent="0" algn="l">
              <a:lnSpc>
                <a:spcPts val="1960"/>
              </a:lnSpc>
              <a:buNone/>
            </a:pPr>
            <a:r>
              <a:rPr lang="en-US" sz="1400" dirty="0">
                <a:solidFill>
                  <a:srgbClr val="C9D3E3"/>
                </a:solidFill>
                <a:latin typeface="IBM Plex Sans" pitchFamily="34" charset="0"/>
                <a:ea typeface="IBM Plex Sans" pitchFamily="34" charset="-122"/>
                <a:cs typeface="IBM Plex Sans" pitchFamily="34" charset="-120"/>
              </a:rPr>
              <a:t>Power BI raporlarını kurallarla denetleyip 100 </a:t>
            </a:r>
            <a:r>
              <a:rPr lang="en-US" sz="1400" dirty="0" err="1">
                <a:solidFill>
                  <a:srgbClr val="C9D3E3"/>
                </a:solidFill>
                <a:latin typeface="IBM Plex Sans" pitchFamily="34" charset="0"/>
                <a:ea typeface="IBM Plex Sans" pitchFamily="34" charset="-122"/>
                <a:cs typeface="IBM Plex Sans" pitchFamily="34" charset="-120"/>
              </a:rPr>
              <a:t>üzerinden</a:t>
            </a:r>
            <a:r>
              <a:rPr lang="en-US" sz="1400" dirty="0">
                <a:solidFill>
                  <a:srgbClr val="C9D3E3"/>
                </a:solidFill>
                <a:latin typeface="IBM Plex Sans" pitchFamily="34" charset="0"/>
                <a:ea typeface="IBM Plex Sans" pitchFamily="34" charset="-122"/>
                <a:cs typeface="IBM Plex Sans" pitchFamily="34" charset="-120"/>
              </a:rPr>
              <a:t> </a:t>
            </a:r>
            <a:r>
              <a:rPr lang="en-US" sz="1400" dirty="0" err="1">
                <a:solidFill>
                  <a:srgbClr val="C9D3E3"/>
                </a:solidFill>
                <a:latin typeface="IBM Plex Sans" pitchFamily="34" charset="0"/>
                <a:ea typeface="IBM Plex Sans" pitchFamily="34" charset="-122"/>
                <a:cs typeface="IBM Plex Sans" pitchFamily="34" charset="-120"/>
              </a:rPr>
              <a:t>puanlayan</a:t>
            </a:r>
            <a:r>
              <a:rPr lang="en-US" sz="1400" dirty="0">
                <a:solidFill>
                  <a:srgbClr val="C9D3E3"/>
                </a:solidFill>
                <a:latin typeface="IBM Plex Sans" pitchFamily="34" charset="0"/>
                <a:ea typeface="IBM Plex Sans" pitchFamily="34" charset="-122"/>
                <a:cs typeface="IBM Plex Sans" pitchFamily="34" charset="-120"/>
              </a:rPr>
              <a:t> </a:t>
            </a:r>
            <a:r>
              <a:rPr lang="en-US" sz="1400" dirty="0" err="1">
                <a:solidFill>
                  <a:srgbClr val="C9D3E3"/>
                </a:solidFill>
                <a:latin typeface="IBM Plex Sans" pitchFamily="34" charset="0"/>
                <a:ea typeface="IBM Plex Sans" pitchFamily="34" charset="-122"/>
                <a:cs typeface="IBM Plex Sans" pitchFamily="34" charset="-120"/>
              </a:rPr>
              <a:t>bir</a:t>
            </a:r>
            <a:r>
              <a:rPr lang="en-US" sz="1400" dirty="0">
                <a:solidFill>
                  <a:srgbClr val="C9D3E3"/>
                </a:solidFill>
                <a:latin typeface="IBM Plex Sans" pitchFamily="34" charset="0"/>
                <a:ea typeface="IBM Plex Sans" pitchFamily="34" charset="-122"/>
                <a:cs typeface="IBM Plex Sans" pitchFamily="34" charset="-120"/>
              </a:rPr>
              <a:t> </a:t>
            </a:r>
            <a:r>
              <a:rPr lang="en-US" sz="1400" dirty="0" err="1">
                <a:solidFill>
                  <a:srgbClr val="C9D3E3"/>
                </a:solidFill>
                <a:latin typeface="IBM Plex Sans" pitchFamily="34" charset="0"/>
                <a:ea typeface="IBM Plex Sans" pitchFamily="34" charset="-122"/>
                <a:cs typeface="IBM Plex Sans" pitchFamily="34" charset="-120"/>
              </a:rPr>
              <a:t>kalite</a:t>
            </a:r>
            <a:r>
              <a:rPr lang="en-US" sz="1400" dirty="0">
                <a:solidFill>
                  <a:srgbClr val="C9D3E3"/>
                </a:solidFill>
                <a:latin typeface="IBM Plex Sans" pitchFamily="34" charset="0"/>
                <a:ea typeface="IBM Plex Sans" pitchFamily="34" charset="-122"/>
                <a:cs typeface="IBM Plex Sans" pitchFamily="34" charset="-120"/>
              </a:rPr>
              <a:t> aracı</a:t>
            </a:r>
            <a:endParaRPr lang="en-US" sz="1400" dirty="0"/>
          </a:p>
        </p:txBody>
      </p:sp>
      <p:sp>
        <p:nvSpPr>
          <p:cNvPr id="6" name="Text 4"/>
          <p:cNvSpPr/>
          <p:nvPr/>
        </p:nvSpPr>
        <p:spPr>
          <a:xfrm>
            <a:off x="4826000" y="1630000"/>
            <a:ext cx="6749796"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A84A14"/>
                </a:solidFill>
                <a:latin typeface="IBM Plex Mono" pitchFamily="49" charset="0"/>
                <a:ea typeface="IBM Plex Mono" pitchFamily="49" charset="-122"/>
                <a:cs typeface="IBM Plex Mono" pitchFamily="49" charset="-120"/>
              </a:rPr>
              <a:t>PROBLEM</a:t>
            </a:r>
            <a:endParaRPr lang="en-US" sz="1200" dirty="0"/>
          </a:p>
        </p:txBody>
      </p:sp>
      <p:sp>
        <p:nvSpPr>
          <p:cNvPr id="7" name="Text 5"/>
          <p:cNvSpPr/>
          <p:nvPr/>
        </p:nvSpPr>
        <p:spPr>
          <a:xfrm>
            <a:off x="4826000" y="1970000"/>
            <a:ext cx="6749796" cy="1280160"/>
          </a:xfrm>
          <a:prstGeom prst="rect">
            <a:avLst/>
          </a:prstGeom>
          <a:noFill/>
          <a:ln/>
        </p:spPr>
        <p:txBody>
          <a:bodyPr wrap="square" lIns="0" tIns="0" rIns="0" bIns="0" rtlCol="0" anchor="t">
            <a:normAutofit/>
          </a:bodyPr>
          <a:lstStyle/>
          <a:p>
            <a:pPr marL="0" indent="0" algn="l">
              <a:lnSpc>
                <a:spcPts val="2520"/>
              </a:lnSpc>
              <a:buNone/>
            </a:pPr>
            <a:r>
              <a:rPr lang="tr-TR" sz="1800" dirty="0">
                <a:solidFill>
                  <a:srgbClr val="14213D"/>
                </a:solidFill>
                <a:latin typeface="IBM Plex Sans" pitchFamily="34" charset="0"/>
                <a:ea typeface="IBM Plex Sans" pitchFamily="34" charset="-122"/>
                <a:cs typeface="IBM Plex Sans" pitchFamily="34" charset="-120"/>
              </a:rPr>
              <a:t>Rapor kalitesini ölçmenin ortak bir standardı yok; inceleyen kişiye göre farklı değerlendirilebiliyor. Kalite kontrolü yayın öncesinde sistematik olarak yapılmadığı için hatalar geç fark ediliyor ve düzeltme maliyeti artıyor.</a:t>
            </a:r>
            <a:endParaRPr lang="en-US" sz="1800" dirty="0"/>
          </a:p>
        </p:txBody>
      </p:sp>
      <p:pic>
        <p:nvPicPr>
          <p:cNvPr id="8" name="Image 0" descr="line"/>
          <p:cNvPicPr>
            <a:picLocks noChangeAspect="1"/>
          </p:cNvPicPr>
          <p:nvPr/>
        </p:nvPicPr>
        <p:blipFill>
          <a:blip r:embed="rId3"/>
          <a:srcRect/>
          <a:stretch/>
        </p:blipFill>
        <p:spPr>
          <a:xfrm>
            <a:off x="4826000" y="3530000"/>
            <a:ext cx="6749796" cy="12700"/>
          </a:xfrm>
          <a:prstGeom prst="rect">
            <a:avLst/>
          </a:prstGeom>
        </p:spPr>
      </p:pic>
      <p:sp>
        <p:nvSpPr>
          <p:cNvPr id="9" name="Text 6"/>
          <p:cNvSpPr/>
          <p:nvPr/>
        </p:nvSpPr>
        <p:spPr>
          <a:xfrm>
            <a:off x="4826000" y="3770000"/>
            <a:ext cx="6749796"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A84A14"/>
                </a:solidFill>
                <a:latin typeface="IBM Plex Mono" pitchFamily="49" charset="0"/>
                <a:ea typeface="IBM Plex Mono" pitchFamily="49" charset="-122"/>
                <a:cs typeface="IBM Plex Mono" pitchFamily="49" charset="-120"/>
              </a:rPr>
              <a:t>NE AMAÇLIYOR</a:t>
            </a:r>
            <a:endParaRPr lang="en-US" sz="1200" dirty="0"/>
          </a:p>
        </p:txBody>
      </p:sp>
      <p:sp>
        <p:nvSpPr>
          <p:cNvPr id="10" name="Text 7"/>
          <p:cNvSpPr/>
          <p:nvPr/>
        </p:nvSpPr>
        <p:spPr>
          <a:xfrm>
            <a:off x="4897120" y="4110000"/>
            <a:ext cx="6671056" cy="1151391"/>
          </a:xfrm>
          <a:prstGeom prst="rect">
            <a:avLst/>
          </a:prstGeom>
          <a:noFill/>
          <a:ln/>
        </p:spPr>
        <p:txBody>
          <a:bodyPr wrap="square" lIns="0" tIns="0" rIns="0" bIns="0" rtlCol="0" anchor="t">
            <a:normAutofit/>
          </a:bodyPr>
          <a:lstStyle/>
          <a:p>
            <a:pPr marL="182880" indent="-182880" algn="l">
              <a:lnSpc>
                <a:spcPts val="2175"/>
              </a:lnSpc>
              <a:buSzPct val="100000"/>
              <a:buChar char="•"/>
            </a:pPr>
            <a:r>
              <a:rPr lang="tr-TR" sz="1500" dirty="0">
                <a:solidFill>
                  <a:srgbClr val="4A5568"/>
                </a:solidFill>
                <a:latin typeface="IBM Plex Sans" pitchFamily="34" charset="0"/>
                <a:ea typeface="IBM Plex Sans" pitchFamily="34" charset="-122"/>
                <a:cs typeface="IBM Plex Sans" pitchFamily="34" charset="-120"/>
              </a:rPr>
              <a:t>Her raporu aynı kurallarla, 100 üzerinden puanlamak</a:t>
            </a:r>
            <a:endParaRPr lang="en-US" sz="1500" dirty="0"/>
          </a:p>
          <a:p>
            <a:pPr marL="182880" indent="-182880" algn="l">
              <a:lnSpc>
                <a:spcPts val="2175"/>
              </a:lnSpc>
              <a:buSzPct val="100000"/>
              <a:buChar char="•"/>
            </a:pPr>
            <a:r>
              <a:rPr lang="tr-TR" sz="1500" dirty="0">
                <a:solidFill>
                  <a:srgbClr val="4A5568"/>
                </a:solidFill>
                <a:latin typeface="IBM Plex Sans" pitchFamily="34" charset="0"/>
                <a:ea typeface="IBM Plex Sans" pitchFamily="34" charset="-122"/>
                <a:cs typeface="IBM Plex Sans" pitchFamily="34" charset="-120"/>
              </a:rPr>
              <a:t>Her </a:t>
            </a:r>
            <a:r>
              <a:rPr lang="tr-TR" sz="1500" dirty="0" err="1">
                <a:solidFill>
                  <a:srgbClr val="4A5568"/>
                </a:solidFill>
                <a:latin typeface="IBM Plex Sans" pitchFamily="34" charset="0"/>
                <a:ea typeface="IBM Plex Sans" pitchFamily="34" charset="-122"/>
                <a:cs typeface="IBM Plex Sans" pitchFamily="34" charset="-120"/>
              </a:rPr>
              <a:t>bulguyu</a:t>
            </a:r>
            <a:r>
              <a:rPr lang="tr-TR" sz="1500" dirty="0">
                <a:solidFill>
                  <a:srgbClr val="4A5568"/>
                </a:solidFill>
                <a:latin typeface="IBM Plex Sans" pitchFamily="34" charset="0"/>
                <a:ea typeface="IBM Plex Sans" pitchFamily="34" charset="-122"/>
                <a:cs typeface="IBM Plex Sans" pitchFamily="34" charset="-120"/>
              </a:rPr>
              <a:t> </a:t>
            </a:r>
            <a:r>
              <a:rPr lang="tr-TR" sz="1500" dirty="0" err="1">
                <a:solidFill>
                  <a:srgbClr val="4A5568"/>
                </a:solidFill>
                <a:latin typeface="IBM Plex Sans" pitchFamily="34" charset="0"/>
                <a:ea typeface="IBM Plex Sans" pitchFamily="34" charset="-122"/>
                <a:cs typeface="IBM Plex Sans" pitchFamily="34" charset="-120"/>
              </a:rPr>
              <a:t>önem</a:t>
            </a:r>
            <a:r>
              <a:rPr lang="tr-TR" sz="1500" dirty="0">
                <a:solidFill>
                  <a:srgbClr val="4A5568"/>
                </a:solidFill>
                <a:latin typeface="IBM Plex Sans" pitchFamily="34" charset="0"/>
                <a:ea typeface="IBM Plex Sans" pitchFamily="34" charset="-122"/>
                <a:cs typeface="IBM Plex Sans" pitchFamily="34" charset="-120"/>
              </a:rPr>
              <a:t> derecesi ve düzeltme önerisiyle vermek</a:t>
            </a:r>
            <a:endParaRPr lang="en-US" sz="1500" dirty="0"/>
          </a:p>
          <a:p>
            <a:pPr marL="182880" indent="-182880" algn="l">
              <a:lnSpc>
                <a:spcPts val="2175"/>
              </a:lnSpc>
              <a:buSzPct val="100000"/>
              <a:buChar char="•"/>
            </a:pPr>
            <a:r>
              <a:rPr lang="tr-TR" sz="1500" dirty="0">
                <a:solidFill>
                  <a:srgbClr val="4A5568"/>
                </a:solidFill>
                <a:latin typeface="IBM Plex Sans" pitchFamily="34" charset="0"/>
                <a:ea typeface="IBM Plex Sans" pitchFamily="34" charset="-122"/>
                <a:cs typeface="IBM Plex Sans" pitchFamily="34" charset="-120"/>
              </a:rPr>
              <a:t>AI </a:t>
            </a:r>
            <a:r>
              <a:rPr lang="tr-TR" sz="1500" dirty="0" err="1">
                <a:solidFill>
                  <a:srgbClr val="4A5568"/>
                </a:solidFill>
                <a:latin typeface="IBM Plex Sans" pitchFamily="34" charset="0"/>
                <a:ea typeface="IBM Plex Sans" pitchFamily="34" charset="-122"/>
                <a:cs typeface="IBM Plex Sans" pitchFamily="34" charset="-120"/>
              </a:rPr>
              <a:t>destekli</a:t>
            </a:r>
            <a:r>
              <a:rPr lang="tr-TR" sz="1500" dirty="0">
                <a:solidFill>
                  <a:srgbClr val="4A5568"/>
                </a:solidFill>
                <a:latin typeface="IBM Plex Sans" pitchFamily="34" charset="0"/>
                <a:ea typeface="IBM Plex Sans" pitchFamily="34" charset="-122"/>
                <a:cs typeface="IBM Plex Sans" pitchFamily="34" charset="-120"/>
              </a:rPr>
              <a:t> </a:t>
            </a:r>
            <a:r>
              <a:rPr lang="tr-TR" sz="1500" dirty="0" err="1">
                <a:solidFill>
                  <a:srgbClr val="4A5568"/>
                </a:solidFill>
                <a:latin typeface="IBM Plex Sans" pitchFamily="34" charset="0"/>
                <a:ea typeface="IBM Plex Sans" pitchFamily="34" charset="-122"/>
                <a:cs typeface="IBM Plex Sans" pitchFamily="34" charset="-120"/>
              </a:rPr>
              <a:t>yorumla</a:t>
            </a:r>
            <a:r>
              <a:rPr lang="tr-TR" sz="1500" dirty="0">
                <a:solidFill>
                  <a:srgbClr val="4A5568"/>
                </a:solidFill>
                <a:latin typeface="IBM Plex Sans" pitchFamily="34" charset="0"/>
                <a:ea typeface="IBM Plex Sans" pitchFamily="34" charset="-122"/>
                <a:cs typeface="IBM Plex Sans" pitchFamily="34" charset="-120"/>
              </a:rPr>
              <a:t> </a:t>
            </a:r>
            <a:r>
              <a:rPr lang="tr-TR" sz="1500" dirty="0" err="1">
                <a:solidFill>
                  <a:srgbClr val="4A5568"/>
                </a:solidFill>
                <a:latin typeface="IBM Plex Sans" pitchFamily="34" charset="0"/>
                <a:ea typeface="IBM Plex Sans" pitchFamily="34" charset="-122"/>
                <a:cs typeface="IBM Plex Sans" pitchFamily="34" charset="-120"/>
              </a:rPr>
              <a:t>bulguları</a:t>
            </a:r>
            <a:r>
              <a:rPr lang="tr-TR" sz="1500" dirty="0">
                <a:solidFill>
                  <a:srgbClr val="4A5568"/>
                </a:solidFill>
                <a:latin typeface="IBM Plex Sans" pitchFamily="34" charset="0"/>
                <a:ea typeface="IBM Plex Sans" pitchFamily="34" charset="-122"/>
                <a:cs typeface="IBM Plex Sans" pitchFamily="34" charset="-120"/>
              </a:rPr>
              <a:t> </a:t>
            </a:r>
            <a:r>
              <a:rPr lang="tr-TR" sz="1500" dirty="0" err="1">
                <a:solidFill>
                  <a:srgbClr val="4A5568"/>
                </a:solidFill>
                <a:latin typeface="IBM Plex Sans" pitchFamily="34" charset="0"/>
                <a:ea typeface="IBM Plex Sans" pitchFamily="34" charset="-122"/>
                <a:cs typeface="IBM Plex Sans" pitchFamily="34" charset="-120"/>
              </a:rPr>
              <a:t>anlaşılır</a:t>
            </a:r>
            <a:r>
              <a:rPr lang="tr-TR" sz="1500" dirty="0">
                <a:solidFill>
                  <a:srgbClr val="4A5568"/>
                </a:solidFill>
                <a:latin typeface="IBM Plex Sans" pitchFamily="34" charset="0"/>
                <a:ea typeface="IBM Plex Sans" pitchFamily="34" charset="-122"/>
                <a:cs typeface="IBM Plex Sans" pitchFamily="34" charset="-120"/>
              </a:rPr>
              <a:t> </a:t>
            </a:r>
            <a:r>
              <a:rPr lang="tr-TR" sz="1500" dirty="0" err="1">
                <a:solidFill>
                  <a:srgbClr val="4A5568"/>
                </a:solidFill>
                <a:latin typeface="IBM Plex Sans" pitchFamily="34" charset="0"/>
                <a:ea typeface="IBM Plex Sans" pitchFamily="34" charset="-122"/>
                <a:cs typeface="IBM Plex Sans" pitchFamily="34" charset="-120"/>
              </a:rPr>
              <a:t>bir</a:t>
            </a:r>
            <a:r>
              <a:rPr lang="tr-TR" sz="1500" dirty="0">
                <a:solidFill>
                  <a:srgbClr val="4A5568"/>
                </a:solidFill>
                <a:latin typeface="IBM Plex Sans" pitchFamily="34" charset="0"/>
                <a:ea typeface="IBM Plex Sans" pitchFamily="34" charset="-122"/>
                <a:cs typeface="IBM Plex Sans" pitchFamily="34" charset="-120"/>
              </a:rPr>
              <a:t> </a:t>
            </a:r>
            <a:r>
              <a:rPr lang="tr-TR" sz="1500" dirty="0" err="1">
                <a:solidFill>
                  <a:srgbClr val="4A5568"/>
                </a:solidFill>
                <a:latin typeface="IBM Plex Sans" pitchFamily="34" charset="0"/>
                <a:ea typeface="IBM Plex Sans" pitchFamily="34" charset="-122"/>
                <a:cs typeface="IBM Plex Sans" pitchFamily="34" charset="-120"/>
              </a:rPr>
              <a:t>yol</a:t>
            </a:r>
            <a:r>
              <a:rPr lang="tr-TR" sz="1500" dirty="0">
                <a:solidFill>
                  <a:srgbClr val="4A5568"/>
                </a:solidFill>
                <a:latin typeface="IBM Plex Sans" pitchFamily="34" charset="0"/>
                <a:ea typeface="IBM Plex Sans" pitchFamily="34" charset="-122"/>
                <a:cs typeface="IBM Plex Sans" pitchFamily="34" charset="-120"/>
              </a:rPr>
              <a:t> </a:t>
            </a:r>
            <a:r>
              <a:rPr lang="tr-TR" sz="1500" dirty="0" err="1">
                <a:solidFill>
                  <a:srgbClr val="4A5568"/>
                </a:solidFill>
                <a:latin typeface="IBM Plex Sans" pitchFamily="34" charset="0"/>
                <a:ea typeface="IBM Plex Sans" pitchFamily="34" charset="-122"/>
                <a:cs typeface="IBM Plex Sans" pitchFamily="34" charset="-120"/>
              </a:rPr>
              <a:t>haritasına</a:t>
            </a:r>
            <a:r>
              <a:rPr lang="tr-TR" sz="1500" dirty="0">
                <a:solidFill>
                  <a:srgbClr val="4A5568"/>
                </a:solidFill>
                <a:latin typeface="IBM Plex Sans" pitchFamily="34" charset="0"/>
                <a:ea typeface="IBM Plex Sans" pitchFamily="34" charset="-122"/>
                <a:cs typeface="IBM Plex Sans" pitchFamily="34" charset="-120"/>
              </a:rPr>
              <a:t> </a:t>
            </a:r>
            <a:r>
              <a:rPr lang="tr-TR" sz="1500" dirty="0" err="1">
                <a:solidFill>
                  <a:srgbClr val="4A5568"/>
                </a:solidFill>
                <a:latin typeface="IBM Plex Sans" pitchFamily="34" charset="0"/>
                <a:ea typeface="IBM Plex Sans" pitchFamily="34" charset="-122"/>
                <a:cs typeface="IBM Plex Sans" pitchFamily="34" charset="-120"/>
              </a:rPr>
              <a:t>dönüştürmek</a:t>
            </a:r>
            <a:endParaRPr lang="en-US" sz="1500" dirty="0"/>
          </a:p>
        </p:txBody>
      </p:sp>
      <p:sp>
        <p:nvSpPr>
          <p:cNvPr id="11" name="Text 8"/>
          <p:cNvSpPr/>
          <p:nvPr/>
        </p:nvSpPr>
        <p:spPr>
          <a:xfrm>
            <a:off x="812800" y="6238280"/>
            <a:ext cx="193839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AI Vibe Coding Projeleri</a:t>
            </a:r>
            <a:endParaRPr lang="en-US" sz="1200" dirty="0"/>
          </a:p>
        </p:txBody>
      </p:sp>
      <p:sp>
        <p:nvSpPr>
          <p:cNvPr id="12" name="Text 9"/>
          <p:cNvSpPr/>
          <p:nvPr/>
        </p:nvSpPr>
        <p:spPr>
          <a:xfrm>
            <a:off x="11145490" y="6238280"/>
            <a:ext cx="23371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nSpc>
                <a:spcPts val="1680"/>
              </a:lnSpc>
            </a:pPr>
            <a:r>
              <a:rPr lang="en-US" sz="1200" kern="0" spc="100" dirty="0">
                <a:solidFill>
                  <a:srgbClr val="A84A14"/>
                </a:solidFill>
                <a:latin typeface="IBM Plex Mono" pitchFamily="49" charset="0"/>
                <a:ea typeface="IBM Plex Mono" pitchFamily="49" charset="-122"/>
                <a:cs typeface="IBM Plex Mono" pitchFamily="49" charset="-120"/>
              </a:rPr>
              <a:t>· NASIL PUANLAR ·</a:t>
            </a:r>
            <a:endParaRPr lang="en-US" sz="1200" dirty="0"/>
          </a:p>
        </p:txBody>
      </p:sp>
      <p:sp>
        <p:nvSpPr>
          <p:cNvPr id="3" name="Text 1"/>
          <p:cNvSpPr>
            <a:spLocks noGrp="1"/>
          </p:cNvSpPr>
          <p:nvPr>
            <p:ph type="title"/>
          </p:nvPr>
        </p:nvSpPr>
        <p:spPr>
          <a:xfrm>
            <a:off x="812800" y="11277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BI Skorlama</a:t>
            </a:r>
            <a:endParaRPr lang="en-US" sz="3200" dirty="0"/>
          </a:p>
        </p:txBody>
      </p:sp>
      <p:sp>
        <p:nvSpPr>
          <p:cNvPr id="4" name="Text 2"/>
          <p:cNvSpPr/>
          <p:nvPr/>
        </p:nvSpPr>
        <p:spPr>
          <a:xfrm>
            <a:off x="812800" y="167635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a:t>
            </a:r>
            <a:r>
              <a:rPr lang="en-US" sz="1400" dirty="0" err="1">
                <a:solidFill>
                  <a:srgbClr val="4A5568"/>
                </a:solidFill>
                <a:latin typeface="IBM Plex Sans" pitchFamily="34" charset="0"/>
                <a:ea typeface="IBM Plex Sans" pitchFamily="34" charset="-122"/>
                <a:cs typeface="IBM Plex Sans" pitchFamily="34" charset="-120"/>
              </a:rPr>
              <a:t>pbit</a:t>
            </a:r>
            <a:r>
              <a:rPr lang="en-US" sz="1400" dirty="0">
                <a:solidFill>
                  <a:srgbClr val="4A5568"/>
                </a:solidFill>
                <a:latin typeface="IBM Plex Sans" pitchFamily="34" charset="0"/>
                <a:ea typeface="IBM Plex Sans" pitchFamily="34" charset="-122"/>
                <a:cs typeface="IBM Plex Sans" pitchFamily="34" charset="-120"/>
              </a:rPr>
              <a:t> </a:t>
            </a:r>
            <a:r>
              <a:rPr lang="en-US" sz="1400" dirty="0" err="1">
                <a:solidFill>
                  <a:srgbClr val="4A5568"/>
                </a:solidFill>
                <a:latin typeface="IBM Plex Sans" pitchFamily="34" charset="0"/>
                <a:ea typeface="IBM Plex Sans" pitchFamily="34" charset="-122"/>
                <a:cs typeface="IBM Plex Sans" pitchFamily="34" charset="-120"/>
              </a:rPr>
              <a:t>yükle</a:t>
            </a:r>
            <a:r>
              <a:rPr lang="en-US" sz="1400" dirty="0">
                <a:solidFill>
                  <a:srgbClr val="4A5568"/>
                </a:solidFill>
                <a:latin typeface="IBM Plex Sans" pitchFamily="34" charset="0"/>
                <a:ea typeface="IBM Plex Sans" pitchFamily="34" charset="-122"/>
                <a:cs typeface="IBM Plex Sans" pitchFamily="34" charset="-120"/>
              </a:rPr>
              <a:t> → </a:t>
            </a:r>
            <a:r>
              <a:rPr lang="en-US" sz="1400" dirty="0" err="1">
                <a:solidFill>
                  <a:srgbClr val="4A5568"/>
                </a:solidFill>
                <a:latin typeface="IBM Plex Sans" pitchFamily="34" charset="0"/>
                <a:ea typeface="IBM Plex Sans" pitchFamily="34" charset="-122"/>
                <a:cs typeface="IBM Plex Sans" pitchFamily="34" charset="-120"/>
              </a:rPr>
              <a:t>kural</a:t>
            </a:r>
            <a:r>
              <a:rPr lang="en-US" sz="1400" dirty="0">
                <a:solidFill>
                  <a:srgbClr val="4A5568"/>
                </a:solidFill>
                <a:latin typeface="IBM Plex Sans" pitchFamily="34" charset="0"/>
                <a:ea typeface="IBM Plex Sans" pitchFamily="34" charset="-122"/>
                <a:cs typeface="IBM Plex Sans" pitchFamily="34" charset="-120"/>
              </a:rPr>
              <a:t> </a:t>
            </a:r>
            <a:r>
              <a:rPr lang="en-US" sz="1400" dirty="0" err="1">
                <a:solidFill>
                  <a:srgbClr val="4A5568"/>
                </a:solidFill>
                <a:latin typeface="IBM Plex Sans" pitchFamily="34" charset="0"/>
                <a:ea typeface="IBM Plex Sans" pitchFamily="34" charset="-122"/>
                <a:cs typeface="IBM Plex Sans" pitchFamily="34" charset="-120"/>
              </a:rPr>
              <a:t>motoru</a:t>
            </a:r>
            <a:r>
              <a:rPr lang="en-US" sz="1400" dirty="0">
                <a:solidFill>
                  <a:srgbClr val="4A5568"/>
                </a:solidFill>
                <a:latin typeface="IBM Plex Sans" pitchFamily="34" charset="0"/>
                <a:ea typeface="IBM Plex Sans" pitchFamily="34" charset="-122"/>
                <a:cs typeface="IBM Plex Sans" pitchFamily="34" charset="-120"/>
              </a:rPr>
              <a:t> → </a:t>
            </a:r>
            <a:r>
              <a:rPr lang="en-US" sz="1400" dirty="0" err="1">
                <a:solidFill>
                  <a:srgbClr val="4A5568"/>
                </a:solidFill>
                <a:latin typeface="IBM Plex Sans" pitchFamily="34" charset="0"/>
                <a:ea typeface="IBM Plex Sans" pitchFamily="34" charset="-122"/>
                <a:cs typeface="IBM Plex Sans" pitchFamily="34" charset="-120"/>
              </a:rPr>
              <a:t>puan</a:t>
            </a:r>
            <a:r>
              <a:rPr lang="en-US" sz="1400" dirty="0">
                <a:solidFill>
                  <a:srgbClr val="4A5568"/>
                </a:solidFill>
                <a:latin typeface="IBM Plex Sans" pitchFamily="34" charset="0"/>
                <a:ea typeface="IBM Plex Sans" pitchFamily="34" charset="-122"/>
                <a:cs typeface="IBM Plex Sans" pitchFamily="34" charset="-120"/>
              </a:rPr>
              <a:t> ve </a:t>
            </a:r>
            <a:r>
              <a:rPr lang="en-US" sz="1400" dirty="0" err="1">
                <a:solidFill>
                  <a:srgbClr val="4A5568"/>
                </a:solidFill>
                <a:latin typeface="IBM Plex Sans" pitchFamily="34" charset="0"/>
                <a:ea typeface="IBM Plex Sans" pitchFamily="34" charset="-122"/>
                <a:cs typeface="IBM Plex Sans" pitchFamily="34" charset="-120"/>
              </a:rPr>
              <a:t>bulgular</a:t>
            </a:r>
            <a:r>
              <a:rPr lang="en-US" sz="1400" dirty="0">
                <a:solidFill>
                  <a:srgbClr val="4A5568"/>
                </a:solidFill>
                <a:latin typeface="IBM Plex Sans" pitchFamily="34" charset="0"/>
                <a:ea typeface="IBM Plex Sans" pitchFamily="34" charset="-122"/>
                <a:cs typeface="IBM Plex Sans" pitchFamily="34" charset="-120"/>
              </a:rPr>
              <a:t> → AI </a:t>
            </a:r>
            <a:r>
              <a:rPr lang="en-US" sz="1400" dirty="0" err="1">
                <a:solidFill>
                  <a:srgbClr val="4A5568"/>
                </a:solidFill>
                <a:latin typeface="IBM Plex Sans" pitchFamily="34" charset="0"/>
                <a:ea typeface="IBM Plex Sans" pitchFamily="34" charset="-122"/>
                <a:cs typeface="IBM Plex Sans" pitchFamily="34" charset="-120"/>
              </a:rPr>
              <a:t>yorumu</a:t>
            </a:r>
            <a:r>
              <a:rPr lang="en-US" sz="1400" dirty="0">
                <a:solidFill>
                  <a:srgbClr val="4A5568"/>
                </a:solidFill>
                <a:latin typeface="IBM Plex Sans" pitchFamily="34" charset="0"/>
                <a:ea typeface="IBM Plex Sans" pitchFamily="34" charset="-122"/>
                <a:cs typeface="IBM Plex Sans" pitchFamily="34" charset="-120"/>
              </a:rPr>
              <a:t> (Qwen3 8B, local </a:t>
            </a:r>
            <a:r>
              <a:rPr lang="en-US" sz="1400" dirty="0" err="1">
                <a:solidFill>
                  <a:srgbClr val="4A5568"/>
                </a:solidFill>
                <a:latin typeface="IBM Plex Sans" pitchFamily="34" charset="0"/>
                <a:ea typeface="IBM Plex Sans" pitchFamily="34" charset="-122"/>
                <a:cs typeface="IBM Plex Sans" pitchFamily="34" charset="-120"/>
              </a:rPr>
              <a:t>dil</a:t>
            </a:r>
            <a:r>
              <a:rPr lang="en-US" sz="1400" dirty="0">
                <a:solidFill>
                  <a:srgbClr val="4A5568"/>
                </a:solidFill>
                <a:latin typeface="IBM Plex Sans" pitchFamily="34" charset="0"/>
                <a:ea typeface="IBM Plex Sans" pitchFamily="34" charset="-122"/>
                <a:cs typeface="IBM Plex Sans" pitchFamily="34" charset="-120"/>
              </a:rPr>
              <a:t> </a:t>
            </a:r>
            <a:r>
              <a:rPr lang="en-US" sz="1400" dirty="0" err="1">
                <a:solidFill>
                  <a:srgbClr val="4A5568"/>
                </a:solidFill>
                <a:latin typeface="IBM Plex Sans" pitchFamily="34" charset="0"/>
                <a:ea typeface="IBM Plex Sans" pitchFamily="34" charset="-122"/>
                <a:cs typeface="IBM Plex Sans" pitchFamily="34" charset="-120"/>
              </a:rPr>
              <a:t>modeli</a:t>
            </a:r>
            <a:r>
              <a:rPr lang="en-US" sz="1400" dirty="0">
                <a:solidFill>
                  <a:srgbClr val="4A5568"/>
                </a:solidFill>
                <a:latin typeface="IBM Plex Sans" pitchFamily="34" charset="0"/>
                <a:ea typeface="IBM Plex Sans" pitchFamily="34" charset="-122"/>
                <a:cs typeface="IBM Plex Sans" pitchFamily="34" charset="-120"/>
              </a:rPr>
              <a:t>) → </a:t>
            </a:r>
            <a:r>
              <a:rPr lang="en-US" sz="1400" dirty="0" err="1">
                <a:solidFill>
                  <a:srgbClr val="4A5568"/>
                </a:solidFill>
                <a:latin typeface="IBM Plex Sans" pitchFamily="34" charset="0"/>
                <a:ea typeface="IBM Plex Sans" pitchFamily="34" charset="-122"/>
                <a:cs typeface="IBM Plex Sans" pitchFamily="34" charset="-120"/>
              </a:rPr>
              <a:t>değerlendirme</a:t>
            </a:r>
            <a:r>
              <a:rPr lang="en-US" sz="1400" dirty="0">
                <a:solidFill>
                  <a:srgbClr val="4A5568"/>
                </a:solidFill>
                <a:latin typeface="IBM Plex Sans" pitchFamily="34" charset="0"/>
                <a:ea typeface="IBM Plex Sans" pitchFamily="34" charset="-122"/>
                <a:cs typeface="IBM Plex Sans" pitchFamily="34" charset="-120"/>
              </a:rPr>
              <a:t> </a:t>
            </a:r>
            <a:r>
              <a:rPr lang="en-US" sz="1400" dirty="0" err="1">
                <a:solidFill>
                  <a:srgbClr val="4A5568"/>
                </a:solidFill>
                <a:latin typeface="IBM Plex Sans" pitchFamily="34" charset="0"/>
                <a:ea typeface="IBM Plex Sans" pitchFamily="34" charset="-122"/>
                <a:cs typeface="IBM Plex Sans" pitchFamily="34" charset="-120"/>
              </a:rPr>
              <a:t>raporu</a:t>
            </a:r>
            <a:endParaRPr lang="en-US" sz="1400" dirty="0"/>
          </a:p>
        </p:txBody>
      </p:sp>
      <p:sp>
        <p:nvSpPr>
          <p:cNvPr id="5" name="Shape 3"/>
          <p:cNvSpPr/>
          <p:nvPr/>
        </p:nvSpPr>
        <p:spPr>
          <a:xfrm>
            <a:off x="815975" y="2233216"/>
            <a:ext cx="3810595" cy="1573461"/>
          </a:xfrm>
          <a:prstGeom prst="roundRect">
            <a:avLst>
              <a:gd name="adj" fmla="val 6255"/>
            </a:avLst>
          </a:prstGeom>
          <a:solidFill>
            <a:srgbClr val="FFFDF8"/>
          </a:solidFill>
          <a:ln w="6350">
            <a:solidFill>
              <a:srgbClr val="DDD7CA"/>
            </a:solidFill>
            <a:prstDash val="solid"/>
          </a:ln>
        </p:spPr>
        <p:txBody>
          <a:bodyPr/>
          <a:lstStyle/>
          <a:p>
            <a:endParaRPr lang="en-TR"/>
          </a:p>
        </p:txBody>
      </p:sp>
      <p:sp>
        <p:nvSpPr>
          <p:cNvPr id="6" name="Text 4"/>
          <p:cNvSpPr/>
          <p:nvPr/>
        </p:nvSpPr>
        <p:spPr>
          <a:xfrm>
            <a:off x="1022350" y="2541191"/>
            <a:ext cx="1941909"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Veri Modellemesi</a:t>
            </a:r>
            <a:endParaRPr lang="en-US" sz="1600" dirty="0"/>
          </a:p>
        </p:txBody>
      </p:sp>
      <p:sp>
        <p:nvSpPr>
          <p:cNvPr id="7" name="Text 5"/>
          <p:cNvSpPr/>
          <p:nvPr/>
        </p:nvSpPr>
        <p:spPr>
          <a:xfrm>
            <a:off x="4017824" y="2439591"/>
            <a:ext cx="402372" cy="416520"/>
          </a:xfrm>
          <a:prstGeom prst="rect">
            <a:avLst/>
          </a:prstGeom>
          <a:noFill/>
          <a:ln/>
        </p:spPr>
        <p:txBody>
          <a:bodyPr wrap="square" lIns="0" tIns="0" rIns="0" bIns="0" rtlCol="0" anchor="t">
            <a:normAutofit/>
          </a:bodyPr>
          <a:lstStyle/>
          <a:p>
            <a:pPr marL="0" indent="0" algn="r">
              <a:lnSpc>
                <a:spcPts val="3080"/>
              </a:lnSpc>
              <a:buNone/>
            </a:pPr>
            <a:r>
              <a:rPr lang="en-US" sz="2200" b="1" dirty="0">
                <a:solidFill>
                  <a:srgbClr val="A84A14"/>
                </a:solidFill>
                <a:latin typeface="IBM Plex Sans" pitchFamily="34" charset="0"/>
                <a:ea typeface="IBM Plex Sans" pitchFamily="34" charset="-122"/>
                <a:cs typeface="IBM Plex Sans" pitchFamily="34" charset="-120"/>
              </a:rPr>
              <a:t>40</a:t>
            </a:r>
            <a:endParaRPr lang="en-US" sz="2200" dirty="0"/>
          </a:p>
        </p:txBody>
      </p:sp>
      <p:sp>
        <p:nvSpPr>
          <p:cNvPr id="8" name="Text 6"/>
          <p:cNvSpPr/>
          <p:nvPr/>
        </p:nvSpPr>
        <p:spPr>
          <a:xfrm>
            <a:off x="1022350" y="2906911"/>
            <a:ext cx="3499781"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Star schema, N-N ilişkiler, çift yönlü filtreler, </a:t>
            </a:r>
            <a:r>
              <a:rPr lang="en-US" sz="1300" dirty="0" err="1">
                <a:solidFill>
                  <a:srgbClr val="4A5568"/>
                </a:solidFill>
                <a:latin typeface="IBM Plex Sans" pitchFamily="34" charset="0"/>
                <a:ea typeface="IBM Plex Sans" pitchFamily="34" charset="-122"/>
                <a:cs typeface="IBM Plex Sans" pitchFamily="34" charset="-120"/>
              </a:rPr>
              <a:t>ilişkisiz</a:t>
            </a:r>
            <a:r>
              <a:rPr lang="en-US" sz="1300" dirty="0">
                <a:solidFill>
                  <a:srgbClr val="4A5568"/>
                </a:solidFill>
                <a:latin typeface="IBM Plex Sans" pitchFamily="34" charset="0"/>
                <a:ea typeface="IBM Plex Sans" pitchFamily="34" charset="-122"/>
                <a:cs typeface="IBM Plex Sans" pitchFamily="34" charset="-120"/>
              </a:rPr>
              <a:t> </a:t>
            </a:r>
            <a:r>
              <a:rPr lang="en-US" sz="1300" dirty="0" err="1">
                <a:solidFill>
                  <a:srgbClr val="4A5568"/>
                </a:solidFill>
                <a:latin typeface="IBM Plex Sans" pitchFamily="34" charset="0"/>
                <a:ea typeface="IBM Plex Sans" pitchFamily="34" charset="-122"/>
                <a:cs typeface="IBM Plex Sans" pitchFamily="34" charset="-120"/>
              </a:rPr>
              <a:t>tablolar</a:t>
            </a:r>
            <a:r>
              <a:rPr lang="en-US" sz="1300" dirty="0">
                <a:solidFill>
                  <a:srgbClr val="4A5568"/>
                </a:solidFill>
                <a:latin typeface="IBM Plex Sans" pitchFamily="34" charset="0"/>
                <a:ea typeface="IBM Plex Sans" pitchFamily="34" charset="-122"/>
                <a:cs typeface="IBM Plex Sans" pitchFamily="34" charset="-120"/>
              </a:rPr>
              <a:t>.</a:t>
            </a:r>
            <a:endParaRPr lang="en-US" sz="1300" dirty="0"/>
          </a:p>
        </p:txBody>
      </p:sp>
      <p:sp>
        <p:nvSpPr>
          <p:cNvPr id="9" name="Shape 7"/>
          <p:cNvSpPr/>
          <p:nvPr/>
        </p:nvSpPr>
        <p:spPr>
          <a:xfrm>
            <a:off x="4785320" y="2233216"/>
            <a:ext cx="3810595" cy="1573461"/>
          </a:xfrm>
          <a:prstGeom prst="roundRect">
            <a:avLst>
              <a:gd name="adj" fmla="val 6255"/>
            </a:avLst>
          </a:prstGeom>
          <a:solidFill>
            <a:srgbClr val="FFFDF8"/>
          </a:solidFill>
          <a:ln w="6350">
            <a:solidFill>
              <a:srgbClr val="DDD7CA"/>
            </a:solidFill>
            <a:prstDash val="solid"/>
          </a:ln>
        </p:spPr>
        <p:txBody>
          <a:bodyPr/>
          <a:lstStyle/>
          <a:p>
            <a:endParaRPr lang="en-TR"/>
          </a:p>
        </p:txBody>
      </p:sp>
      <p:sp>
        <p:nvSpPr>
          <p:cNvPr id="10" name="Text 8"/>
          <p:cNvSpPr/>
          <p:nvPr/>
        </p:nvSpPr>
        <p:spPr>
          <a:xfrm>
            <a:off x="4991695" y="2541191"/>
            <a:ext cx="1400473"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Sorgu + DAX</a:t>
            </a:r>
            <a:endParaRPr lang="en-US" sz="1600" dirty="0"/>
          </a:p>
        </p:txBody>
      </p:sp>
      <p:sp>
        <p:nvSpPr>
          <p:cNvPr id="11" name="Text 9"/>
          <p:cNvSpPr/>
          <p:nvPr/>
        </p:nvSpPr>
        <p:spPr>
          <a:xfrm>
            <a:off x="7987169" y="2439591"/>
            <a:ext cx="402372" cy="416520"/>
          </a:xfrm>
          <a:prstGeom prst="rect">
            <a:avLst/>
          </a:prstGeom>
          <a:noFill/>
          <a:ln/>
        </p:spPr>
        <p:txBody>
          <a:bodyPr wrap="square" lIns="0" tIns="0" rIns="0" bIns="0" rtlCol="0" anchor="t">
            <a:normAutofit/>
          </a:bodyPr>
          <a:lstStyle/>
          <a:p>
            <a:pPr marL="0" indent="0" algn="r">
              <a:lnSpc>
                <a:spcPts val="3080"/>
              </a:lnSpc>
              <a:buNone/>
            </a:pPr>
            <a:r>
              <a:rPr lang="en-US" sz="2200" b="1" dirty="0">
                <a:solidFill>
                  <a:srgbClr val="2F5D8C"/>
                </a:solidFill>
                <a:latin typeface="IBM Plex Sans" pitchFamily="34" charset="0"/>
                <a:ea typeface="IBM Plex Sans" pitchFamily="34" charset="-122"/>
                <a:cs typeface="IBM Plex Sans" pitchFamily="34" charset="-120"/>
              </a:rPr>
              <a:t>30</a:t>
            </a:r>
            <a:endParaRPr lang="en-US" sz="2200" dirty="0"/>
          </a:p>
        </p:txBody>
      </p:sp>
      <p:sp>
        <p:nvSpPr>
          <p:cNvPr id="12" name="Text 10"/>
          <p:cNvSpPr/>
          <p:nvPr/>
        </p:nvSpPr>
        <p:spPr>
          <a:xfrm>
            <a:off x="4991695" y="2906911"/>
            <a:ext cx="3499781" cy="487660"/>
          </a:xfrm>
          <a:prstGeom prst="rect">
            <a:avLst/>
          </a:prstGeom>
          <a:noFill/>
          <a:ln/>
        </p:spPr>
        <p:txBody>
          <a:bodyPr wrap="square" lIns="0" tIns="0" rIns="0" bIns="0" rtlCol="0" anchor="t">
            <a:normAutofit/>
          </a:bodyPr>
          <a:lstStyle/>
          <a:p>
            <a:pPr marL="0" indent="0" algn="l">
              <a:lnSpc>
                <a:spcPts val="1820"/>
              </a:lnSpc>
              <a:buNone/>
            </a:pPr>
            <a:r>
              <a:rPr lang="en-US" sz="1300" dirty="0" err="1">
                <a:solidFill>
                  <a:srgbClr val="4A5568"/>
                </a:solidFill>
                <a:latin typeface="IBM Plex Sans" pitchFamily="34" charset="0"/>
                <a:ea typeface="IBM Plex Sans" pitchFamily="34" charset="-122"/>
                <a:cs typeface="IBM Plex Sans" pitchFamily="34" charset="-120"/>
              </a:rPr>
              <a:t>Sorgu</a:t>
            </a:r>
            <a:r>
              <a:rPr lang="en-US" sz="1300" dirty="0">
                <a:solidFill>
                  <a:srgbClr val="4A5568"/>
                </a:solidFill>
                <a:latin typeface="IBM Plex Sans" pitchFamily="34" charset="0"/>
                <a:ea typeface="IBM Plex Sans" pitchFamily="34" charset="-122"/>
                <a:cs typeface="IBM Plex Sans" pitchFamily="34" charset="-120"/>
              </a:rPr>
              <a:t> ve DAX </a:t>
            </a:r>
            <a:r>
              <a:rPr lang="en-US" sz="1300" dirty="0" err="1">
                <a:solidFill>
                  <a:srgbClr val="4A5568"/>
                </a:solidFill>
                <a:latin typeface="IBM Plex Sans" pitchFamily="34" charset="0"/>
                <a:ea typeface="IBM Plex Sans" pitchFamily="34" charset="-122"/>
                <a:cs typeface="IBM Plex Sans" pitchFamily="34" charset="-120"/>
              </a:rPr>
              <a:t>performansı</a:t>
            </a:r>
            <a:r>
              <a:rPr lang="en-US" sz="1300" dirty="0">
                <a:solidFill>
                  <a:srgbClr val="4A5568"/>
                </a:solidFill>
                <a:latin typeface="IBM Plex Sans" pitchFamily="34" charset="0"/>
                <a:ea typeface="IBM Plex Sans" pitchFamily="34" charset="-122"/>
                <a:cs typeface="IBM Plex Sans" pitchFamily="34" charset="-120"/>
              </a:rPr>
              <a:t>, </a:t>
            </a:r>
            <a:r>
              <a:rPr lang="en-US" sz="1300" dirty="0" err="1">
                <a:solidFill>
                  <a:srgbClr val="4A5568"/>
                </a:solidFill>
                <a:latin typeface="IBM Plex Sans" pitchFamily="34" charset="0"/>
                <a:ea typeface="IBM Plex Sans" pitchFamily="34" charset="-122"/>
                <a:cs typeface="IBM Plex Sans" pitchFamily="34" charset="-120"/>
              </a:rPr>
              <a:t>hatalı</a:t>
            </a:r>
            <a:r>
              <a:rPr lang="en-US" sz="1300" dirty="0">
                <a:solidFill>
                  <a:srgbClr val="4A5568"/>
                </a:solidFill>
                <a:latin typeface="IBM Plex Sans" pitchFamily="34" charset="0"/>
                <a:ea typeface="IBM Plex Sans" pitchFamily="34" charset="-122"/>
                <a:cs typeface="IBM Plex Sans" pitchFamily="34" charset="-120"/>
              </a:rPr>
              <a:t> </a:t>
            </a:r>
            <a:r>
              <a:rPr lang="en-US" sz="1300" dirty="0" err="1">
                <a:solidFill>
                  <a:srgbClr val="4A5568"/>
                </a:solidFill>
                <a:latin typeface="IBM Plex Sans" pitchFamily="34" charset="0"/>
                <a:ea typeface="IBM Plex Sans" pitchFamily="34" charset="-122"/>
                <a:cs typeface="IBM Plex Sans" pitchFamily="34" charset="-120"/>
              </a:rPr>
              <a:t>veri</a:t>
            </a:r>
            <a:r>
              <a:rPr lang="en-US" sz="1300" dirty="0">
                <a:solidFill>
                  <a:srgbClr val="4A5568"/>
                </a:solidFill>
                <a:latin typeface="IBM Plex Sans" pitchFamily="34" charset="0"/>
                <a:ea typeface="IBM Plex Sans" pitchFamily="34" charset="-122"/>
                <a:cs typeface="IBM Plex Sans" pitchFamily="34" charset="-120"/>
              </a:rPr>
              <a:t> </a:t>
            </a:r>
            <a:r>
              <a:rPr lang="en-US" sz="1300" dirty="0" err="1">
                <a:solidFill>
                  <a:srgbClr val="4A5568"/>
                </a:solidFill>
                <a:latin typeface="IBM Plex Sans" pitchFamily="34" charset="0"/>
                <a:ea typeface="IBM Plex Sans" pitchFamily="34" charset="-122"/>
                <a:cs typeface="IBM Plex Sans" pitchFamily="34" charset="-120"/>
              </a:rPr>
              <a:t>tipleri</a:t>
            </a:r>
            <a:r>
              <a:rPr lang="en-US" sz="1300" dirty="0">
                <a:solidFill>
                  <a:srgbClr val="4A5568"/>
                </a:solidFill>
                <a:latin typeface="IBM Plex Sans" pitchFamily="34" charset="0"/>
                <a:ea typeface="IBM Plex Sans" pitchFamily="34" charset="-122"/>
                <a:cs typeface="IBM Plex Sans" pitchFamily="34" charset="-120"/>
              </a:rPr>
              <a:t>, </a:t>
            </a:r>
            <a:r>
              <a:rPr lang="en-US" sz="1300" dirty="0" err="1">
                <a:solidFill>
                  <a:srgbClr val="4A5568"/>
                </a:solidFill>
                <a:latin typeface="IBM Plex Sans" pitchFamily="34" charset="0"/>
                <a:ea typeface="IBM Plex Sans" pitchFamily="34" charset="-122"/>
                <a:cs typeface="IBM Plex Sans" pitchFamily="34" charset="-120"/>
              </a:rPr>
              <a:t>kullanılmayan</a:t>
            </a:r>
            <a:r>
              <a:rPr lang="en-US" sz="1300" dirty="0">
                <a:solidFill>
                  <a:srgbClr val="4A5568"/>
                </a:solidFill>
                <a:latin typeface="IBM Plex Sans" pitchFamily="34" charset="0"/>
                <a:ea typeface="IBM Plex Sans" pitchFamily="34" charset="-122"/>
                <a:cs typeface="IBM Plex Sans" pitchFamily="34" charset="-120"/>
              </a:rPr>
              <a:t> kolon ve </a:t>
            </a:r>
            <a:r>
              <a:rPr lang="en-US" sz="1300" dirty="0" err="1">
                <a:solidFill>
                  <a:srgbClr val="4A5568"/>
                </a:solidFill>
                <a:latin typeface="IBM Plex Sans" pitchFamily="34" charset="0"/>
                <a:ea typeface="IBM Plex Sans" pitchFamily="34" charset="-122"/>
                <a:cs typeface="IBM Plex Sans" pitchFamily="34" charset="-120"/>
              </a:rPr>
              <a:t>ölçüler</a:t>
            </a:r>
            <a:r>
              <a:rPr lang="en-US" sz="1300" dirty="0">
                <a:solidFill>
                  <a:srgbClr val="4A5568"/>
                </a:solidFill>
                <a:latin typeface="IBM Plex Sans" pitchFamily="34" charset="0"/>
                <a:ea typeface="IBM Plex Sans" pitchFamily="34" charset="-122"/>
                <a:cs typeface="IBM Plex Sans" pitchFamily="34" charset="-120"/>
              </a:rPr>
              <a:t>.</a:t>
            </a:r>
            <a:endParaRPr lang="en-US" sz="1300" dirty="0"/>
          </a:p>
        </p:txBody>
      </p:sp>
      <p:sp>
        <p:nvSpPr>
          <p:cNvPr id="13" name="Shape 11"/>
          <p:cNvSpPr/>
          <p:nvPr/>
        </p:nvSpPr>
        <p:spPr>
          <a:xfrm>
            <a:off x="8754666" y="2233216"/>
            <a:ext cx="2621359" cy="1573461"/>
          </a:xfrm>
          <a:prstGeom prst="roundRect">
            <a:avLst>
              <a:gd name="adj" fmla="val 6255"/>
            </a:avLst>
          </a:prstGeom>
          <a:solidFill>
            <a:srgbClr val="FFFDF8"/>
          </a:solidFill>
          <a:ln w="6350">
            <a:solidFill>
              <a:srgbClr val="DDD7CA"/>
            </a:solidFill>
            <a:prstDash val="solid"/>
          </a:ln>
        </p:spPr>
        <p:txBody>
          <a:bodyPr/>
          <a:lstStyle/>
          <a:p>
            <a:endParaRPr lang="en-TR"/>
          </a:p>
        </p:txBody>
      </p:sp>
      <p:sp>
        <p:nvSpPr>
          <p:cNvPr id="14" name="Text 12"/>
          <p:cNvSpPr/>
          <p:nvPr/>
        </p:nvSpPr>
        <p:spPr>
          <a:xfrm>
            <a:off x="8961041" y="2541191"/>
            <a:ext cx="736163"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Görsel</a:t>
            </a:r>
            <a:endParaRPr lang="en-US" sz="1600" dirty="0"/>
          </a:p>
        </p:txBody>
      </p:sp>
      <p:sp>
        <p:nvSpPr>
          <p:cNvPr id="15" name="Text 13"/>
          <p:cNvSpPr/>
          <p:nvPr/>
        </p:nvSpPr>
        <p:spPr>
          <a:xfrm>
            <a:off x="10767278" y="2439591"/>
            <a:ext cx="402372" cy="416520"/>
          </a:xfrm>
          <a:prstGeom prst="rect">
            <a:avLst/>
          </a:prstGeom>
          <a:noFill/>
          <a:ln/>
        </p:spPr>
        <p:txBody>
          <a:bodyPr wrap="square" lIns="0" tIns="0" rIns="0" bIns="0" rtlCol="0" anchor="t">
            <a:normAutofit/>
          </a:bodyPr>
          <a:lstStyle/>
          <a:p>
            <a:pPr marL="0" indent="0" algn="r">
              <a:lnSpc>
                <a:spcPts val="3080"/>
              </a:lnSpc>
              <a:buNone/>
            </a:pPr>
            <a:r>
              <a:rPr lang="en-US" sz="2200" b="1" dirty="0">
                <a:solidFill>
                  <a:srgbClr val="14213D"/>
                </a:solidFill>
                <a:latin typeface="IBM Plex Sans" pitchFamily="34" charset="0"/>
                <a:ea typeface="IBM Plex Sans" pitchFamily="34" charset="-122"/>
                <a:cs typeface="IBM Plex Sans" pitchFamily="34" charset="-120"/>
              </a:rPr>
              <a:t>30</a:t>
            </a:r>
            <a:endParaRPr lang="en-US" sz="2200" dirty="0"/>
          </a:p>
        </p:txBody>
      </p:sp>
      <p:sp>
        <p:nvSpPr>
          <p:cNvPr id="16" name="Text 14"/>
          <p:cNvSpPr/>
          <p:nvPr/>
        </p:nvSpPr>
        <p:spPr>
          <a:xfrm>
            <a:off x="8961041" y="2906911"/>
            <a:ext cx="2274868" cy="71879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Görsel yoğunluğu, </a:t>
            </a:r>
            <a:r>
              <a:rPr lang="en-US" sz="1300" dirty="0" err="1">
                <a:solidFill>
                  <a:srgbClr val="4A5568"/>
                </a:solidFill>
                <a:latin typeface="IBM Plex Sans" pitchFamily="34" charset="0"/>
                <a:ea typeface="IBM Plex Sans" pitchFamily="34" charset="-122"/>
                <a:cs typeface="IBM Plex Sans" pitchFamily="34" charset="-120"/>
              </a:rPr>
              <a:t>isimlendirmeler</a:t>
            </a:r>
            <a:r>
              <a:rPr lang="en-US" sz="1300" dirty="0">
                <a:solidFill>
                  <a:srgbClr val="4A5568"/>
                </a:solidFill>
                <a:latin typeface="IBM Plex Sans" pitchFamily="34" charset="0"/>
                <a:ea typeface="IBM Plex Sans" pitchFamily="34" charset="-122"/>
                <a:cs typeface="IBM Plex Sans" pitchFamily="34" charset="-120"/>
              </a:rPr>
              <a:t>, </a:t>
            </a:r>
            <a:r>
              <a:rPr lang="en-US" sz="1300" dirty="0" err="1">
                <a:solidFill>
                  <a:srgbClr val="4A5568"/>
                </a:solidFill>
                <a:latin typeface="IBM Plex Sans" pitchFamily="34" charset="0"/>
                <a:ea typeface="IBM Plex Sans" pitchFamily="34" charset="-122"/>
                <a:cs typeface="IBM Plex Sans" pitchFamily="34" charset="-120"/>
              </a:rPr>
              <a:t>grafik</a:t>
            </a:r>
            <a:r>
              <a:rPr lang="en-US" sz="1300" dirty="0">
                <a:solidFill>
                  <a:srgbClr val="4A5568"/>
                </a:solidFill>
                <a:latin typeface="IBM Plex Sans" pitchFamily="34" charset="0"/>
                <a:ea typeface="IBM Plex Sans" pitchFamily="34" charset="-122"/>
                <a:cs typeface="IBM Plex Sans" pitchFamily="34" charset="-120"/>
              </a:rPr>
              <a:t> </a:t>
            </a:r>
            <a:r>
              <a:rPr lang="en-US" sz="1300" dirty="0" err="1">
                <a:solidFill>
                  <a:srgbClr val="4A5568"/>
                </a:solidFill>
                <a:latin typeface="IBM Plex Sans" pitchFamily="34" charset="0"/>
                <a:ea typeface="IBM Plex Sans" pitchFamily="34" charset="-122"/>
                <a:cs typeface="IBM Plex Sans" pitchFamily="34" charset="-120"/>
              </a:rPr>
              <a:t>uygunluğu</a:t>
            </a:r>
            <a:r>
              <a:rPr lang="en-US" sz="1300" dirty="0">
                <a:solidFill>
                  <a:srgbClr val="4A5568"/>
                </a:solidFill>
                <a:latin typeface="IBM Plex Sans" pitchFamily="34" charset="0"/>
                <a:ea typeface="IBM Plex Sans" pitchFamily="34" charset="-122"/>
                <a:cs typeface="IBM Plex Sans" pitchFamily="34" charset="-120"/>
              </a:rPr>
              <a:t>.</a:t>
            </a:r>
            <a:endParaRPr lang="en-US" sz="1300" dirty="0"/>
          </a:p>
        </p:txBody>
      </p:sp>
      <p:sp>
        <p:nvSpPr>
          <p:cNvPr id="26" name="Text 24"/>
          <p:cNvSpPr/>
          <p:nvPr/>
        </p:nvSpPr>
        <p:spPr>
          <a:xfrm>
            <a:off x="812800" y="6238280"/>
            <a:ext cx="193839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AI Vibe Coding Projeleri</a:t>
            </a:r>
            <a:endParaRPr lang="en-US" sz="1200" dirty="0"/>
          </a:p>
        </p:txBody>
      </p:sp>
      <p:sp>
        <p:nvSpPr>
          <p:cNvPr id="27" name="Text 25"/>
          <p:cNvSpPr/>
          <p:nvPr/>
        </p:nvSpPr>
        <p:spPr>
          <a:xfrm>
            <a:off x="11145490" y="6238280"/>
            <a:ext cx="23371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nSpc>
                <a:spcPts val="1680"/>
              </a:lnSpc>
            </a:pPr>
            <a:r>
              <a:rPr lang="en-US" sz="1200" kern="0" spc="100" dirty="0">
                <a:solidFill>
                  <a:srgbClr val="A84A14"/>
                </a:solidFill>
                <a:latin typeface="IBM Plex Mono" pitchFamily="49" charset="0"/>
                <a:ea typeface="IBM Plex Mono" pitchFamily="49" charset="-122"/>
                <a:cs typeface="IBM Plex Mono" pitchFamily="49" charset="-120"/>
              </a:rPr>
              <a:t>· ARAYÜZ ·</a:t>
            </a:r>
            <a:endParaRPr lang="en-US" sz="1200" dirty="0"/>
          </a:p>
        </p:txBody>
      </p:sp>
      <p:sp>
        <p:nvSpPr>
          <p:cNvPr id="3" name="Text 1"/>
          <p:cNvSpPr>
            <a:spLocks noGrp="1"/>
          </p:cNvSpPr>
          <p:nvPr>
            <p:ph type="title"/>
          </p:nvPr>
        </p:nvSpPr>
        <p:spPr>
          <a:xfrm>
            <a:off x="812800" y="11277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BI Skorlama</a:t>
            </a:r>
            <a:endParaRPr lang="en-US" sz="3200" dirty="0"/>
          </a:p>
        </p:txBody>
      </p:sp>
      <p:sp>
        <p:nvSpPr>
          <p:cNvPr id="33" name="Text 28"/>
          <p:cNvSpPr/>
          <p:nvPr/>
        </p:nvSpPr>
        <p:spPr>
          <a:xfrm>
            <a:off x="812800" y="6238280"/>
            <a:ext cx="193839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AI Vibe Coding Projeleri</a:t>
            </a:r>
            <a:endParaRPr lang="en-US" sz="1200" dirty="0"/>
          </a:p>
        </p:txBody>
      </p:sp>
      <p:sp>
        <p:nvSpPr>
          <p:cNvPr id="34" name="Text 29"/>
          <p:cNvSpPr/>
          <p:nvPr/>
        </p:nvSpPr>
        <p:spPr>
          <a:xfrm>
            <a:off x="11145490" y="6238280"/>
            <a:ext cx="23371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08</a:t>
            </a:r>
            <a:endParaRPr lang="en-US" sz="1200" dirty="0"/>
          </a:p>
        </p:txBody>
      </p:sp>
      <p:sp>
        <p:nvSpPr>
          <p:cNvPr id="300" name="Frame window"/>
          <p:cNvSpPr/>
          <p:nvPr/>
        </p:nvSpPr>
        <p:spPr>
          <a:xfrm>
            <a:off x="2386602" y="1830000"/>
            <a:ext cx="7735788" cy="3980000"/>
          </a:xfrm>
          <a:prstGeom prst="roundRect">
            <a:avLst>
              <a:gd name="adj" fmla="val 3500"/>
            </a:avLst>
          </a:prstGeom>
          <a:solidFill>
            <a:srgbClr val="14213D"/>
          </a:solidFill>
          <a:ln>
            <a:noFill/>
          </a:ln>
          <a:effectLst>
            <a:outerShdw blurRad="254000" dist="63500" dir="5400000" algn="t" rotWithShape="0">
              <a:srgbClr val="14213D">
                <a:alpha val="22000"/>
              </a:srgbClr>
            </a:outerShdw>
          </a:effectLst>
        </p:spPr>
        <p:txBody>
          <a:bodyPr/>
          <a:lstStyle/>
          <a:p>
            <a:endParaRPr lang="tr-TR"/>
          </a:p>
        </p:txBody>
      </p:sp>
      <p:sp>
        <p:nvSpPr>
          <p:cNvPr id="301" name="Frame dot 0"/>
          <p:cNvSpPr/>
          <p:nvPr/>
        </p:nvSpPr>
        <p:spPr>
          <a:xfrm>
            <a:off x="2556602" y="1927500"/>
            <a:ext cx="105000" cy="105000"/>
          </a:xfrm>
          <a:prstGeom prst="ellipse">
            <a:avLst/>
          </a:prstGeom>
          <a:solidFill>
            <a:srgbClr val="F59E5B"/>
          </a:solidFill>
          <a:ln>
            <a:noFill/>
          </a:ln>
        </p:spPr>
        <p:txBody>
          <a:bodyPr/>
          <a:lstStyle/>
          <a:p>
            <a:endParaRPr lang="tr-TR"/>
          </a:p>
        </p:txBody>
      </p:sp>
      <p:sp>
        <p:nvSpPr>
          <p:cNvPr id="302" name="Frame dot 1"/>
          <p:cNvSpPr/>
          <p:nvPr/>
        </p:nvSpPr>
        <p:spPr>
          <a:xfrm>
            <a:off x="2741602" y="1927500"/>
            <a:ext cx="105000" cy="105000"/>
          </a:xfrm>
          <a:prstGeom prst="ellipse">
            <a:avLst/>
          </a:prstGeom>
          <a:solidFill>
            <a:srgbClr val="C9D3E3"/>
          </a:solidFill>
          <a:ln>
            <a:noFill/>
          </a:ln>
        </p:spPr>
        <p:txBody>
          <a:bodyPr/>
          <a:lstStyle/>
          <a:p>
            <a:endParaRPr lang="tr-TR"/>
          </a:p>
        </p:txBody>
      </p:sp>
      <p:sp>
        <p:nvSpPr>
          <p:cNvPr id="303" name="Frame dot 2"/>
          <p:cNvSpPr/>
          <p:nvPr/>
        </p:nvSpPr>
        <p:spPr>
          <a:xfrm>
            <a:off x="2926602" y="1927500"/>
            <a:ext cx="105000" cy="105000"/>
          </a:xfrm>
          <a:prstGeom prst="ellipse">
            <a:avLst/>
          </a:prstGeom>
          <a:solidFill>
            <a:srgbClr val="5B6B8C"/>
          </a:solidFill>
          <a:ln>
            <a:noFill/>
          </a:ln>
        </p:spPr>
        <p:txBody>
          <a:bodyPr/>
          <a:lstStyle/>
          <a:p>
            <a:endParaRPr lang="tr-TR"/>
          </a:p>
        </p:txBody>
      </p:sp>
      <p:pic>
        <p:nvPicPr>
          <p:cNvPr id="100" name="Screenshot 100" descr="BI Skorlama yükleme ekranı"/>
          <p:cNvPicPr>
            <a:picLocks noChangeAspect="1"/>
          </p:cNvPicPr>
          <p:nvPr/>
        </p:nvPicPr>
        <p:blipFill>
          <a:blip r:embed="rId2"/>
          <a:stretch>
            <a:fillRect/>
          </a:stretch>
        </p:blipFill>
        <p:spPr>
          <a:xfrm>
            <a:off x="2496602" y="2130000"/>
            <a:ext cx="7515788" cy="3570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nSpc>
                <a:spcPts val="1680"/>
              </a:lnSpc>
            </a:pPr>
            <a:r>
              <a:rPr lang="en-US" sz="1200" kern="0" spc="100" dirty="0">
                <a:solidFill>
                  <a:srgbClr val="A84A14"/>
                </a:solidFill>
                <a:latin typeface="IBM Plex Mono" pitchFamily="49" charset="0"/>
                <a:ea typeface="IBM Plex Mono" pitchFamily="49" charset="-122"/>
                <a:cs typeface="IBM Plex Mono" pitchFamily="49" charset="-120"/>
              </a:rPr>
              <a:t>· ARAYÜZ ·</a:t>
            </a:r>
            <a:endParaRPr lang="en-US" sz="1200" dirty="0"/>
          </a:p>
        </p:txBody>
      </p:sp>
      <p:sp>
        <p:nvSpPr>
          <p:cNvPr id="3" name="Text 1"/>
          <p:cNvSpPr>
            <a:spLocks noGrp="1"/>
          </p:cNvSpPr>
          <p:nvPr>
            <p:ph type="title"/>
          </p:nvPr>
        </p:nvSpPr>
        <p:spPr>
          <a:xfrm>
            <a:off x="812800" y="11277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BI Skorlama</a:t>
            </a:r>
            <a:endParaRPr lang="en-US" sz="3200" dirty="0"/>
          </a:p>
        </p:txBody>
      </p:sp>
      <p:sp>
        <p:nvSpPr>
          <p:cNvPr id="33" name="Text 28"/>
          <p:cNvSpPr/>
          <p:nvPr/>
        </p:nvSpPr>
        <p:spPr>
          <a:xfrm>
            <a:off x="812800" y="6238280"/>
            <a:ext cx="193839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AI Vibe Coding Projeleri</a:t>
            </a:r>
            <a:endParaRPr lang="en-US" sz="1200" dirty="0"/>
          </a:p>
        </p:txBody>
      </p:sp>
      <p:sp>
        <p:nvSpPr>
          <p:cNvPr id="34" name="Text 29"/>
          <p:cNvSpPr/>
          <p:nvPr/>
        </p:nvSpPr>
        <p:spPr>
          <a:xfrm>
            <a:off x="11145490" y="6238280"/>
            <a:ext cx="23371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09</a:t>
            </a:r>
            <a:endParaRPr lang="en-US" sz="1200" dirty="0"/>
          </a:p>
        </p:txBody>
      </p:sp>
      <p:sp>
        <p:nvSpPr>
          <p:cNvPr id="300" name="Frame window"/>
          <p:cNvSpPr/>
          <p:nvPr/>
        </p:nvSpPr>
        <p:spPr>
          <a:xfrm>
            <a:off x="2581622" y="1830000"/>
            <a:ext cx="7345747" cy="3980000"/>
          </a:xfrm>
          <a:prstGeom prst="roundRect">
            <a:avLst>
              <a:gd name="adj" fmla="val 3500"/>
            </a:avLst>
          </a:prstGeom>
          <a:solidFill>
            <a:srgbClr val="14213D"/>
          </a:solidFill>
          <a:ln>
            <a:noFill/>
          </a:ln>
          <a:effectLst>
            <a:outerShdw blurRad="254000" dist="63500" dir="5400000" algn="t" rotWithShape="0">
              <a:srgbClr val="14213D">
                <a:alpha val="22000"/>
              </a:srgbClr>
            </a:outerShdw>
          </a:effectLst>
        </p:spPr>
        <p:txBody>
          <a:bodyPr/>
          <a:lstStyle/>
          <a:p>
            <a:endParaRPr lang="tr-TR"/>
          </a:p>
        </p:txBody>
      </p:sp>
      <p:sp>
        <p:nvSpPr>
          <p:cNvPr id="301" name="Frame dot 0"/>
          <p:cNvSpPr/>
          <p:nvPr/>
        </p:nvSpPr>
        <p:spPr>
          <a:xfrm>
            <a:off x="2751622" y="1927500"/>
            <a:ext cx="105000" cy="105000"/>
          </a:xfrm>
          <a:prstGeom prst="ellipse">
            <a:avLst/>
          </a:prstGeom>
          <a:solidFill>
            <a:srgbClr val="F59E5B"/>
          </a:solidFill>
          <a:ln>
            <a:noFill/>
          </a:ln>
        </p:spPr>
        <p:txBody>
          <a:bodyPr/>
          <a:lstStyle/>
          <a:p>
            <a:endParaRPr lang="tr-TR"/>
          </a:p>
        </p:txBody>
      </p:sp>
      <p:sp>
        <p:nvSpPr>
          <p:cNvPr id="302" name="Frame dot 1"/>
          <p:cNvSpPr/>
          <p:nvPr/>
        </p:nvSpPr>
        <p:spPr>
          <a:xfrm>
            <a:off x="2936622" y="1927500"/>
            <a:ext cx="105000" cy="105000"/>
          </a:xfrm>
          <a:prstGeom prst="ellipse">
            <a:avLst/>
          </a:prstGeom>
          <a:solidFill>
            <a:srgbClr val="C9D3E3"/>
          </a:solidFill>
          <a:ln>
            <a:noFill/>
          </a:ln>
        </p:spPr>
        <p:txBody>
          <a:bodyPr/>
          <a:lstStyle/>
          <a:p>
            <a:endParaRPr lang="tr-TR"/>
          </a:p>
        </p:txBody>
      </p:sp>
      <p:sp>
        <p:nvSpPr>
          <p:cNvPr id="303" name="Frame dot 2"/>
          <p:cNvSpPr/>
          <p:nvPr/>
        </p:nvSpPr>
        <p:spPr>
          <a:xfrm>
            <a:off x="3121622" y="1927500"/>
            <a:ext cx="105000" cy="105000"/>
          </a:xfrm>
          <a:prstGeom prst="ellipse">
            <a:avLst/>
          </a:prstGeom>
          <a:solidFill>
            <a:srgbClr val="5B6B8C"/>
          </a:solidFill>
          <a:ln>
            <a:noFill/>
          </a:ln>
        </p:spPr>
        <p:txBody>
          <a:bodyPr/>
          <a:lstStyle/>
          <a:p>
            <a:endParaRPr lang="tr-TR"/>
          </a:p>
        </p:txBody>
      </p:sp>
      <p:pic>
        <p:nvPicPr>
          <p:cNvPr id="101" name="Screenshot 101" descr="BI Skorlama analiz raporu"/>
          <p:cNvPicPr>
            <a:picLocks noChangeAspect="1"/>
          </p:cNvPicPr>
          <p:nvPr/>
        </p:nvPicPr>
        <p:blipFill>
          <a:blip r:embed="rId2"/>
          <a:stretch>
            <a:fillRect/>
          </a:stretch>
        </p:blipFill>
        <p:spPr>
          <a:xfrm>
            <a:off x="2691622" y="2130000"/>
            <a:ext cx="7125747" cy="3570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6F4EF"/>
        </a:solidFill>
        <a:effectLst/>
      </p:bgPr>
    </p:bg>
    <p:spTree>
      <p:nvGrpSpPr>
        <p:cNvPr id="1" name=""/>
        <p:cNvGrpSpPr/>
        <p:nvPr/>
      </p:nvGrpSpPr>
      <p:grpSpPr>
        <a:xfrm>
          <a:off x="0" y="0"/>
          <a:ext cx="0" cy="0"/>
          <a:chOff x="0" y="0"/>
          <a:chExt cx="0" cy="0"/>
        </a:xfrm>
      </p:grpSpPr>
      <p:sp>
        <p:nvSpPr>
          <p:cNvPr id="2" name="Shape 0"/>
          <p:cNvSpPr/>
          <p:nvPr/>
        </p:nvSpPr>
        <p:spPr>
          <a:xfrm>
            <a:off x="812800" y="812800"/>
            <a:ext cx="3556000" cy="5029200"/>
          </a:xfrm>
          <a:prstGeom prst="roundRect">
            <a:avLst>
              <a:gd name="adj" fmla="val 4286"/>
            </a:avLst>
          </a:prstGeom>
          <a:solidFill>
            <a:srgbClr val="14213D"/>
          </a:solidFill>
          <a:ln/>
        </p:spPr>
        <p:txBody>
          <a:bodyPr/>
          <a:lstStyle/>
          <a:p>
            <a:endParaRPr lang="en-TR"/>
          </a:p>
        </p:txBody>
      </p:sp>
      <p:sp>
        <p:nvSpPr>
          <p:cNvPr id="4" name="Text 2"/>
          <p:cNvSpPr>
            <a:spLocks noGrp="1"/>
          </p:cNvSpPr>
          <p:nvPr>
            <p:ph type="title"/>
          </p:nvPr>
        </p:nvSpPr>
        <p:spPr>
          <a:xfrm>
            <a:off x="1168400" y="2557859"/>
            <a:ext cx="2930144" cy="103118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6F4EF"/>
                </a:solidFill>
                <a:latin typeface="IBM Plex Sans" pitchFamily="34" charset="0"/>
                <a:ea typeface="IBM Plex Sans" pitchFamily="34" charset="-122"/>
                <a:cs typeface="IBM Plex Sans" pitchFamily="34" charset="-120"/>
              </a:rPr>
              <a:t>BI</a:t>
            </a:r>
            <a:endParaRPr lang="en-US" sz="3600" dirty="0"/>
          </a:p>
          <a:p>
            <a:pPr marL="0" indent="0" algn="l">
              <a:lnSpc>
                <a:spcPts val="3960"/>
              </a:lnSpc>
              <a:buNone/>
            </a:pPr>
            <a:r>
              <a:rPr lang="en-US" sz="3600" b="1" i="0" dirty="0">
                <a:solidFill>
                  <a:srgbClr val="F6F4EF"/>
                </a:solidFill>
                <a:latin typeface="IBM Plex Sans" pitchFamily="34" charset="0"/>
                <a:ea typeface="IBM Plex Sans" pitchFamily="34" charset="-122"/>
                <a:cs typeface="IBM Plex Sans" pitchFamily="34" charset="-120"/>
              </a:rPr>
              <a:t>UX Designer</a:t>
            </a:r>
            <a:endParaRPr lang="en-US" sz="3600" dirty="0"/>
          </a:p>
        </p:txBody>
      </p:sp>
      <p:sp>
        <p:nvSpPr>
          <p:cNvPr id="5" name="Text 3"/>
          <p:cNvSpPr/>
          <p:nvPr/>
        </p:nvSpPr>
        <p:spPr>
          <a:xfrm>
            <a:off x="1168400" y="4511800"/>
            <a:ext cx="2930144" cy="1000000"/>
          </a:xfrm>
          <a:prstGeom prst="rect">
            <a:avLst/>
          </a:prstGeom>
          <a:noFill/>
          <a:ln/>
        </p:spPr>
        <p:txBody>
          <a:bodyPr wrap="square" lIns="0" tIns="0" rIns="0" bIns="0" rtlCol="0" anchor="b">
            <a:normAutofit/>
          </a:bodyPr>
          <a:lstStyle/>
          <a:p>
            <a:pPr marL="0" indent="0" algn="l">
              <a:lnSpc>
                <a:spcPts val="1960"/>
              </a:lnSpc>
              <a:buNone/>
            </a:pPr>
            <a:r>
              <a:rPr lang="en-US" sz="1400" dirty="0">
                <a:solidFill>
                  <a:srgbClr val="C9D3E3"/>
                </a:solidFill>
                <a:latin typeface="IBM Plex Sans" pitchFamily="34" charset="0"/>
                <a:ea typeface="IBM Plex Sans" pitchFamily="34" charset="-122"/>
                <a:cs typeface="IBM Plex Sans" pitchFamily="34" charset="-120"/>
              </a:rPr>
              <a:t>Mevcut Power BI </a:t>
            </a:r>
            <a:r>
              <a:rPr lang="en-US" sz="1400" dirty="0" err="1">
                <a:solidFill>
                  <a:srgbClr val="C9D3E3"/>
                </a:solidFill>
                <a:latin typeface="IBM Plex Sans" pitchFamily="34" charset="0"/>
                <a:ea typeface="IBM Plex Sans" pitchFamily="34" charset="-122"/>
                <a:cs typeface="IBM Plex Sans" pitchFamily="34" charset="-120"/>
              </a:rPr>
              <a:t>raporlarında</a:t>
            </a:r>
            <a:r>
              <a:rPr lang="en-US" sz="1400" dirty="0">
                <a:solidFill>
                  <a:srgbClr val="C9D3E3"/>
                </a:solidFill>
                <a:latin typeface="IBM Plex Sans" pitchFamily="34" charset="0"/>
                <a:ea typeface="IBM Plex Sans" pitchFamily="34" charset="-122"/>
                <a:cs typeface="IBM Plex Sans" pitchFamily="34" charset="-120"/>
              </a:rPr>
              <a:t> veriye </a:t>
            </a:r>
            <a:r>
              <a:rPr lang="en-US" sz="1400" dirty="0" err="1">
                <a:solidFill>
                  <a:srgbClr val="C9D3E3"/>
                </a:solidFill>
                <a:latin typeface="IBM Plex Sans" pitchFamily="34" charset="0"/>
                <a:ea typeface="IBM Plex Sans" pitchFamily="34" charset="-122"/>
                <a:cs typeface="IBM Plex Sans" pitchFamily="34" charset="-120"/>
              </a:rPr>
              <a:t>dokunmadan</a:t>
            </a:r>
            <a:r>
              <a:rPr lang="en-US" sz="1400" dirty="0">
                <a:solidFill>
                  <a:srgbClr val="C9D3E3"/>
                </a:solidFill>
                <a:latin typeface="IBM Plex Sans" pitchFamily="34" charset="0"/>
                <a:ea typeface="IBM Plex Sans" pitchFamily="34" charset="-122"/>
                <a:cs typeface="IBM Plex Sans" pitchFamily="34" charset="-120"/>
              </a:rPr>
              <a:t> </a:t>
            </a:r>
            <a:r>
              <a:rPr lang="en-US" sz="1400" dirty="0" err="1">
                <a:solidFill>
                  <a:srgbClr val="C9D3E3"/>
                </a:solidFill>
                <a:latin typeface="IBM Plex Sans" pitchFamily="34" charset="0"/>
                <a:ea typeface="IBM Plex Sans" pitchFamily="34" charset="-122"/>
                <a:cs typeface="IBM Plex Sans" pitchFamily="34" charset="-120"/>
              </a:rPr>
              <a:t>görselleştirme</a:t>
            </a:r>
            <a:r>
              <a:rPr lang="en-US" sz="1400" dirty="0">
                <a:solidFill>
                  <a:srgbClr val="C9D3E3"/>
                </a:solidFill>
                <a:latin typeface="IBM Plex Sans" pitchFamily="34" charset="0"/>
                <a:ea typeface="IBM Plex Sans" pitchFamily="34" charset="-122"/>
                <a:cs typeface="IBM Plex Sans" pitchFamily="34" charset="-120"/>
              </a:rPr>
              <a:t> </a:t>
            </a:r>
            <a:r>
              <a:rPr lang="en-US" sz="1400" dirty="0" err="1">
                <a:solidFill>
                  <a:srgbClr val="C9D3E3"/>
                </a:solidFill>
                <a:latin typeface="IBM Plex Sans" pitchFamily="34" charset="0"/>
                <a:ea typeface="IBM Plex Sans" pitchFamily="34" charset="-122"/>
                <a:cs typeface="IBM Plex Sans" pitchFamily="34" charset="-120"/>
              </a:rPr>
              <a:t>çalışması</a:t>
            </a:r>
            <a:r>
              <a:rPr lang="en-US" sz="1400" dirty="0">
                <a:solidFill>
                  <a:srgbClr val="C9D3E3"/>
                </a:solidFill>
                <a:latin typeface="IBM Plex Sans" pitchFamily="34" charset="0"/>
                <a:ea typeface="IBM Plex Sans" pitchFamily="34" charset="-122"/>
                <a:cs typeface="IBM Plex Sans" pitchFamily="34" charset="-120"/>
              </a:rPr>
              <a:t> </a:t>
            </a:r>
            <a:r>
              <a:rPr lang="en-US" sz="1400" dirty="0" err="1">
                <a:solidFill>
                  <a:srgbClr val="C9D3E3"/>
                </a:solidFill>
                <a:latin typeface="IBM Plex Sans" pitchFamily="34" charset="0"/>
                <a:ea typeface="IBM Plex Sans" pitchFamily="34" charset="-122"/>
                <a:cs typeface="IBM Plex Sans" pitchFamily="34" charset="-120"/>
              </a:rPr>
              <a:t>yapan</a:t>
            </a:r>
            <a:r>
              <a:rPr lang="en-US" sz="1400" dirty="0">
                <a:solidFill>
                  <a:srgbClr val="C9D3E3"/>
                </a:solidFill>
                <a:latin typeface="IBM Plex Sans" pitchFamily="34" charset="0"/>
                <a:ea typeface="IBM Plex Sans" pitchFamily="34" charset="-122"/>
                <a:cs typeface="IBM Plex Sans" pitchFamily="34" charset="-120"/>
              </a:rPr>
              <a:t> </a:t>
            </a:r>
            <a:r>
              <a:rPr lang="en-US" sz="1400" dirty="0" err="1">
                <a:solidFill>
                  <a:srgbClr val="C9D3E3"/>
                </a:solidFill>
                <a:latin typeface="IBM Plex Sans" pitchFamily="34" charset="0"/>
                <a:ea typeface="IBM Plex Sans" pitchFamily="34" charset="-122"/>
                <a:cs typeface="IBM Plex Sans" pitchFamily="34" charset="-120"/>
              </a:rPr>
              <a:t>bir</a:t>
            </a:r>
            <a:r>
              <a:rPr lang="en-US" sz="1400" dirty="0">
                <a:solidFill>
                  <a:srgbClr val="C9D3E3"/>
                </a:solidFill>
                <a:latin typeface="IBM Plex Sans" pitchFamily="34" charset="0"/>
                <a:ea typeface="IBM Plex Sans" pitchFamily="34" charset="-122"/>
                <a:cs typeface="IBM Plex Sans" pitchFamily="34" charset="-120"/>
              </a:rPr>
              <a:t> AI </a:t>
            </a:r>
            <a:r>
              <a:rPr lang="en-US" sz="1400" dirty="0" err="1">
                <a:solidFill>
                  <a:srgbClr val="C9D3E3"/>
                </a:solidFill>
                <a:latin typeface="IBM Plex Sans" pitchFamily="34" charset="0"/>
                <a:ea typeface="IBM Plex Sans" pitchFamily="34" charset="-122"/>
                <a:cs typeface="IBM Plex Sans" pitchFamily="34" charset="-120"/>
              </a:rPr>
              <a:t>tasarım</a:t>
            </a:r>
            <a:r>
              <a:rPr lang="en-US" sz="1400" dirty="0">
                <a:solidFill>
                  <a:srgbClr val="C9D3E3"/>
                </a:solidFill>
                <a:latin typeface="IBM Plex Sans" pitchFamily="34" charset="0"/>
                <a:ea typeface="IBM Plex Sans" pitchFamily="34" charset="-122"/>
                <a:cs typeface="IBM Plex Sans" pitchFamily="34" charset="-120"/>
              </a:rPr>
              <a:t> </a:t>
            </a:r>
            <a:r>
              <a:rPr lang="en-US" sz="1400" dirty="0" err="1">
                <a:solidFill>
                  <a:srgbClr val="C9D3E3"/>
                </a:solidFill>
                <a:latin typeface="IBM Plex Sans" pitchFamily="34" charset="0"/>
                <a:ea typeface="IBM Plex Sans" pitchFamily="34" charset="-122"/>
                <a:cs typeface="IBM Plex Sans" pitchFamily="34" charset="-120"/>
              </a:rPr>
              <a:t>aracı</a:t>
            </a:r>
            <a:endParaRPr lang="en-US" sz="1400" dirty="0"/>
          </a:p>
        </p:txBody>
      </p:sp>
      <p:sp>
        <p:nvSpPr>
          <p:cNvPr id="6" name="Text 4"/>
          <p:cNvSpPr/>
          <p:nvPr/>
        </p:nvSpPr>
        <p:spPr>
          <a:xfrm>
            <a:off x="4826000" y="1630000"/>
            <a:ext cx="6749796"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A84A14"/>
                </a:solidFill>
                <a:latin typeface="IBM Plex Mono" pitchFamily="49" charset="0"/>
                <a:ea typeface="IBM Plex Mono" pitchFamily="49" charset="-122"/>
                <a:cs typeface="IBM Plex Mono" pitchFamily="49" charset="-120"/>
              </a:rPr>
              <a:t>PROBLEM</a:t>
            </a:r>
            <a:endParaRPr lang="en-US" sz="1200" dirty="0"/>
          </a:p>
        </p:txBody>
      </p:sp>
      <p:sp>
        <p:nvSpPr>
          <p:cNvPr id="7" name="Text 5"/>
          <p:cNvSpPr/>
          <p:nvPr/>
        </p:nvSpPr>
        <p:spPr>
          <a:xfrm>
            <a:off x="4826000" y="1970000"/>
            <a:ext cx="6749796" cy="1280160"/>
          </a:xfrm>
          <a:prstGeom prst="rect">
            <a:avLst/>
          </a:prstGeom>
          <a:noFill/>
          <a:ln/>
        </p:spPr>
        <p:txBody>
          <a:bodyPr wrap="square" lIns="0" tIns="0" rIns="0" bIns="0" rtlCol="0" anchor="t">
            <a:normAutofit/>
          </a:bodyPr>
          <a:lstStyle/>
          <a:p>
            <a:pPr marL="0" indent="0" algn="l">
              <a:lnSpc>
                <a:spcPts val="2520"/>
              </a:lnSpc>
              <a:buNone/>
            </a:pPr>
            <a:r>
              <a:rPr lang="tr-TR" sz="1800" dirty="0">
                <a:solidFill>
                  <a:srgbClr val="14213D"/>
                </a:solidFill>
                <a:latin typeface="IBM Plex Sans" pitchFamily="34" charset="0"/>
                <a:ea typeface="IBM Plex Sans" pitchFamily="34" charset="-122"/>
                <a:cs typeface="IBM Plex Sans" pitchFamily="34" charset="-120"/>
              </a:rPr>
              <a:t>İş </a:t>
            </a:r>
            <a:r>
              <a:rPr lang="tr-TR" sz="1800" dirty="0" err="1">
                <a:solidFill>
                  <a:srgbClr val="14213D"/>
                </a:solidFill>
                <a:latin typeface="IBM Plex Sans" pitchFamily="34" charset="0"/>
                <a:ea typeface="IBM Plex Sans" pitchFamily="34" charset="-122"/>
                <a:cs typeface="IBM Plex Sans" pitchFamily="34" charset="-120"/>
              </a:rPr>
              <a:t>birimlerinin</a:t>
            </a:r>
            <a:r>
              <a:rPr lang="tr-TR" sz="1800" dirty="0">
                <a:solidFill>
                  <a:srgbClr val="14213D"/>
                </a:solidFill>
                <a:latin typeface="IBM Plex Sans" pitchFamily="34" charset="0"/>
                <a:ea typeface="IBM Plex Sans" pitchFamily="34" charset="-122"/>
                <a:cs typeface="IBM Plex Sans" pitchFamily="34" charset="-120"/>
              </a:rPr>
              <a:t> </a:t>
            </a:r>
            <a:r>
              <a:rPr lang="tr-TR" sz="1800" dirty="0" err="1">
                <a:solidFill>
                  <a:srgbClr val="14213D"/>
                </a:solidFill>
                <a:latin typeface="IBM Plex Sans" pitchFamily="34" charset="0"/>
                <a:ea typeface="IBM Plex Sans" pitchFamily="34" charset="-122"/>
                <a:cs typeface="IBM Plex Sans" pitchFamily="34" charset="-120"/>
              </a:rPr>
              <a:t>hazırladığı</a:t>
            </a:r>
            <a:r>
              <a:rPr lang="tr-TR" sz="1800" dirty="0">
                <a:solidFill>
                  <a:srgbClr val="14213D"/>
                </a:solidFill>
                <a:latin typeface="IBM Plex Sans" pitchFamily="34" charset="0"/>
                <a:ea typeface="IBM Plex Sans" pitchFamily="34" charset="-122"/>
                <a:cs typeface="IBM Plex Sans" pitchFamily="34" charset="-120"/>
              </a:rPr>
              <a:t> </a:t>
            </a:r>
            <a:r>
              <a:rPr lang="tr-TR" sz="1800" dirty="0" err="1">
                <a:solidFill>
                  <a:srgbClr val="14213D"/>
                </a:solidFill>
                <a:latin typeface="IBM Plex Sans" pitchFamily="34" charset="0"/>
                <a:ea typeface="IBM Plex Sans" pitchFamily="34" charset="-122"/>
                <a:cs typeface="IBM Plex Sans" pitchFamily="34" charset="-120"/>
              </a:rPr>
              <a:t>raporlarda</a:t>
            </a:r>
            <a:r>
              <a:rPr lang="tr-TR" sz="1800" dirty="0">
                <a:solidFill>
                  <a:srgbClr val="14213D"/>
                </a:solidFill>
                <a:latin typeface="IBM Plex Sans" pitchFamily="34" charset="0"/>
                <a:ea typeface="IBM Plex Sans" pitchFamily="34" charset="-122"/>
                <a:cs typeface="IBM Plex Sans" pitchFamily="34" charset="-120"/>
              </a:rPr>
              <a:t> </a:t>
            </a:r>
            <a:r>
              <a:rPr lang="tr-TR" sz="1800" dirty="0" err="1">
                <a:solidFill>
                  <a:srgbClr val="14213D"/>
                </a:solidFill>
                <a:latin typeface="IBM Plex Sans" pitchFamily="34" charset="0"/>
                <a:ea typeface="IBM Plex Sans" pitchFamily="34" charset="-122"/>
                <a:cs typeface="IBM Plex Sans" pitchFamily="34" charset="-120"/>
              </a:rPr>
              <a:t>görsel</a:t>
            </a:r>
            <a:r>
              <a:rPr lang="tr-TR" sz="1800" dirty="0">
                <a:solidFill>
                  <a:srgbClr val="14213D"/>
                </a:solidFill>
                <a:latin typeface="IBM Plex Sans" pitchFamily="34" charset="0"/>
                <a:ea typeface="IBM Plex Sans" pitchFamily="34" charset="-122"/>
                <a:cs typeface="IBM Plex Sans" pitchFamily="34" charset="-120"/>
              </a:rPr>
              <a:t> </a:t>
            </a:r>
            <a:r>
              <a:rPr lang="tr-TR" sz="1800" dirty="0" err="1">
                <a:solidFill>
                  <a:srgbClr val="14213D"/>
                </a:solidFill>
                <a:latin typeface="IBM Plex Sans" pitchFamily="34" charset="0"/>
                <a:ea typeface="IBM Plex Sans" pitchFamily="34" charset="-122"/>
                <a:cs typeface="IBM Plex Sans" pitchFamily="34" charset="-120"/>
              </a:rPr>
              <a:t>tutarsızlıklar</a:t>
            </a:r>
            <a:r>
              <a:rPr lang="tr-TR" sz="1800" dirty="0">
                <a:solidFill>
                  <a:srgbClr val="14213D"/>
                </a:solidFill>
                <a:latin typeface="IBM Plex Sans" pitchFamily="34" charset="0"/>
                <a:ea typeface="IBM Plex Sans" pitchFamily="34" charset="-122"/>
                <a:cs typeface="IBM Plex Sans" pitchFamily="34" charset="-120"/>
              </a:rPr>
              <a:t> </a:t>
            </a:r>
            <a:r>
              <a:rPr lang="tr-TR" sz="1800" dirty="0" err="1">
                <a:solidFill>
                  <a:srgbClr val="14213D"/>
                </a:solidFill>
                <a:latin typeface="IBM Plex Sans" pitchFamily="34" charset="0"/>
                <a:ea typeface="IBM Plex Sans" pitchFamily="34" charset="-122"/>
                <a:cs typeface="IBM Plex Sans" pitchFamily="34" charset="-120"/>
              </a:rPr>
              <a:t>bulunuyor</a:t>
            </a:r>
            <a:r>
              <a:rPr lang="tr-TR" sz="1800" dirty="0">
                <a:solidFill>
                  <a:srgbClr val="14213D"/>
                </a:solidFill>
                <a:latin typeface="IBM Plex Sans" pitchFamily="34" charset="0"/>
                <a:ea typeface="IBM Plex Sans" pitchFamily="34" charset="-122"/>
                <a:cs typeface="IBM Plex Sans" pitchFamily="34" charset="-120"/>
              </a:rPr>
              <a:t>. </a:t>
            </a:r>
            <a:r>
              <a:rPr lang="tr-TR" sz="1800" dirty="0" err="1">
                <a:solidFill>
                  <a:srgbClr val="14213D"/>
                </a:solidFill>
                <a:latin typeface="IBM Plex Sans" pitchFamily="34" charset="0"/>
                <a:ea typeface="IBM Plex Sans" pitchFamily="34" charset="-122"/>
                <a:cs typeface="IBM Plex Sans" pitchFamily="34" charset="-120"/>
              </a:rPr>
              <a:t>Bunları</a:t>
            </a:r>
            <a:r>
              <a:rPr lang="tr-TR" sz="1800" dirty="0">
                <a:solidFill>
                  <a:srgbClr val="14213D"/>
                </a:solidFill>
                <a:latin typeface="IBM Plex Sans" pitchFamily="34" charset="0"/>
                <a:ea typeface="IBM Plex Sans" pitchFamily="34" charset="-122"/>
                <a:cs typeface="IBM Plex Sans" pitchFamily="34" charset="-120"/>
              </a:rPr>
              <a:t> </a:t>
            </a:r>
            <a:r>
              <a:rPr lang="tr-TR" sz="1800" dirty="0" err="1">
                <a:solidFill>
                  <a:srgbClr val="14213D"/>
                </a:solidFill>
                <a:latin typeface="IBM Plex Sans" pitchFamily="34" charset="0"/>
                <a:ea typeface="IBM Plex Sans" pitchFamily="34" charset="-122"/>
                <a:cs typeface="IBM Plex Sans" pitchFamily="34" charset="-120"/>
              </a:rPr>
              <a:t>gidermek</a:t>
            </a:r>
            <a:r>
              <a:rPr lang="tr-TR" sz="1800" dirty="0">
                <a:solidFill>
                  <a:srgbClr val="14213D"/>
                </a:solidFill>
                <a:latin typeface="IBM Plex Sans" pitchFamily="34" charset="0"/>
                <a:ea typeface="IBM Plex Sans" pitchFamily="34" charset="-122"/>
                <a:cs typeface="IBM Plex Sans" pitchFamily="34" charset="-120"/>
              </a:rPr>
              <a:t> </a:t>
            </a:r>
            <a:r>
              <a:rPr lang="tr-TR" sz="1800" dirty="0" err="1">
                <a:solidFill>
                  <a:srgbClr val="14213D"/>
                </a:solidFill>
                <a:latin typeface="IBM Plex Sans" pitchFamily="34" charset="0"/>
                <a:ea typeface="IBM Plex Sans" pitchFamily="34" charset="-122"/>
                <a:cs typeface="IBM Plex Sans" pitchFamily="34" charset="-120"/>
              </a:rPr>
              <a:t>için</a:t>
            </a:r>
            <a:r>
              <a:rPr lang="tr-TR" sz="1800" dirty="0">
                <a:solidFill>
                  <a:srgbClr val="14213D"/>
                </a:solidFill>
                <a:latin typeface="IBM Plex Sans" pitchFamily="34" charset="0"/>
                <a:ea typeface="IBM Plex Sans" pitchFamily="34" charset="-122"/>
                <a:cs typeface="IBM Plex Sans" pitchFamily="34" charset="-120"/>
              </a:rPr>
              <a:t> </a:t>
            </a:r>
            <a:r>
              <a:rPr lang="tr-TR" sz="1800" dirty="0" err="1">
                <a:solidFill>
                  <a:srgbClr val="14213D"/>
                </a:solidFill>
                <a:latin typeface="IBM Plex Sans" pitchFamily="34" charset="0"/>
                <a:ea typeface="IBM Plex Sans" pitchFamily="34" charset="-122"/>
                <a:cs typeface="IBM Plex Sans" pitchFamily="34" charset="-120"/>
              </a:rPr>
              <a:t>raporları</a:t>
            </a:r>
            <a:r>
              <a:rPr lang="tr-TR" sz="1800" dirty="0">
                <a:solidFill>
                  <a:srgbClr val="14213D"/>
                </a:solidFill>
                <a:latin typeface="IBM Plex Sans" pitchFamily="34" charset="0"/>
                <a:ea typeface="IBM Plex Sans" pitchFamily="34" charset="-122"/>
                <a:cs typeface="IBM Plex Sans" pitchFamily="34" charset="-120"/>
              </a:rPr>
              <a:t> </a:t>
            </a:r>
            <a:r>
              <a:rPr lang="tr-TR" sz="1800" dirty="0" err="1">
                <a:solidFill>
                  <a:srgbClr val="14213D"/>
                </a:solidFill>
                <a:latin typeface="IBM Plex Sans" pitchFamily="34" charset="0"/>
                <a:ea typeface="IBM Plex Sans" pitchFamily="34" charset="-122"/>
                <a:cs typeface="IBM Plex Sans" pitchFamily="34" charset="-120"/>
              </a:rPr>
              <a:t>manuel</a:t>
            </a:r>
            <a:r>
              <a:rPr lang="tr-TR" sz="1800" dirty="0">
                <a:solidFill>
                  <a:srgbClr val="14213D"/>
                </a:solidFill>
                <a:latin typeface="IBM Plex Sans" pitchFamily="34" charset="0"/>
                <a:ea typeface="IBM Plex Sans" pitchFamily="34" charset="-122"/>
                <a:cs typeface="IBM Plex Sans" pitchFamily="34" charset="-120"/>
              </a:rPr>
              <a:t> </a:t>
            </a:r>
            <a:r>
              <a:rPr lang="tr-TR" sz="1800" dirty="0" err="1">
                <a:solidFill>
                  <a:srgbClr val="14213D"/>
                </a:solidFill>
                <a:latin typeface="IBM Plex Sans" pitchFamily="34" charset="0"/>
                <a:ea typeface="IBM Plex Sans" pitchFamily="34" charset="-122"/>
                <a:cs typeface="IBM Plex Sans" pitchFamily="34" charset="-120"/>
              </a:rPr>
              <a:t>olarak</a:t>
            </a:r>
            <a:r>
              <a:rPr lang="tr-TR" sz="1800" dirty="0">
                <a:solidFill>
                  <a:srgbClr val="14213D"/>
                </a:solidFill>
                <a:latin typeface="IBM Plex Sans" pitchFamily="34" charset="0"/>
                <a:ea typeface="IBM Plex Sans" pitchFamily="34" charset="-122"/>
                <a:cs typeface="IBM Plex Sans" pitchFamily="34" charset="-120"/>
              </a:rPr>
              <a:t> </a:t>
            </a:r>
            <a:r>
              <a:rPr lang="tr-TR" sz="1800" dirty="0" err="1">
                <a:solidFill>
                  <a:srgbClr val="14213D"/>
                </a:solidFill>
                <a:latin typeface="IBM Plex Sans" pitchFamily="34" charset="0"/>
                <a:ea typeface="IBM Plex Sans" pitchFamily="34" charset="-122"/>
                <a:cs typeface="IBM Plex Sans" pitchFamily="34" charset="-120"/>
              </a:rPr>
              <a:t>düzenlemek</a:t>
            </a:r>
            <a:r>
              <a:rPr lang="tr-TR" sz="1800" dirty="0">
                <a:solidFill>
                  <a:srgbClr val="14213D"/>
                </a:solidFill>
                <a:latin typeface="IBM Plex Sans" pitchFamily="34" charset="0"/>
                <a:ea typeface="IBM Plex Sans" pitchFamily="34" charset="-122"/>
                <a:cs typeface="IBM Plex Sans" pitchFamily="34" charset="-120"/>
              </a:rPr>
              <a:t> </a:t>
            </a:r>
            <a:r>
              <a:rPr lang="tr-TR" sz="1800" dirty="0" err="1">
                <a:solidFill>
                  <a:srgbClr val="14213D"/>
                </a:solidFill>
                <a:latin typeface="IBM Plex Sans" pitchFamily="34" charset="0"/>
                <a:ea typeface="IBM Plex Sans" pitchFamily="34" charset="-122"/>
                <a:cs typeface="IBM Plex Sans" pitchFamily="34" charset="-120"/>
              </a:rPr>
              <a:t>ya</a:t>
            </a:r>
            <a:r>
              <a:rPr lang="tr-TR" sz="1800" dirty="0">
                <a:solidFill>
                  <a:srgbClr val="14213D"/>
                </a:solidFill>
                <a:latin typeface="IBM Plex Sans" pitchFamily="34" charset="0"/>
                <a:ea typeface="IBM Plex Sans" pitchFamily="34" charset="-122"/>
                <a:cs typeface="IBM Plex Sans" pitchFamily="34" charset="-120"/>
              </a:rPr>
              <a:t> da </a:t>
            </a:r>
            <a:r>
              <a:rPr lang="tr-TR" sz="1800" dirty="0" err="1">
                <a:solidFill>
                  <a:srgbClr val="14213D"/>
                </a:solidFill>
                <a:latin typeface="IBM Plex Sans" pitchFamily="34" charset="0"/>
                <a:ea typeface="IBM Plex Sans" pitchFamily="34" charset="-122"/>
                <a:cs typeface="IBM Plex Sans" pitchFamily="34" charset="-120"/>
              </a:rPr>
              <a:t>sıfırdan</a:t>
            </a:r>
            <a:r>
              <a:rPr lang="tr-TR" sz="1800" dirty="0">
                <a:solidFill>
                  <a:srgbClr val="14213D"/>
                </a:solidFill>
                <a:latin typeface="IBM Plex Sans" pitchFamily="34" charset="0"/>
                <a:ea typeface="IBM Plex Sans" pitchFamily="34" charset="-122"/>
                <a:cs typeface="IBM Plex Sans" pitchFamily="34" charset="-120"/>
              </a:rPr>
              <a:t> </a:t>
            </a:r>
            <a:r>
              <a:rPr lang="tr-TR" sz="1800" dirty="0" err="1">
                <a:solidFill>
                  <a:srgbClr val="14213D"/>
                </a:solidFill>
                <a:latin typeface="IBM Plex Sans" pitchFamily="34" charset="0"/>
                <a:ea typeface="IBM Plex Sans" pitchFamily="34" charset="-122"/>
                <a:cs typeface="IBM Plex Sans" pitchFamily="34" charset="-120"/>
              </a:rPr>
              <a:t>tasarım</a:t>
            </a:r>
            <a:r>
              <a:rPr lang="tr-TR" sz="1800" dirty="0">
                <a:solidFill>
                  <a:srgbClr val="14213D"/>
                </a:solidFill>
                <a:latin typeface="IBM Plex Sans" pitchFamily="34" charset="0"/>
                <a:ea typeface="IBM Plex Sans" pitchFamily="34" charset="-122"/>
                <a:cs typeface="IBM Plex Sans" pitchFamily="34" charset="-120"/>
              </a:rPr>
              <a:t> </a:t>
            </a:r>
            <a:r>
              <a:rPr lang="tr-TR" sz="1800" dirty="0" err="1">
                <a:solidFill>
                  <a:srgbClr val="14213D"/>
                </a:solidFill>
                <a:latin typeface="IBM Plex Sans" pitchFamily="34" charset="0"/>
                <a:ea typeface="IBM Plex Sans" pitchFamily="34" charset="-122"/>
                <a:cs typeface="IBM Plex Sans" pitchFamily="34" charset="-120"/>
              </a:rPr>
              <a:t>çalışmak</a:t>
            </a:r>
            <a:r>
              <a:rPr lang="tr-TR" sz="1800" dirty="0">
                <a:solidFill>
                  <a:srgbClr val="14213D"/>
                </a:solidFill>
                <a:latin typeface="IBM Plex Sans" pitchFamily="34" charset="0"/>
                <a:ea typeface="IBM Plex Sans" pitchFamily="34" charset="-122"/>
                <a:cs typeface="IBM Plex Sans" pitchFamily="34" charset="-120"/>
              </a:rPr>
              <a:t> </a:t>
            </a:r>
            <a:r>
              <a:rPr lang="tr-TR" sz="1800" dirty="0" err="1">
                <a:solidFill>
                  <a:srgbClr val="14213D"/>
                </a:solidFill>
                <a:latin typeface="IBM Plex Sans" pitchFamily="34" charset="0"/>
                <a:ea typeface="IBM Plex Sans" pitchFamily="34" charset="-122"/>
                <a:cs typeface="IBM Plex Sans" pitchFamily="34" charset="-120"/>
              </a:rPr>
              <a:t>gerekiyor</a:t>
            </a:r>
            <a:r>
              <a:rPr lang="tr-TR" sz="1800" dirty="0">
                <a:solidFill>
                  <a:srgbClr val="14213D"/>
                </a:solidFill>
                <a:latin typeface="IBM Plex Sans" pitchFamily="34" charset="0"/>
                <a:ea typeface="IBM Plex Sans" pitchFamily="34" charset="-122"/>
                <a:cs typeface="IBM Plex Sans" pitchFamily="34" charset="-120"/>
              </a:rPr>
              <a:t>.</a:t>
            </a:r>
            <a:endParaRPr lang="en-US" sz="1800" dirty="0"/>
          </a:p>
        </p:txBody>
      </p:sp>
      <p:pic>
        <p:nvPicPr>
          <p:cNvPr id="8" name="Image 0" descr="line"/>
          <p:cNvPicPr>
            <a:picLocks noChangeAspect="1"/>
          </p:cNvPicPr>
          <p:nvPr/>
        </p:nvPicPr>
        <p:blipFill>
          <a:blip r:embed="rId3"/>
          <a:srcRect/>
          <a:stretch/>
        </p:blipFill>
        <p:spPr>
          <a:xfrm>
            <a:off x="4826000" y="3530000"/>
            <a:ext cx="6749796" cy="12700"/>
          </a:xfrm>
          <a:prstGeom prst="rect">
            <a:avLst/>
          </a:prstGeom>
        </p:spPr>
      </p:pic>
      <p:sp>
        <p:nvSpPr>
          <p:cNvPr id="9" name="Text 6"/>
          <p:cNvSpPr/>
          <p:nvPr/>
        </p:nvSpPr>
        <p:spPr>
          <a:xfrm>
            <a:off x="4826000" y="3770000"/>
            <a:ext cx="6749796"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A84A14"/>
                </a:solidFill>
                <a:latin typeface="IBM Plex Mono" pitchFamily="49" charset="0"/>
                <a:ea typeface="IBM Plex Mono" pitchFamily="49" charset="-122"/>
                <a:cs typeface="IBM Plex Mono" pitchFamily="49" charset="-120"/>
              </a:rPr>
              <a:t>NE AMAÇLIYOR</a:t>
            </a:r>
            <a:endParaRPr lang="en-US" sz="1200" dirty="0"/>
          </a:p>
        </p:txBody>
      </p:sp>
      <p:sp>
        <p:nvSpPr>
          <p:cNvPr id="10" name="Text 7"/>
          <p:cNvSpPr/>
          <p:nvPr/>
        </p:nvSpPr>
        <p:spPr>
          <a:xfrm>
            <a:off x="4897120" y="4110000"/>
            <a:ext cx="6671056" cy="1151391"/>
          </a:xfrm>
          <a:prstGeom prst="rect">
            <a:avLst/>
          </a:prstGeom>
          <a:noFill/>
          <a:ln/>
        </p:spPr>
        <p:txBody>
          <a:bodyPr wrap="square" lIns="0" tIns="0" rIns="0" bIns="0" rtlCol="0" anchor="t">
            <a:normAutofit/>
          </a:bodyPr>
          <a:lstStyle/>
          <a:p>
            <a:pPr marL="182880" indent="-182880" algn="l">
              <a:lnSpc>
                <a:spcPts val="2175"/>
              </a:lnSpc>
              <a:buSzPct val="100000"/>
              <a:buChar char="•"/>
            </a:pPr>
            <a:r>
              <a:rPr lang="tr-TR" sz="1500" dirty="0">
                <a:solidFill>
                  <a:srgbClr val="4A5568"/>
                </a:solidFill>
                <a:latin typeface="IBM Plex Sans" pitchFamily="34" charset="0"/>
                <a:ea typeface="IBM Plex Sans" pitchFamily="34" charset="-122"/>
                <a:cs typeface="IBM Plex Sans" pitchFamily="34" charset="-120"/>
              </a:rPr>
              <a:t>Raporu kurumsal, okunaklı ve </a:t>
            </a:r>
            <a:r>
              <a:rPr lang="tr-TR" sz="1500" dirty="0" err="1">
                <a:solidFill>
                  <a:srgbClr val="4A5568"/>
                </a:solidFill>
                <a:latin typeface="IBM Plex Sans" pitchFamily="34" charset="0"/>
                <a:ea typeface="IBM Plex Sans" pitchFamily="34" charset="-122"/>
                <a:cs typeface="IBM Plex Sans" pitchFamily="34" charset="-120"/>
              </a:rPr>
              <a:t>gösterişli</a:t>
            </a:r>
            <a:r>
              <a:rPr lang="tr-TR" sz="1500" dirty="0">
                <a:solidFill>
                  <a:srgbClr val="4A5568"/>
                </a:solidFill>
                <a:latin typeface="IBM Plex Sans" pitchFamily="34" charset="0"/>
                <a:ea typeface="IBM Plex Sans" pitchFamily="34" charset="-122"/>
                <a:cs typeface="IBM Plex Sans" pitchFamily="34" charset="-120"/>
              </a:rPr>
              <a:t> bir görünüme taşımak</a:t>
            </a:r>
            <a:endParaRPr lang="en-US" sz="1500" dirty="0"/>
          </a:p>
          <a:p>
            <a:pPr marL="182880" indent="-182880" algn="l">
              <a:lnSpc>
                <a:spcPts val="2175"/>
              </a:lnSpc>
              <a:buSzPct val="100000"/>
              <a:buChar char="•"/>
            </a:pPr>
            <a:r>
              <a:rPr lang="tr-TR" sz="1500" dirty="0">
                <a:solidFill>
                  <a:srgbClr val="4A5568"/>
                </a:solidFill>
                <a:latin typeface="IBM Plex Sans" pitchFamily="34" charset="0"/>
                <a:ea typeface="IBM Plex Sans" pitchFamily="34" charset="-122"/>
                <a:cs typeface="IBM Plex Sans" pitchFamily="34" charset="-120"/>
              </a:rPr>
              <a:t>İş </a:t>
            </a:r>
            <a:r>
              <a:rPr lang="tr-TR" sz="1500" dirty="0" err="1">
                <a:solidFill>
                  <a:srgbClr val="4A5568"/>
                </a:solidFill>
                <a:latin typeface="IBM Plex Sans" pitchFamily="34" charset="0"/>
                <a:ea typeface="IBM Plex Sans" pitchFamily="34" charset="-122"/>
                <a:cs typeface="IBM Plex Sans" pitchFamily="34" charset="-120"/>
              </a:rPr>
              <a:t>birimi</a:t>
            </a:r>
            <a:r>
              <a:rPr lang="tr-TR" sz="1500" dirty="0">
                <a:solidFill>
                  <a:srgbClr val="4A5568"/>
                </a:solidFill>
                <a:latin typeface="IBM Plex Sans" pitchFamily="34" charset="0"/>
                <a:ea typeface="IBM Plex Sans" pitchFamily="34" charset="-122"/>
                <a:cs typeface="IBM Plex Sans" pitchFamily="34" charset="-120"/>
              </a:rPr>
              <a:t> neyin gösterileceğine, AI nasıl gösterileceğine karar verir</a:t>
            </a:r>
            <a:endParaRPr lang="en-US" sz="1500" dirty="0"/>
          </a:p>
          <a:p>
            <a:pPr marL="182880" indent="-182880" algn="l">
              <a:lnSpc>
                <a:spcPts val="2175"/>
              </a:lnSpc>
              <a:buSzPct val="100000"/>
              <a:buChar char="•"/>
            </a:pPr>
            <a:r>
              <a:rPr lang="tr-TR" sz="1500" dirty="0">
                <a:solidFill>
                  <a:srgbClr val="4A5568"/>
                </a:solidFill>
                <a:latin typeface="IBM Plex Sans" pitchFamily="34" charset="0"/>
                <a:ea typeface="IBM Plex Sans" pitchFamily="34" charset="-122"/>
                <a:cs typeface="IBM Plex Sans" pitchFamily="34" charset="-120"/>
              </a:rPr>
              <a:t>Veri modeline, ölçülere, </a:t>
            </a:r>
            <a:r>
              <a:rPr lang="tr-TR" sz="1500" dirty="0" err="1">
                <a:solidFill>
                  <a:srgbClr val="4A5568"/>
                </a:solidFill>
                <a:latin typeface="IBM Plex Sans" pitchFamily="34" charset="0"/>
                <a:ea typeface="IBM Plex Sans" pitchFamily="34" charset="-122"/>
                <a:cs typeface="IBM Plex Sans" pitchFamily="34" charset="-120"/>
              </a:rPr>
              <a:t>filtrelere</a:t>
            </a:r>
            <a:r>
              <a:rPr lang="tr-TR" sz="1500" dirty="0">
                <a:solidFill>
                  <a:srgbClr val="4A5568"/>
                </a:solidFill>
                <a:latin typeface="IBM Plex Sans" pitchFamily="34" charset="0"/>
                <a:ea typeface="IBM Plex Sans" pitchFamily="34" charset="-122"/>
                <a:cs typeface="IBM Plex Sans" pitchFamily="34" charset="-120"/>
              </a:rPr>
              <a:t> </a:t>
            </a:r>
            <a:r>
              <a:rPr lang="tr-TR" sz="1500" dirty="0" err="1">
                <a:solidFill>
                  <a:srgbClr val="4A5568"/>
                </a:solidFill>
                <a:latin typeface="IBM Plex Sans" pitchFamily="34" charset="0"/>
                <a:ea typeface="IBM Plex Sans" pitchFamily="34" charset="-122"/>
                <a:cs typeface="IBM Plex Sans" pitchFamily="34" charset="-120"/>
              </a:rPr>
              <a:t>dokunmamak</a:t>
            </a:r>
            <a:endParaRPr lang="en-US" sz="1500" dirty="0"/>
          </a:p>
        </p:txBody>
      </p:sp>
      <p:sp>
        <p:nvSpPr>
          <p:cNvPr id="11" name="Text 8"/>
          <p:cNvSpPr/>
          <p:nvPr/>
        </p:nvSpPr>
        <p:spPr>
          <a:xfrm>
            <a:off x="812800" y="6238280"/>
            <a:ext cx="193839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AI Vibe Coding Projeleri</a:t>
            </a:r>
            <a:endParaRPr lang="en-US" sz="1200" dirty="0"/>
          </a:p>
        </p:txBody>
      </p:sp>
      <p:sp>
        <p:nvSpPr>
          <p:cNvPr id="12" name="Text 9"/>
          <p:cNvSpPr/>
          <p:nvPr/>
        </p:nvSpPr>
        <p:spPr>
          <a:xfrm>
            <a:off x="11145490" y="6238280"/>
            <a:ext cx="23371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nSpc>
                <a:spcPts val="1680"/>
              </a:lnSpc>
            </a:pPr>
            <a:r>
              <a:rPr lang="en-US" sz="1200" kern="0" spc="100" dirty="0">
                <a:solidFill>
                  <a:srgbClr val="A84A14"/>
                </a:solidFill>
                <a:latin typeface="IBM Plex Mono" pitchFamily="49" charset="0"/>
                <a:ea typeface="IBM Plex Mono" pitchFamily="49" charset="-122"/>
                <a:cs typeface="IBM Plex Mono" pitchFamily="49" charset="-120"/>
              </a:rPr>
              <a:t>· NASIL ÇALIŞIR ·</a:t>
            </a:r>
            <a:endParaRPr lang="en-US" sz="1200" dirty="0"/>
          </a:p>
        </p:txBody>
      </p:sp>
      <p:sp>
        <p:nvSpPr>
          <p:cNvPr id="3" name="Text 1"/>
          <p:cNvSpPr>
            <a:spLocks noGrp="1"/>
          </p:cNvSpPr>
          <p:nvPr>
            <p:ph type="title"/>
          </p:nvPr>
        </p:nvSpPr>
        <p:spPr>
          <a:xfrm>
            <a:off x="812800" y="11277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BI UX Designer</a:t>
            </a:r>
            <a:endParaRPr lang="en-US" sz="3200" dirty="0"/>
          </a:p>
        </p:txBody>
      </p:sp>
      <p:sp>
        <p:nvSpPr>
          <p:cNvPr id="4" name="Text 2"/>
          <p:cNvSpPr/>
          <p:nvPr/>
        </p:nvSpPr>
        <p:spPr>
          <a:xfrm>
            <a:off x="812800" y="167635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Python web uygulaması · local </a:t>
            </a:r>
            <a:r>
              <a:rPr lang="en-US" sz="1400" dirty="0" err="1">
                <a:solidFill>
                  <a:srgbClr val="4A5568"/>
                </a:solidFill>
                <a:latin typeface="IBM Plex Sans" pitchFamily="34" charset="0"/>
                <a:ea typeface="IBM Plex Sans" pitchFamily="34" charset="-122"/>
                <a:cs typeface="IBM Plex Sans" pitchFamily="34" charset="-120"/>
              </a:rPr>
              <a:t>dil</a:t>
            </a:r>
            <a:r>
              <a:rPr lang="en-US" sz="1400" dirty="0">
                <a:solidFill>
                  <a:srgbClr val="4A5568"/>
                </a:solidFill>
                <a:latin typeface="IBM Plex Sans" pitchFamily="34" charset="0"/>
                <a:ea typeface="IBM Plex Sans" pitchFamily="34" charset="-122"/>
                <a:cs typeface="IBM Plex Sans" pitchFamily="34" charset="-120"/>
              </a:rPr>
              <a:t> </a:t>
            </a:r>
            <a:r>
              <a:rPr lang="en-US" sz="1400" dirty="0" err="1">
                <a:solidFill>
                  <a:srgbClr val="4A5568"/>
                </a:solidFill>
                <a:latin typeface="IBM Plex Sans" pitchFamily="34" charset="0"/>
                <a:ea typeface="IBM Plex Sans" pitchFamily="34" charset="-122"/>
                <a:cs typeface="IBM Plex Sans" pitchFamily="34" charset="-120"/>
              </a:rPr>
              <a:t>modeli</a:t>
            </a:r>
            <a:r>
              <a:rPr lang="en-US" sz="1400" dirty="0">
                <a:solidFill>
                  <a:srgbClr val="4A5568"/>
                </a:solidFill>
                <a:latin typeface="IBM Plex Sans" pitchFamily="34" charset="0"/>
                <a:ea typeface="IBM Plex Sans" pitchFamily="34" charset="-122"/>
                <a:cs typeface="IBM Plex Sans" pitchFamily="34" charset="-120"/>
              </a:rPr>
              <a:t> Qwen3 8B · Pillow (</a:t>
            </a:r>
            <a:r>
              <a:rPr lang="en-US" sz="1400" dirty="0" err="1">
                <a:solidFill>
                  <a:srgbClr val="4A5568"/>
                </a:solidFill>
                <a:latin typeface="IBM Plex Sans" pitchFamily="34" charset="0"/>
                <a:ea typeface="IBM Plex Sans" pitchFamily="34" charset="-122"/>
                <a:cs typeface="IBM Plex Sans" pitchFamily="34" charset="-120"/>
              </a:rPr>
              <a:t>görüntü</a:t>
            </a:r>
            <a:r>
              <a:rPr lang="en-US" sz="1400" dirty="0">
                <a:solidFill>
                  <a:srgbClr val="4A5568"/>
                </a:solidFill>
                <a:latin typeface="IBM Plex Sans" pitchFamily="34" charset="0"/>
                <a:ea typeface="IBM Plex Sans" pitchFamily="34" charset="-122"/>
                <a:cs typeface="IBM Plex Sans" pitchFamily="34" charset="-120"/>
              </a:rPr>
              <a:t> </a:t>
            </a:r>
            <a:r>
              <a:rPr lang="en-US" sz="1400" dirty="0" err="1">
                <a:solidFill>
                  <a:srgbClr val="4A5568"/>
                </a:solidFill>
                <a:latin typeface="IBM Plex Sans" pitchFamily="34" charset="0"/>
                <a:ea typeface="IBM Plex Sans" pitchFamily="34" charset="-122"/>
                <a:cs typeface="IBM Plex Sans" pitchFamily="34" charset="-120"/>
              </a:rPr>
              <a:t>işleme</a:t>
            </a:r>
            <a:r>
              <a:rPr lang="en-US" sz="1400" dirty="0">
                <a:solidFill>
                  <a:srgbClr val="4A5568"/>
                </a:solidFill>
                <a:latin typeface="IBM Plex Sans" pitchFamily="34" charset="0"/>
                <a:ea typeface="IBM Plex Sans" pitchFamily="34" charset="-122"/>
                <a:cs typeface="IBM Plex Sans" pitchFamily="34" charset="-120"/>
              </a:rPr>
              <a:t>)</a:t>
            </a:r>
            <a:endParaRPr lang="en-US" sz="1400" dirty="0"/>
          </a:p>
        </p:txBody>
      </p:sp>
      <p:sp>
        <p:nvSpPr>
          <p:cNvPr id="5" name="Shape 3"/>
          <p:cNvSpPr/>
          <p:nvPr/>
        </p:nvSpPr>
        <p:spPr>
          <a:xfrm>
            <a:off x="815975" y="2233216"/>
            <a:ext cx="2292350" cy="1950000"/>
          </a:xfrm>
          <a:prstGeom prst="roundRect">
            <a:avLst>
              <a:gd name="adj" fmla="val 5737"/>
            </a:avLst>
          </a:prstGeom>
          <a:solidFill>
            <a:srgbClr val="FFFDF8"/>
          </a:solidFill>
          <a:ln w="6350">
            <a:solidFill>
              <a:srgbClr val="DDD7CA"/>
            </a:solidFill>
            <a:prstDash val="solid"/>
          </a:ln>
        </p:spPr>
        <p:txBody>
          <a:bodyPr/>
          <a:lstStyle/>
          <a:p>
            <a:endParaRPr lang="en-TR"/>
          </a:p>
        </p:txBody>
      </p:sp>
      <p:sp>
        <p:nvSpPr>
          <p:cNvPr id="6" name="Text 4"/>
          <p:cNvSpPr/>
          <p:nvPr/>
        </p:nvSpPr>
        <p:spPr>
          <a:xfrm>
            <a:off x="1022350" y="2439591"/>
            <a:ext cx="193598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84A14"/>
                </a:solidFill>
                <a:latin typeface="IBM Plex Mono" pitchFamily="49" charset="0"/>
                <a:ea typeface="IBM Plex Mono" pitchFamily="49" charset="-122"/>
                <a:cs typeface="IBM Plex Mono" pitchFamily="49" charset="-120"/>
              </a:rPr>
              <a:t>1</a:t>
            </a:r>
            <a:endParaRPr lang="en-US" sz="1200" dirty="0"/>
          </a:p>
        </p:txBody>
      </p:sp>
      <p:sp>
        <p:nvSpPr>
          <p:cNvPr id="7" name="Text 5"/>
          <p:cNvSpPr/>
          <p:nvPr/>
        </p:nvSpPr>
        <p:spPr>
          <a:xfrm>
            <a:off x="1022350" y="2729111"/>
            <a:ext cx="1935988"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Yükle</a:t>
            </a:r>
            <a:endParaRPr lang="en-US" sz="1600" dirty="0"/>
          </a:p>
        </p:txBody>
      </p:sp>
      <p:sp>
        <p:nvSpPr>
          <p:cNvPr id="8" name="Text 6"/>
          <p:cNvSpPr/>
          <p:nvPr/>
        </p:nvSpPr>
        <p:spPr>
          <a:xfrm>
            <a:off x="1022350" y="3049141"/>
            <a:ext cx="1935988"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Mevcut raporun .</a:t>
            </a:r>
            <a:r>
              <a:rPr lang="en-US" sz="1300" dirty="0" err="1">
                <a:solidFill>
                  <a:srgbClr val="4A5568"/>
                </a:solidFill>
                <a:latin typeface="IBM Plex Sans" pitchFamily="34" charset="0"/>
                <a:ea typeface="IBM Plex Sans" pitchFamily="34" charset="-122"/>
                <a:cs typeface="IBM Plex Sans" pitchFamily="34" charset="-120"/>
              </a:rPr>
              <a:t>pbit</a:t>
            </a:r>
            <a:r>
              <a:rPr lang="en-US" sz="1300" dirty="0">
                <a:solidFill>
                  <a:srgbClr val="4A5568"/>
                </a:solidFill>
                <a:latin typeface="IBM Plex Sans" pitchFamily="34" charset="0"/>
                <a:ea typeface="IBM Plex Sans" pitchFamily="34" charset="-122"/>
                <a:cs typeface="IBM Plex Sans" pitchFamily="34" charset="-120"/>
              </a:rPr>
              <a:t> </a:t>
            </a:r>
            <a:r>
              <a:rPr lang="en-US" sz="1300" dirty="0" err="1">
                <a:solidFill>
                  <a:srgbClr val="4A5568"/>
                </a:solidFill>
                <a:latin typeface="IBM Plex Sans" pitchFamily="34" charset="0"/>
                <a:ea typeface="IBM Plex Sans" pitchFamily="34" charset="-122"/>
                <a:cs typeface="IBM Plex Sans" pitchFamily="34" charset="-120"/>
              </a:rPr>
              <a:t>dosyası</a:t>
            </a:r>
            <a:r>
              <a:rPr lang="en-US" sz="1300" dirty="0">
                <a:solidFill>
                  <a:srgbClr val="4A5568"/>
                </a:solidFill>
                <a:latin typeface="IBM Plex Sans" pitchFamily="34" charset="0"/>
                <a:ea typeface="IBM Plex Sans" pitchFamily="34" charset="-122"/>
                <a:cs typeface="IBM Plex Sans" pitchFamily="34" charset="-120"/>
              </a:rPr>
              <a:t> </a:t>
            </a:r>
            <a:r>
              <a:rPr lang="en-US" sz="1300" dirty="0" err="1">
                <a:solidFill>
                  <a:srgbClr val="4A5568"/>
                </a:solidFill>
                <a:latin typeface="IBM Plex Sans" pitchFamily="34" charset="0"/>
                <a:ea typeface="IBM Plex Sans" pitchFamily="34" charset="-122"/>
                <a:cs typeface="IBM Plex Sans" pitchFamily="34" charset="-120"/>
              </a:rPr>
              <a:t>yüklenir</a:t>
            </a:r>
            <a:r>
              <a:rPr lang="en-US" sz="1300" dirty="0">
                <a:solidFill>
                  <a:srgbClr val="4A5568"/>
                </a:solidFill>
                <a:latin typeface="IBM Plex Sans" pitchFamily="34" charset="0"/>
                <a:ea typeface="IBM Plex Sans" pitchFamily="34" charset="-122"/>
                <a:cs typeface="IBM Plex Sans" pitchFamily="34" charset="-120"/>
              </a:rPr>
              <a:t>.</a:t>
            </a:r>
            <a:endParaRPr lang="en-US" sz="1300" dirty="0"/>
          </a:p>
        </p:txBody>
      </p:sp>
      <p:pic>
        <p:nvPicPr>
          <p:cNvPr id="9" name="Image 0" descr="arrow-right"/>
          <p:cNvPicPr>
            <a:picLocks noChangeAspect="1"/>
          </p:cNvPicPr>
          <p:nvPr/>
        </p:nvPicPr>
        <p:blipFill>
          <a:blip r:embed="rId3"/>
          <a:srcRect/>
          <a:stretch/>
        </p:blipFill>
        <p:spPr>
          <a:xfrm>
            <a:off x="3213100" y="3132016"/>
            <a:ext cx="254000" cy="152400"/>
          </a:xfrm>
          <a:prstGeom prst="rect">
            <a:avLst/>
          </a:prstGeom>
        </p:spPr>
      </p:pic>
      <p:sp>
        <p:nvSpPr>
          <p:cNvPr id="10" name="Shape 7"/>
          <p:cNvSpPr/>
          <p:nvPr/>
        </p:nvSpPr>
        <p:spPr>
          <a:xfrm>
            <a:off x="3571875" y="2233216"/>
            <a:ext cx="2292350" cy="1950000"/>
          </a:xfrm>
          <a:prstGeom prst="roundRect">
            <a:avLst>
              <a:gd name="adj" fmla="val 5737"/>
            </a:avLst>
          </a:prstGeom>
          <a:solidFill>
            <a:srgbClr val="FFFDF8"/>
          </a:solidFill>
          <a:ln w="6350">
            <a:solidFill>
              <a:srgbClr val="DDD7CA"/>
            </a:solidFill>
            <a:prstDash val="solid"/>
          </a:ln>
        </p:spPr>
        <p:txBody>
          <a:bodyPr/>
          <a:lstStyle/>
          <a:p>
            <a:endParaRPr lang="en-TR"/>
          </a:p>
        </p:txBody>
      </p:sp>
      <p:sp>
        <p:nvSpPr>
          <p:cNvPr id="11" name="Text 8"/>
          <p:cNvSpPr/>
          <p:nvPr/>
        </p:nvSpPr>
        <p:spPr>
          <a:xfrm>
            <a:off x="3778250" y="2439591"/>
            <a:ext cx="193598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84A14"/>
                </a:solidFill>
                <a:latin typeface="IBM Plex Mono" pitchFamily="49" charset="0"/>
                <a:ea typeface="IBM Plex Mono" pitchFamily="49" charset="-122"/>
                <a:cs typeface="IBM Plex Mono" pitchFamily="49" charset="-120"/>
              </a:rPr>
              <a:t>2</a:t>
            </a:r>
            <a:endParaRPr lang="en-US" sz="1200" dirty="0"/>
          </a:p>
        </p:txBody>
      </p:sp>
      <p:sp>
        <p:nvSpPr>
          <p:cNvPr id="12" name="Text 9"/>
          <p:cNvSpPr/>
          <p:nvPr/>
        </p:nvSpPr>
        <p:spPr>
          <a:xfrm>
            <a:off x="3778250" y="2729111"/>
            <a:ext cx="1935988"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Mod seç</a:t>
            </a:r>
            <a:endParaRPr lang="en-US" sz="1600" dirty="0"/>
          </a:p>
        </p:txBody>
      </p:sp>
      <p:sp>
        <p:nvSpPr>
          <p:cNvPr id="13" name="Text 10"/>
          <p:cNvSpPr/>
          <p:nvPr/>
        </p:nvSpPr>
        <p:spPr>
          <a:xfrm>
            <a:off x="3778250" y="3049141"/>
            <a:ext cx="1935988" cy="718790"/>
          </a:xfrm>
          <a:prstGeom prst="rect">
            <a:avLst/>
          </a:prstGeom>
          <a:noFill/>
          <a:ln/>
        </p:spPr>
        <p:txBody>
          <a:bodyPr wrap="square" lIns="0" tIns="0" rIns="0" bIns="0" rtlCol="0" anchor="t">
            <a:noAutofit/>
          </a:bodyPr>
          <a:lstStyle/>
          <a:p>
            <a:pPr marL="0" indent="0" algn="l">
              <a:lnSpc>
                <a:spcPts val="1820"/>
              </a:lnSpc>
              <a:buNone/>
            </a:pPr>
            <a:r>
              <a:rPr lang="en-US" sz="1300" dirty="0" err="1">
                <a:solidFill>
                  <a:srgbClr val="4A5568"/>
                </a:solidFill>
                <a:latin typeface="IBM Plex Sans" pitchFamily="34" charset="0"/>
                <a:ea typeface="IBM Plex Sans" pitchFamily="34" charset="-122"/>
                <a:cs typeface="IBM Plex Sans" pitchFamily="34" charset="-120"/>
              </a:rPr>
              <a:t>Rapor</a:t>
            </a:r>
            <a:r>
              <a:rPr lang="en-US" sz="1300" dirty="0">
                <a:solidFill>
                  <a:srgbClr val="4A5568"/>
                </a:solidFill>
                <a:latin typeface="IBM Plex Sans" pitchFamily="34" charset="0"/>
                <a:ea typeface="IBM Plex Sans" pitchFamily="34" charset="-122"/>
                <a:cs typeface="IBM Plex Sans" pitchFamily="34" charset="-120"/>
              </a:rPr>
              <a:t> </a:t>
            </a:r>
            <a:r>
              <a:rPr lang="en-US" sz="1300" dirty="0" err="1">
                <a:solidFill>
                  <a:srgbClr val="4A5568"/>
                </a:solidFill>
                <a:latin typeface="IBM Plex Sans" pitchFamily="34" charset="0"/>
                <a:ea typeface="IBM Plex Sans" pitchFamily="34" charset="-122"/>
                <a:cs typeface="IBM Plex Sans" pitchFamily="34" charset="-120"/>
              </a:rPr>
              <a:t>görselini</a:t>
            </a:r>
            <a:r>
              <a:rPr lang="en-US" sz="1300" dirty="0">
                <a:solidFill>
                  <a:srgbClr val="4A5568"/>
                </a:solidFill>
                <a:latin typeface="IBM Plex Sans" pitchFamily="34" charset="0"/>
                <a:ea typeface="IBM Plex Sans" pitchFamily="34" charset="-122"/>
                <a:cs typeface="IBM Plex Sans" pitchFamily="34" charset="-120"/>
              </a:rPr>
              <a:t> </a:t>
            </a:r>
            <a:r>
              <a:rPr lang="en-US" sz="1300" dirty="0" err="1">
                <a:solidFill>
                  <a:srgbClr val="4A5568"/>
                </a:solidFill>
                <a:latin typeface="IBM Plex Sans" pitchFamily="34" charset="0"/>
                <a:ea typeface="IBM Plex Sans" pitchFamily="34" charset="-122"/>
                <a:cs typeface="IBM Plex Sans" pitchFamily="34" charset="-120"/>
              </a:rPr>
              <a:t>iyileştir</a:t>
            </a:r>
            <a:r>
              <a:rPr lang="en-US" sz="1300" dirty="0">
                <a:solidFill>
                  <a:srgbClr val="4A5568"/>
                </a:solidFill>
                <a:latin typeface="IBM Plex Sans" pitchFamily="34" charset="0"/>
                <a:ea typeface="IBM Plex Sans" pitchFamily="34" charset="-122"/>
                <a:cs typeface="IBM Plex Sans" pitchFamily="34" charset="-120"/>
              </a:rPr>
              <a:t>, sıfırdan tasarla veya </a:t>
            </a:r>
            <a:r>
              <a:rPr lang="en-US" sz="1300" dirty="0" err="1">
                <a:solidFill>
                  <a:srgbClr val="4A5568"/>
                </a:solidFill>
                <a:latin typeface="IBM Plex Sans" pitchFamily="34" charset="0"/>
                <a:ea typeface="IBM Plex Sans" pitchFamily="34" charset="-122"/>
                <a:cs typeface="IBM Plex Sans" pitchFamily="34" charset="-120"/>
              </a:rPr>
              <a:t>örnek</a:t>
            </a:r>
            <a:r>
              <a:rPr lang="en-US" sz="1300" dirty="0">
                <a:solidFill>
                  <a:srgbClr val="4A5568"/>
                </a:solidFill>
                <a:latin typeface="IBM Plex Sans" pitchFamily="34" charset="0"/>
                <a:ea typeface="IBM Plex Sans" pitchFamily="34" charset="-122"/>
                <a:cs typeface="IBM Plex Sans" pitchFamily="34" charset="-120"/>
              </a:rPr>
              <a:t> </a:t>
            </a:r>
            <a:r>
              <a:rPr lang="en-US" sz="1300" dirty="0" err="1">
                <a:solidFill>
                  <a:srgbClr val="4A5568"/>
                </a:solidFill>
                <a:latin typeface="IBM Plex Sans" pitchFamily="34" charset="0"/>
                <a:ea typeface="IBM Plex Sans" pitchFamily="34" charset="-122"/>
                <a:cs typeface="IBM Plex Sans" pitchFamily="34" charset="-120"/>
              </a:rPr>
              <a:t>bir</a:t>
            </a:r>
            <a:r>
              <a:rPr lang="en-US" sz="1300" dirty="0">
                <a:solidFill>
                  <a:srgbClr val="4A5568"/>
                </a:solidFill>
                <a:latin typeface="IBM Plex Sans" pitchFamily="34" charset="0"/>
                <a:ea typeface="IBM Plex Sans" pitchFamily="34" charset="-122"/>
                <a:cs typeface="IBM Plex Sans" pitchFamily="34" charset="-120"/>
              </a:rPr>
              <a:t> </a:t>
            </a:r>
            <a:r>
              <a:rPr lang="en-US" sz="1300" dirty="0" err="1">
                <a:solidFill>
                  <a:srgbClr val="4A5568"/>
                </a:solidFill>
                <a:latin typeface="IBM Plex Sans" pitchFamily="34" charset="0"/>
                <a:ea typeface="IBM Plex Sans" pitchFamily="34" charset="-122"/>
                <a:cs typeface="IBM Plex Sans" pitchFamily="34" charset="-120"/>
              </a:rPr>
              <a:t>görsele</a:t>
            </a:r>
            <a:r>
              <a:rPr lang="en-US" sz="1300" dirty="0">
                <a:solidFill>
                  <a:srgbClr val="4A5568"/>
                </a:solidFill>
                <a:latin typeface="IBM Plex Sans" pitchFamily="34" charset="0"/>
                <a:ea typeface="IBM Plex Sans" pitchFamily="34" charset="-122"/>
                <a:cs typeface="IBM Plex Sans" pitchFamily="34" charset="-120"/>
              </a:rPr>
              <a:t> </a:t>
            </a:r>
            <a:r>
              <a:rPr lang="en-US" sz="1300" dirty="0" err="1">
                <a:solidFill>
                  <a:srgbClr val="4A5568"/>
                </a:solidFill>
                <a:latin typeface="IBM Plex Sans" pitchFamily="34" charset="0"/>
                <a:ea typeface="IBM Plex Sans" pitchFamily="34" charset="-122"/>
                <a:cs typeface="IBM Plex Sans" pitchFamily="34" charset="-120"/>
              </a:rPr>
              <a:t>uyarla</a:t>
            </a:r>
            <a:r>
              <a:rPr lang="en-US" sz="1300" dirty="0">
                <a:solidFill>
                  <a:srgbClr val="4A5568"/>
                </a:solidFill>
                <a:latin typeface="IBM Plex Sans" pitchFamily="34" charset="0"/>
                <a:ea typeface="IBM Plex Sans" pitchFamily="34" charset="-122"/>
                <a:cs typeface="IBM Plex Sans" pitchFamily="34" charset="-120"/>
              </a:rPr>
              <a:t>.</a:t>
            </a:r>
            <a:endParaRPr lang="en-US" sz="1300" dirty="0"/>
          </a:p>
        </p:txBody>
      </p:sp>
      <p:pic>
        <p:nvPicPr>
          <p:cNvPr id="14" name="Image 1" descr="arrow-right"/>
          <p:cNvPicPr>
            <a:picLocks noChangeAspect="1"/>
          </p:cNvPicPr>
          <p:nvPr/>
        </p:nvPicPr>
        <p:blipFill>
          <a:blip r:embed="rId3"/>
          <a:srcRect/>
          <a:stretch/>
        </p:blipFill>
        <p:spPr>
          <a:xfrm>
            <a:off x="5969000" y="3132016"/>
            <a:ext cx="254000" cy="152400"/>
          </a:xfrm>
          <a:prstGeom prst="rect">
            <a:avLst/>
          </a:prstGeom>
        </p:spPr>
      </p:pic>
      <p:sp>
        <p:nvSpPr>
          <p:cNvPr id="15" name="Shape 11"/>
          <p:cNvSpPr/>
          <p:nvPr/>
        </p:nvSpPr>
        <p:spPr>
          <a:xfrm>
            <a:off x="6327775" y="2233216"/>
            <a:ext cx="2292350" cy="1950000"/>
          </a:xfrm>
          <a:prstGeom prst="roundRect">
            <a:avLst>
              <a:gd name="adj" fmla="val 5737"/>
            </a:avLst>
          </a:prstGeom>
          <a:solidFill>
            <a:srgbClr val="FFFDF8"/>
          </a:solidFill>
          <a:ln w="6350">
            <a:solidFill>
              <a:srgbClr val="DDD7CA"/>
            </a:solidFill>
            <a:prstDash val="solid"/>
          </a:ln>
        </p:spPr>
        <p:txBody>
          <a:bodyPr/>
          <a:lstStyle/>
          <a:p>
            <a:endParaRPr lang="en-TR"/>
          </a:p>
        </p:txBody>
      </p:sp>
      <p:sp>
        <p:nvSpPr>
          <p:cNvPr id="16" name="Text 12"/>
          <p:cNvSpPr/>
          <p:nvPr/>
        </p:nvSpPr>
        <p:spPr>
          <a:xfrm>
            <a:off x="6534150" y="2439591"/>
            <a:ext cx="193598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84A14"/>
                </a:solidFill>
                <a:latin typeface="IBM Plex Mono" pitchFamily="49" charset="0"/>
                <a:ea typeface="IBM Plex Mono" pitchFamily="49" charset="-122"/>
                <a:cs typeface="IBM Plex Mono" pitchFamily="49" charset="-120"/>
              </a:rPr>
              <a:t>3</a:t>
            </a:r>
            <a:endParaRPr lang="en-US" sz="1200" dirty="0"/>
          </a:p>
        </p:txBody>
      </p:sp>
      <p:sp>
        <p:nvSpPr>
          <p:cNvPr id="17" name="Text 13"/>
          <p:cNvSpPr/>
          <p:nvPr/>
        </p:nvSpPr>
        <p:spPr>
          <a:xfrm>
            <a:off x="6534150" y="2729111"/>
            <a:ext cx="1935988"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AI uygular</a:t>
            </a:r>
            <a:endParaRPr lang="en-US" sz="1600" dirty="0"/>
          </a:p>
        </p:txBody>
      </p:sp>
      <p:sp>
        <p:nvSpPr>
          <p:cNvPr id="18" name="Text 14"/>
          <p:cNvSpPr/>
          <p:nvPr/>
        </p:nvSpPr>
        <p:spPr>
          <a:xfrm>
            <a:off x="6534150" y="3049141"/>
            <a:ext cx="1935988"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Renk, tipografi, yerleşim ve doğru grafik türü.</a:t>
            </a:r>
            <a:endParaRPr lang="en-US" sz="1300" dirty="0"/>
          </a:p>
        </p:txBody>
      </p:sp>
      <p:pic>
        <p:nvPicPr>
          <p:cNvPr id="19" name="Image 2" descr="arrow-right"/>
          <p:cNvPicPr>
            <a:picLocks noChangeAspect="1"/>
          </p:cNvPicPr>
          <p:nvPr/>
        </p:nvPicPr>
        <p:blipFill>
          <a:blip r:embed="rId3"/>
          <a:srcRect/>
          <a:stretch/>
        </p:blipFill>
        <p:spPr>
          <a:xfrm>
            <a:off x="8724900" y="3132016"/>
            <a:ext cx="254000" cy="152400"/>
          </a:xfrm>
          <a:prstGeom prst="rect">
            <a:avLst/>
          </a:prstGeom>
        </p:spPr>
      </p:pic>
      <p:sp>
        <p:nvSpPr>
          <p:cNvPr id="20" name="Shape 15"/>
          <p:cNvSpPr/>
          <p:nvPr/>
        </p:nvSpPr>
        <p:spPr>
          <a:xfrm>
            <a:off x="9083675" y="2233216"/>
            <a:ext cx="2292350" cy="1950000"/>
          </a:xfrm>
          <a:prstGeom prst="roundRect">
            <a:avLst>
              <a:gd name="adj" fmla="val 5737"/>
            </a:avLst>
          </a:prstGeom>
          <a:solidFill>
            <a:srgbClr val="FFFDF8"/>
          </a:solidFill>
          <a:ln w="6350">
            <a:solidFill>
              <a:srgbClr val="DDD7CA"/>
            </a:solidFill>
            <a:prstDash val="solid"/>
          </a:ln>
        </p:spPr>
        <p:txBody>
          <a:bodyPr/>
          <a:lstStyle/>
          <a:p>
            <a:endParaRPr lang="en-TR"/>
          </a:p>
        </p:txBody>
      </p:sp>
      <p:sp>
        <p:nvSpPr>
          <p:cNvPr id="21" name="Text 16"/>
          <p:cNvSpPr/>
          <p:nvPr/>
        </p:nvSpPr>
        <p:spPr>
          <a:xfrm>
            <a:off x="9290050" y="2439591"/>
            <a:ext cx="193598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84A14"/>
                </a:solidFill>
                <a:latin typeface="IBM Plex Mono" pitchFamily="49" charset="0"/>
                <a:ea typeface="IBM Plex Mono" pitchFamily="49" charset="-122"/>
                <a:cs typeface="IBM Plex Mono" pitchFamily="49" charset="-120"/>
              </a:rPr>
              <a:t>4</a:t>
            </a:r>
            <a:endParaRPr lang="en-US" sz="1200" dirty="0"/>
          </a:p>
        </p:txBody>
      </p:sp>
      <p:sp>
        <p:nvSpPr>
          <p:cNvPr id="22" name="Text 17"/>
          <p:cNvSpPr/>
          <p:nvPr/>
        </p:nvSpPr>
        <p:spPr>
          <a:xfrm>
            <a:off x="9290050" y="2729111"/>
            <a:ext cx="1935988"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Kontrol, indir</a:t>
            </a:r>
            <a:endParaRPr lang="en-US" sz="1600" dirty="0"/>
          </a:p>
        </p:txBody>
      </p:sp>
      <p:sp>
        <p:nvSpPr>
          <p:cNvPr id="23" name="Text 18"/>
          <p:cNvSpPr/>
          <p:nvPr/>
        </p:nvSpPr>
        <p:spPr>
          <a:xfrm>
            <a:off x="9290050" y="3049141"/>
            <a:ext cx="1935988" cy="718790"/>
          </a:xfrm>
          <a:prstGeom prst="rect">
            <a:avLst/>
          </a:prstGeom>
          <a:noFill/>
          <a:ln/>
        </p:spPr>
        <p:txBody>
          <a:bodyPr wrap="square" lIns="0" tIns="0" rIns="0" bIns="0" rtlCol="0" anchor="t">
            <a:no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Veri </a:t>
            </a:r>
            <a:r>
              <a:rPr lang="en-US" sz="1300" dirty="0" err="1">
                <a:solidFill>
                  <a:srgbClr val="4A5568"/>
                </a:solidFill>
                <a:latin typeface="IBM Plex Sans" pitchFamily="34" charset="0"/>
                <a:ea typeface="IBM Plex Sans" pitchFamily="34" charset="-122"/>
                <a:cs typeface="IBM Plex Sans" pitchFamily="34" charset="-120"/>
              </a:rPr>
              <a:t>modeli</a:t>
            </a:r>
            <a:r>
              <a:rPr lang="en-US" sz="1300" dirty="0">
                <a:solidFill>
                  <a:srgbClr val="4A5568"/>
                </a:solidFill>
                <a:latin typeface="IBM Plex Sans" pitchFamily="34" charset="0"/>
                <a:ea typeface="IBM Plex Sans" pitchFamily="34" charset="-122"/>
                <a:cs typeface="IBM Plex Sans" pitchFamily="34" charset="-120"/>
              </a:rPr>
              <a:t>, </a:t>
            </a:r>
            <a:r>
              <a:rPr lang="en-US" sz="1300" dirty="0" err="1">
                <a:solidFill>
                  <a:srgbClr val="4A5568"/>
                </a:solidFill>
                <a:latin typeface="IBM Plex Sans" pitchFamily="34" charset="0"/>
                <a:ea typeface="IBM Plex Sans" pitchFamily="34" charset="-122"/>
                <a:cs typeface="IBM Plex Sans" pitchFamily="34" charset="-120"/>
              </a:rPr>
              <a:t>ölçüler</a:t>
            </a:r>
            <a:r>
              <a:rPr lang="en-US" sz="1300" dirty="0">
                <a:solidFill>
                  <a:srgbClr val="4A5568"/>
                </a:solidFill>
                <a:latin typeface="IBM Plex Sans" pitchFamily="34" charset="0"/>
                <a:ea typeface="IBM Plex Sans" pitchFamily="34" charset="-122"/>
                <a:cs typeface="IBM Plex Sans" pitchFamily="34" charset="-120"/>
              </a:rPr>
              <a:t> ve </a:t>
            </a:r>
            <a:r>
              <a:rPr lang="en-US" sz="1300" dirty="0" err="1">
                <a:solidFill>
                  <a:srgbClr val="4A5568"/>
                </a:solidFill>
                <a:latin typeface="IBM Plex Sans" pitchFamily="34" charset="0"/>
                <a:ea typeface="IBM Plex Sans" pitchFamily="34" charset="-122"/>
                <a:cs typeface="IBM Plex Sans" pitchFamily="34" charset="-120"/>
              </a:rPr>
              <a:t>güvenlik</a:t>
            </a:r>
            <a:r>
              <a:rPr lang="en-US" sz="1300" dirty="0">
                <a:solidFill>
                  <a:srgbClr val="4A5568"/>
                </a:solidFill>
                <a:latin typeface="IBM Plex Sans" pitchFamily="34" charset="0"/>
                <a:ea typeface="IBM Plex Sans" pitchFamily="34" charset="-122"/>
                <a:cs typeface="IBM Plex Sans" pitchFamily="34" charset="-120"/>
              </a:rPr>
              <a:t> </a:t>
            </a:r>
            <a:r>
              <a:rPr lang="en-US" sz="1300" dirty="0" err="1">
                <a:solidFill>
                  <a:srgbClr val="4A5568"/>
                </a:solidFill>
                <a:latin typeface="IBM Plex Sans" pitchFamily="34" charset="0"/>
                <a:ea typeface="IBM Plex Sans" pitchFamily="34" charset="-122"/>
                <a:cs typeface="IBM Plex Sans" pitchFamily="34" charset="-120"/>
              </a:rPr>
              <a:t>kuralları</a:t>
            </a:r>
            <a:r>
              <a:rPr lang="en-US" sz="1300" dirty="0">
                <a:solidFill>
                  <a:srgbClr val="4A5568"/>
                </a:solidFill>
                <a:latin typeface="IBM Plex Sans" pitchFamily="34" charset="0"/>
                <a:ea typeface="IBM Plex Sans" pitchFamily="34" charset="-122"/>
                <a:cs typeface="IBM Plex Sans" pitchFamily="34" charset="-120"/>
              </a:rPr>
              <a:t> </a:t>
            </a:r>
            <a:r>
              <a:rPr lang="en-US" sz="1300" dirty="0" err="1">
                <a:solidFill>
                  <a:srgbClr val="4A5568"/>
                </a:solidFill>
                <a:latin typeface="IBM Plex Sans" pitchFamily="34" charset="0"/>
                <a:ea typeface="IBM Plex Sans" pitchFamily="34" charset="-122"/>
                <a:cs typeface="IBM Plex Sans" pitchFamily="34" charset="-120"/>
              </a:rPr>
              <a:t>korunuyor</a:t>
            </a:r>
            <a:r>
              <a:rPr lang="en-US" sz="1300" dirty="0">
                <a:solidFill>
                  <a:srgbClr val="4A5568"/>
                </a:solidFill>
                <a:latin typeface="IBM Plex Sans" pitchFamily="34" charset="0"/>
                <a:ea typeface="IBM Plex Sans" pitchFamily="34" charset="-122"/>
                <a:cs typeface="IBM Plex Sans" pitchFamily="34" charset="-120"/>
              </a:rPr>
              <a:t>.</a:t>
            </a:r>
            <a:endParaRPr lang="en-US" sz="1300" dirty="0"/>
          </a:p>
        </p:txBody>
      </p:sp>
      <p:sp>
        <p:nvSpPr>
          <p:cNvPr id="33" name="Text 28"/>
          <p:cNvSpPr/>
          <p:nvPr/>
        </p:nvSpPr>
        <p:spPr>
          <a:xfrm>
            <a:off x="812800" y="6238280"/>
            <a:ext cx="193839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AI Vibe Coding Projeleri</a:t>
            </a:r>
            <a:endParaRPr lang="en-US" sz="1200" dirty="0"/>
          </a:p>
        </p:txBody>
      </p:sp>
      <p:sp>
        <p:nvSpPr>
          <p:cNvPr id="34" name="Text 29"/>
          <p:cNvSpPr/>
          <p:nvPr/>
        </p:nvSpPr>
        <p:spPr>
          <a:xfrm>
            <a:off x="11145490" y="6238280"/>
            <a:ext cx="23371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4">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nSpc>
                <a:spcPts val="1680"/>
              </a:lnSpc>
            </a:pPr>
            <a:r>
              <a:rPr lang="en-US" sz="1200" kern="0" spc="100" dirty="0">
                <a:solidFill>
                  <a:srgbClr val="A84A14"/>
                </a:solidFill>
                <a:latin typeface="IBM Plex Mono" pitchFamily="49" charset="0"/>
                <a:ea typeface="IBM Plex Mono" pitchFamily="49" charset="-122"/>
                <a:cs typeface="IBM Plex Mono" pitchFamily="49" charset="-120"/>
              </a:rPr>
              <a:t>· ARAYÜZ ·</a:t>
            </a:r>
            <a:endParaRPr lang="en-US" sz="1200" dirty="0"/>
          </a:p>
        </p:txBody>
      </p:sp>
      <p:sp>
        <p:nvSpPr>
          <p:cNvPr id="3" name="Text 1"/>
          <p:cNvSpPr>
            <a:spLocks noGrp="1"/>
          </p:cNvSpPr>
          <p:nvPr>
            <p:ph type="title"/>
          </p:nvPr>
        </p:nvSpPr>
        <p:spPr>
          <a:xfrm>
            <a:off x="812800" y="11277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BI UX Designer</a:t>
            </a:r>
            <a:endParaRPr lang="en-US" sz="3200" dirty="0"/>
          </a:p>
        </p:txBody>
      </p:sp>
      <p:sp>
        <p:nvSpPr>
          <p:cNvPr id="33" name="Text 28"/>
          <p:cNvSpPr/>
          <p:nvPr/>
        </p:nvSpPr>
        <p:spPr>
          <a:xfrm>
            <a:off x="812800" y="6238280"/>
            <a:ext cx="193839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AI Vibe Coding Projeleri</a:t>
            </a:r>
            <a:endParaRPr lang="en-US" sz="1200" dirty="0"/>
          </a:p>
        </p:txBody>
      </p:sp>
      <p:sp>
        <p:nvSpPr>
          <p:cNvPr id="34" name="Text 29"/>
          <p:cNvSpPr/>
          <p:nvPr/>
        </p:nvSpPr>
        <p:spPr>
          <a:xfrm>
            <a:off x="11145490" y="6238280"/>
            <a:ext cx="23371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12</a:t>
            </a:r>
            <a:endParaRPr lang="en-US" sz="1200" dirty="0"/>
          </a:p>
        </p:txBody>
      </p:sp>
      <p:sp>
        <p:nvSpPr>
          <p:cNvPr id="300" name="Frame window"/>
          <p:cNvSpPr/>
          <p:nvPr/>
        </p:nvSpPr>
        <p:spPr>
          <a:xfrm>
            <a:off x="3021137" y="1830000"/>
            <a:ext cx="6466717" cy="3980000"/>
          </a:xfrm>
          <a:prstGeom prst="roundRect">
            <a:avLst>
              <a:gd name="adj" fmla="val 3500"/>
            </a:avLst>
          </a:prstGeom>
          <a:solidFill>
            <a:srgbClr val="14213D"/>
          </a:solidFill>
          <a:ln>
            <a:noFill/>
          </a:ln>
          <a:effectLst>
            <a:outerShdw blurRad="254000" dist="63500" dir="5400000" algn="t" rotWithShape="0">
              <a:srgbClr val="14213D">
                <a:alpha val="22000"/>
              </a:srgbClr>
            </a:outerShdw>
          </a:effectLst>
        </p:spPr>
        <p:txBody>
          <a:bodyPr/>
          <a:lstStyle/>
          <a:p>
            <a:endParaRPr lang="tr-TR"/>
          </a:p>
        </p:txBody>
      </p:sp>
      <p:sp>
        <p:nvSpPr>
          <p:cNvPr id="301" name="Frame dot 0"/>
          <p:cNvSpPr/>
          <p:nvPr/>
        </p:nvSpPr>
        <p:spPr>
          <a:xfrm>
            <a:off x="3191137" y="1927500"/>
            <a:ext cx="105000" cy="105000"/>
          </a:xfrm>
          <a:prstGeom prst="ellipse">
            <a:avLst/>
          </a:prstGeom>
          <a:solidFill>
            <a:srgbClr val="F59E5B"/>
          </a:solidFill>
          <a:ln>
            <a:noFill/>
          </a:ln>
        </p:spPr>
        <p:txBody>
          <a:bodyPr/>
          <a:lstStyle/>
          <a:p>
            <a:endParaRPr lang="tr-TR"/>
          </a:p>
        </p:txBody>
      </p:sp>
      <p:sp>
        <p:nvSpPr>
          <p:cNvPr id="302" name="Frame dot 1"/>
          <p:cNvSpPr/>
          <p:nvPr/>
        </p:nvSpPr>
        <p:spPr>
          <a:xfrm>
            <a:off x="3376137" y="1927500"/>
            <a:ext cx="105000" cy="105000"/>
          </a:xfrm>
          <a:prstGeom prst="ellipse">
            <a:avLst/>
          </a:prstGeom>
          <a:solidFill>
            <a:srgbClr val="C9D3E3"/>
          </a:solidFill>
          <a:ln>
            <a:noFill/>
          </a:ln>
        </p:spPr>
        <p:txBody>
          <a:bodyPr/>
          <a:lstStyle/>
          <a:p>
            <a:endParaRPr lang="tr-TR"/>
          </a:p>
        </p:txBody>
      </p:sp>
      <p:sp>
        <p:nvSpPr>
          <p:cNvPr id="303" name="Frame dot 2"/>
          <p:cNvSpPr/>
          <p:nvPr/>
        </p:nvSpPr>
        <p:spPr>
          <a:xfrm>
            <a:off x="3561137" y="1927500"/>
            <a:ext cx="105000" cy="105000"/>
          </a:xfrm>
          <a:prstGeom prst="ellipse">
            <a:avLst/>
          </a:prstGeom>
          <a:solidFill>
            <a:srgbClr val="5B6B8C"/>
          </a:solidFill>
          <a:ln>
            <a:noFill/>
          </a:ln>
        </p:spPr>
        <p:txBody>
          <a:bodyPr/>
          <a:lstStyle/>
          <a:p>
            <a:endParaRPr lang="tr-TR"/>
          </a:p>
        </p:txBody>
      </p:sp>
      <p:pic>
        <p:nvPicPr>
          <p:cNvPr id="100" name="Screenshot 100" descr="BI UX Designer arayüzü"/>
          <p:cNvPicPr>
            <a:picLocks noChangeAspect="1"/>
          </p:cNvPicPr>
          <p:nvPr/>
        </p:nvPicPr>
        <p:blipFill>
          <a:blip r:embed="rId2"/>
          <a:stretch>
            <a:fillRect/>
          </a:stretch>
        </p:blipFill>
        <p:spPr>
          <a:xfrm>
            <a:off x="3131137" y="2130000"/>
            <a:ext cx="6246717" cy="3570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6F4EF"/>
        </a:solidFill>
        <a:effectLst/>
      </p:bgPr>
    </p:bg>
    <p:spTree>
      <p:nvGrpSpPr>
        <p:cNvPr id="1" name=""/>
        <p:cNvGrpSpPr/>
        <p:nvPr/>
      </p:nvGrpSpPr>
      <p:grpSpPr>
        <a:xfrm>
          <a:off x="0" y="0"/>
          <a:ext cx="0" cy="0"/>
          <a:chOff x="0" y="0"/>
          <a:chExt cx="0" cy="0"/>
        </a:xfrm>
      </p:grpSpPr>
      <p:sp>
        <p:nvSpPr>
          <p:cNvPr id="2" name="Shape 0"/>
          <p:cNvSpPr/>
          <p:nvPr/>
        </p:nvSpPr>
        <p:spPr>
          <a:xfrm>
            <a:off x="812800" y="812800"/>
            <a:ext cx="3556000" cy="5029200"/>
          </a:xfrm>
          <a:prstGeom prst="roundRect">
            <a:avLst>
              <a:gd name="adj" fmla="val 4286"/>
            </a:avLst>
          </a:prstGeom>
          <a:solidFill>
            <a:srgbClr val="14213D"/>
          </a:solidFill>
          <a:ln/>
        </p:spPr>
        <p:txBody>
          <a:bodyPr/>
          <a:lstStyle/>
          <a:p>
            <a:endParaRPr lang="en-TR"/>
          </a:p>
        </p:txBody>
      </p:sp>
      <p:sp>
        <p:nvSpPr>
          <p:cNvPr id="4" name="Text 2"/>
          <p:cNvSpPr>
            <a:spLocks noGrp="1"/>
          </p:cNvSpPr>
          <p:nvPr>
            <p:ph type="title"/>
          </p:nvPr>
        </p:nvSpPr>
        <p:spPr>
          <a:xfrm>
            <a:off x="1168400" y="2557859"/>
            <a:ext cx="2930144" cy="103118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6F4EF"/>
                </a:solidFill>
                <a:latin typeface="IBM Plex Sans" pitchFamily="34" charset="0"/>
                <a:ea typeface="IBM Plex Sans" pitchFamily="34" charset="-122"/>
                <a:cs typeface="IBM Plex Sans" pitchFamily="34" charset="-120"/>
              </a:rPr>
              <a:t>LLM Destekli</a:t>
            </a:r>
            <a:endParaRPr lang="en-US" sz="3600" dirty="0"/>
          </a:p>
          <a:p>
            <a:pPr marL="0" indent="0" algn="l">
              <a:lnSpc>
                <a:spcPts val="3960"/>
              </a:lnSpc>
              <a:buNone/>
            </a:pPr>
            <a:r>
              <a:rPr lang="en-US" sz="3600" b="1" i="0" dirty="0">
                <a:solidFill>
                  <a:srgbClr val="F6F4EF"/>
                </a:solidFill>
                <a:latin typeface="IBM Plex Sans" pitchFamily="34" charset="0"/>
                <a:ea typeface="IBM Plex Sans" pitchFamily="34" charset="-122"/>
                <a:cs typeface="IBM Plex Sans" pitchFamily="34" charset="-120"/>
              </a:rPr>
              <a:t>BI Paneli</a:t>
            </a:r>
            <a:endParaRPr lang="en-US" sz="3600" dirty="0"/>
          </a:p>
        </p:txBody>
      </p:sp>
      <p:sp>
        <p:nvSpPr>
          <p:cNvPr id="5" name="Text 3"/>
          <p:cNvSpPr/>
          <p:nvPr/>
        </p:nvSpPr>
        <p:spPr>
          <a:xfrm>
            <a:off x="1168400" y="4511800"/>
            <a:ext cx="2930144" cy="1000000"/>
          </a:xfrm>
          <a:prstGeom prst="rect">
            <a:avLst/>
          </a:prstGeom>
          <a:noFill/>
          <a:ln/>
        </p:spPr>
        <p:txBody>
          <a:bodyPr wrap="square" lIns="0" tIns="0" rIns="0" bIns="0" rtlCol="0" anchor="b">
            <a:normAutofit/>
          </a:bodyPr>
          <a:lstStyle/>
          <a:p>
            <a:pPr marL="0" indent="0" algn="l">
              <a:lnSpc>
                <a:spcPts val="1960"/>
              </a:lnSpc>
              <a:buNone/>
            </a:pPr>
            <a:r>
              <a:rPr lang="en-US" sz="1400" dirty="0">
                <a:solidFill>
                  <a:srgbClr val="C9D3E3"/>
                </a:solidFill>
                <a:latin typeface="IBM Plex Sans" pitchFamily="34" charset="0"/>
                <a:ea typeface="IBM Plex Sans" pitchFamily="34" charset="-122"/>
                <a:cs typeface="IBM Plex Sans" pitchFamily="34" charset="-120"/>
              </a:rPr>
              <a:t>Doğal dilde </a:t>
            </a:r>
            <a:r>
              <a:rPr lang="en-US" sz="1400" dirty="0" err="1">
                <a:solidFill>
                  <a:srgbClr val="C9D3E3"/>
                </a:solidFill>
                <a:latin typeface="IBM Plex Sans" pitchFamily="34" charset="0"/>
                <a:ea typeface="IBM Plex Sans" pitchFamily="34" charset="-122"/>
                <a:cs typeface="IBM Plex Sans" pitchFamily="34" charset="-120"/>
              </a:rPr>
              <a:t>sorulan</a:t>
            </a:r>
            <a:r>
              <a:rPr lang="en-US" sz="1400" dirty="0">
                <a:solidFill>
                  <a:srgbClr val="C9D3E3"/>
                </a:solidFill>
                <a:latin typeface="IBM Plex Sans" pitchFamily="34" charset="0"/>
                <a:ea typeface="IBM Plex Sans" pitchFamily="34" charset="-122"/>
                <a:cs typeface="IBM Plex Sans" pitchFamily="34" charset="-120"/>
              </a:rPr>
              <a:t> </a:t>
            </a:r>
            <a:r>
              <a:rPr lang="en-US" sz="1400" dirty="0" err="1">
                <a:solidFill>
                  <a:srgbClr val="C9D3E3"/>
                </a:solidFill>
                <a:latin typeface="IBM Plex Sans" pitchFamily="34" charset="0"/>
                <a:ea typeface="IBM Plex Sans" pitchFamily="34" charset="-122"/>
                <a:cs typeface="IBM Plex Sans" pitchFamily="34" charset="-120"/>
              </a:rPr>
              <a:t>soruyu</a:t>
            </a:r>
            <a:r>
              <a:rPr lang="en-US" sz="1400" dirty="0">
                <a:solidFill>
                  <a:srgbClr val="C9D3E3"/>
                </a:solidFill>
                <a:latin typeface="IBM Plex Sans" pitchFamily="34" charset="0"/>
                <a:ea typeface="IBM Plex Sans" pitchFamily="34" charset="-122"/>
                <a:cs typeface="IBM Plex Sans" pitchFamily="34" charset="-120"/>
              </a:rPr>
              <a:t> </a:t>
            </a:r>
            <a:r>
              <a:rPr lang="en-US" sz="1400" dirty="0" err="1">
                <a:solidFill>
                  <a:srgbClr val="C9D3E3"/>
                </a:solidFill>
                <a:latin typeface="IBM Plex Sans" pitchFamily="34" charset="0"/>
                <a:ea typeface="IBM Plex Sans" pitchFamily="34" charset="-122"/>
                <a:cs typeface="IBM Plex Sans" pitchFamily="34" charset="-120"/>
              </a:rPr>
              <a:t>dashboard'a</a:t>
            </a:r>
            <a:r>
              <a:rPr lang="en-US" sz="1400" dirty="0">
                <a:solidFill>
                  <a:srgbClr val="C9D3E3"/>
                </a:solidFill>
                <a:latin typeface="IBM Plex Sans" pitchFamily="34" charset="0"/>
                <a:ea typeface="IBM Plex Sans" pitchFamily="34" charset="-122"/>
                <a:cs typeface="IBM Plex Sans" pitchFamily="34" charset="-120"/>
              </a:rPr>
              <a:t> </a:t>
            </a:r>
            <a:r>
              <a:rPr lang="en-US" sz="1400" dirty="0" err="1">
                <a:solidFill>
                  <a:srgbClr val="C9D3E3"/>
                </a:solidFill>
                <a:latin typeface="IBM Plex Sans" pitchFamily="34" charset="0"/>
                <a:ea typeface="IBM Plex Sans" pitchFamily="34" charset="-122"/>
                <a:cs typeface="IBM Plex Sans" pitchFamily="34" charset="-120"/>
              </a:rPr>
              <a:t>çeviren</a:t>
            </a:r>
            <a:r>
              <a:rPr lang="en-US" sz="1400" dirty="0">
                <a:solidFill>
                  <a:srgbClr val="C9D3E3"/>
                </a:solidFill>
                <a:latin typeface="IBM Plex Sans" pitchFamily="34" charset="0"/>
                <a:ea typeface="IBM Plex Sans" pitchFamily="34" charset="-122"/>
                <a:cs typeface="IBM Plex Sans" pitchFamily="34" charset="-120"/>
              </a:rPr>
              <a:t> </a:t>
            </a:r>
            <a:r>
              <a:rPr lang="en-US" sz="1400" dirty="0" err="1">
                <a:solidFill>
                  <a:srgbClr val="C9D3E3"/>
                </a:solidFill>
                <a:latin typeface="IBM Plex Sans" pitchFamily="34" charset="0"/>
                <a:ea typeface="IBM Plex Sans" pitchFamily="34" charset="-122"/>
                <a:cs typeface="IBM Plex Sans" pitchFamily="34" charset="-120"/>
              </a:rPr>
              <a:t>bir</a:t>
            </a:r>
            <a:r>
              <a:rPr lang="en-US" sz="1400" dirty="0">
                <a:solidFill>
                  <a:srgbClr val="C9D3E3"/>
                </a:solidFill>
                <a:latin typeface="IBM Plex Sans" pitchFamily="34" charset="0"/>
                <a:ea typeface="IBM Plex Sans" pitchFamily="34" charset="-122"/>
                <a:cs typeface="IBM Plex Sans" pitchFamily="34" charset="-120"/>
              </a:rPr>
              <a:t> AI </a:t>
            </a:r>
            <a:r>
              <a:rPr lang="en-US" sz="1400" dirty="0" err="1">
                <a:solidFill>
                  <a:srgbClr val="C9D3E3"/>
                </a:solidFill>
                <a:latin typeface="IBM Plex Sans" pitchFamily="34" charset="0"/>
                <a:ea typeface="IBM Plex Sans" pitchFamily="34" charset="-122"/>
                <a:cs typeface="IBM Plex Sans" pitchFamily="34" charset="-120"/>
              </a:rPr>
              <a:t>görselleştirme</a:t>
            </a:r>
            <a:r>
              <a:rPr lang="en-US" sz="1400" dirty="0">
                <a:solidFill>
                  <a:srgbClr val="C9D3E3"/>
                </a:solidFill>
                <a:latin typeface="IBM Plex Sans" pitchFamily="34" charset="0"/>
                <a:ea typeface="IBM Plex Sans" pitchFamily="34" charset="-122"/>
                <a:cs typeface="IBM Plex Sans" pitchFamily="34" charset="-120"/>
              </a:rPr>
              <a:t> </a:t>
            </a:r>
            <a:r>
              <a:rPr lang="en-US" sz="1400" dirty="0" err="1">
                <a:solidFill>
                  <a:srgbClr val="C9D3E3"/>
                </a:solidFill>
                <a:latin typeface="IBM Plex Sans" pitchFamily="34" charset="0"/>
                <a:ea typeface="IBM Plex Sans" pitchFamily="34" charset="-122"/>
                <a:cs typeface="IBM Plex Sans" pitchFamily="34" charset="-120"/>
              </a:rPr>
              <a:t>aracı</a:t>
            </a:r>
            <a:endParaRPr lang="en-US" sz="1400" dirty="0"/>
          </a:p>
        </p:txBody>
      </p:sp>
      <p:sp>
        <p:nvSpPr>
          <p:cNvPr id="6" name="Text 4"/>
          <p:cNvSpPr/>
          <p:nvPr/>
        </p:nvSpPr>
        <p:spPr>
          <a:xfrm>
            <a:off x="4826000" y="1630000"/>
            <a:ext cx="6749796"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A84A14"/>
                </a:solidFill>
                <a:latin typeface="IBM Plex Mono" pitchFamily="49" charset="0"/>
                <a:ea typeface="IBM Plex Mono" pitchFamily="49" charset="-122"/>
                <a:cs typeface="IBM Plex Mono" pitchFamily="49" charset="-120"/>
              </a:rPr>
              <a:t>PROBLEM</a:t>
            </a:r>
            <a:endParaRPr lang="en-US" sz="1200" dirty="0"/>
          </a:p>
        </p:txBody>
      </p:sp>
      <p:sp>
        <p:nvSpPr>
          <p:cNvPr id="7" name="Text 5"/>
          <p:cNvSpPr/>
          <p:nvPr/>
        </p:nvSpPr>
        <p:spPr>
          <a:xfrm>
            <a:off x="4826000" y="1970000"/>
            <a:ext cx="6749796" cy="1280160"/>
          </a:xfrm>
          <a:prstGeom prst="rect">
            <a:avLst/>
          </a:prstGeom>
          <a:noFill/>
          <a:ln/>
        </p:spPr>
        <p:txBody>
          <a:bodyPr wrap="square" lIns="0" tIns="0" rIns="0" bIns="0" rtlCol="0" anchor="t">
            <a:normAutofit/>
          </a:bodyPr>
          <a:lstStyle/>
          <a:p>
            <a:pPr marL="0" indent="0" algn="l">
              <a:lnSpc>
                <a:spcPts val="2520"/>
              </a:lnSpc>
              <a:buNone/>
            </a:pPr>
            <a:r>
              <a:rPr lang="tr-TR" sz="1800" dirty="0">
                <a:solidFill>
                  <a:srgbClr val="14213D"/>
                </a:solidFill>
                <a:latin typeface="IBM Plex Sans" pitchFamily="34" charset="0"/>
                <a:ea typeface="IBM Plex Sans" pitchFamily="34" charset="-122"/>
                <a:cs typeface="IBM Plex Sans" pitchFamily="34" charset="-120"/>
              </a:rPr>
              <a:t>İş birimlerinin her yeni sorusu bir rapor talebine dönüşüyor. Basit bir kırılımı görmek için bile yeni </a:t>
            </a:r>
            <a:r>
              <a:rPr lang="tr-TR" sz="1800" dirty="0" err="1">
                <a:solidFill>
                  <a:srgbClr val="14213D"/>
                </a:solidFill>
                <a:latin typeface="IBM Plex Sans" pitchFamily="34" charset="0"/>
                <a:ea typeface="IBM Plex Sans" pitchFamily="34" charset="-122"/>
                <a:cs typeface="IBM Plex Sans" pitchFamily="34" charset="-120"/>
              </a:rPr>
              <a:t>bir</a:t>
            </a:r>
            <a:r>
              <a:rPr lang="tr-TR" sz="1800" dirty="0">
                <a:solidFill>
                  <a:srgbClr val="14213D"/>
                </a:solidFill>
                <a:latin typeface="IBM Plex Sans" pitchFamily="34" charset="0"/>
                <a:ea typeface="IBM Plex Sans" pitchFamily="34" charset="-122"/>
                <a:cs typeface="IBM Plex Sans" pitchFamily="34" charset="-120"/>
              </a:rPr>
              <a:t> </a:t>
            </a:r>
            <a:r>
              <a:rPr lang="tr-TR" sz="1800" dirty="0" err="1">
                <a:solidFill>
                  <a:srgbClr val="14213D"/>
                </a:solidFill>
                <a:latin typeface="IBM Plex Sans" pitchFamily="34" charset="0"/>
                <a:ea typeface="IBM Plex Sans" pitchFamily="34" charset="-122"/>
                <a:cs typeface="IBM Plex Sans" pitchFamily="34" charset="-120"/>
              </a:rPr>
              <a:t>rapor</a:t>
            </a:r>
            <a:r>
              <a:rPr lang="tr-TR" sz="1800" dirty="0">
                <a:solidFill>
                  <a:srgbClr val="14213D"/>
                </a:solidFill>
                <a:latin typeface="IBM Plex Sans" pitchFamily="34" charset="0"/>
                <a:ea typeface="IBM Plex Sans" pitchFamily="34" charset="-122"/>
                <a:cs typeface="IBM Plex Sans" pitchFamily="34" charset="-120"/>
              </a:rPr>
              <a:t> </a:t>
            </a:r>
            <a:r>
              <a:rPr lang="tr-TR" sz="1800" dirty="0" err="1">
                <a:solidFill>
                  <a:srgbClr val="14213D"/>
                </a:solidFill>
                <a:latin typeface="IBM Plex Sans" pitchFamily="34" charset="0"/>
                <a:ea typeface="IBM Plex Sans" pitchFamily="34" charset="-122"/>
                <a:cs typeface="IBM Plex Sans" pitchFamily="34" charset="-120"/>
              </a:rPr>
              <a:t>sayfası</a:t>
            </a:r>
            <a:r>
              <a:rPr lang="tr-TR" sz="1800" dirty="0">
                <a:solidFill>
                  <a:srgbClr val="14213D"/>
                </a:solidFill>
                <a:latin typeface="IBM Plex Sans" pitchFamily="34" charset="0"/>
                <a:ea typeface="IBM Plex Sans" pitchFamily="34" charset="-122"/>
                <a:cs typeface="IBM Plex Sans" pitchFamily="34" charset="-120"/>
              </a:rPr>
              <a:t> </a:t>
            </a:r>
            <a:r>
              <a:rPr lang="tr-TR" sz="1800" dirty="0" err="1">
                <a:solidFill>
                  <a:srgbClr val="14213D"/>
                </a:solidFill>
                <a:latin typeface="IBM Plex Sans" pitchFamily="34" charset="0"/>
                <a:ea typeface="IBM Plex Sans" pitchFamily="34" charset="-122"/>
                <a:cs typeface="IBM Plex Sans" pitchFamily="34" charset="-120"/>
              </a:rPr>
              <a:t>gerekiyor</a:t>
            </a:r>
            <a:r>
              <a:rPr lang="tr-TR" sz="1800" dirty="0">
                <a:solidFill>
                  <a:srgbClr val="14213D"/>
                </a:solidFill>
                <a:latin typeface="IBM Plex Sans" pitchFamily="34" charset="0"/>
                <a:ea typeface="IBM Plex Sans" pitchFamily="34" charset="-122"/>
                <a:cs typeface="IBM Plex Sans" pitchFamily="34" charset="-120"/>
              </a:rPr>
              <a:t>; Power </a:t>
            </a:r>
            <a:r>
              <a:rPr lang="tr-TR" sz="1800" dirty="0" err="1">
                <a:solidFill>
                  <a:srgbClr val="14213D"/>
                </a:solidFill>
                <a:latin typeface="IBM Plex Sans" pitchFamily="34" charset="0"/>
                <a:ea typeface="IBM Plex Sans" pitchFamily="34" charset="-122"/>
                <a:cs typeface="IBM Plex Sans" pitchFamily="34" charset="-120"/>
              </a:rPr>
              <a:t>BI’dan</a:t>
            </a:r>
            <a:r>
              <a:rPr lang="tr-TR" sz="1800" dirty="0">
                <a:solidFill>
                  <a:srgbClr val="14213D"/>
                </a:solidFill>
                <a:latin typeface="IBM Plex Sans" pitchFamily="34" charset="0"/>
                <a:ea typeface="IBM Plex Sans" pitchFamily="34" charset="-122"/>
                <a:cs typeface="IBM Plex Sans" pitchFamily="34" charset="-120"/>
              </a:rPr>
              <a:t> </a:t>
            </a:r>
            <a:r>
              <a:rPr lang="tr-TR" sz="1800" dirty="0" err="1">
                <a:solidFill>
                  <a:srgbClr val="14213D"/>
                </a:solidFill>
                <a:latin typeface="IBM Plex Sans" pitchFamily="34" charset="0"/>
                <a:ea typeface="IBM Plex Sans" pitchFamily="34" charset="-122"/>
                <a:cs typeface="IBM Plex Sans" pitchFamily="34" charset="-120"/>
              </a:rPr>
              <a:t>bağımsız</a:t>
            </a:r>
            <a:r>
              <a:rPr lang="tr-TR" sz="1800" dirty="0">
                <a:solidFill>
                  <a:srgbClr val="14213D"/>
                </a:solidFill>
                <a:latin typeface="IBM Plex Sans" pitchFamily="34" charset="0"/>
                <a:ea typeface="IBM Plex Sans" pitchFamily="34" charset="-122"/>
                <a:cs typeface="IBM Plex Sans" pitchFamily="34" charset="-120"/>
              </a:rPr>
              <a:t>, </a:t>
            </a:r>
            <a:r>
              <a:rPr lang="tr-TR" sz="1800" dirty="0" err="1">
                <a:solidFill>
                  <a:srgbClr val="14213D"/>
                </a:solidFill>
                <a:latin typeface="IBM Plex Sans" pitchFamily="34" charset="0"/>
                <a:ea typeface="IBM Plex Sans" pitchFamily="34" charset="-122"/>
                <a:cs typeface="IBM Plex Sans" pitchFamily="34" charset="-120"/>
              </a:rPr>
              <a:t>soru</a:t>
            </a:r>
            <a:r>
              <a:rPr lang="tr-TR" sz="1800" dirty="0">
                <a:solidFill>
                  <a:srgbClr val="14213D"/>
                </a:solidFill>
                <a:latin typeface="IBM Plex Sans" pitchFamily="34" charset="0"/>
                <a:ea typeface="IBM Plex Sans" pitchFamily="34" charset="-122"/>
                <a:cs typeface="IBM Plex Sans" pitchFamily="34" charset="-120"/>
              </a:rPr>
              <a:t> </a:t>
            </a:r>
            <a:r>
              <a:rPr lang="tr-TR" sz="1800" dirty="0" err="1">
                <a:solidFill>
                  <a:srgbClr val="14213D"/>
                </a:solidFill>
                <a:latin typeface="IBM Plex Sans" pitchFamily="34" charset="0"/>
                <a:ea typeface="IBM Plex Sans" pitchFamily="34" charset="-122"/>
                <a:cs typeface="IBM Plex Sans" pitchFamily="34" charset="-120"/>
              </a:rPr>
              <a:t>odaklı</a:t>
            </a:r>
            <a:r>
              <a:rPr lang="tr-TR" sz="1800" dirty="0">
                <a:solidFill>
                  <a:srgbClr val="14213D"/>
                </a:solidFill>
                <a:latin typeface="IBM Plex Sans" pitchFamily="34" charset="0"/>
                <a:ea typeface="IBM Plex Sans" pitchFamily="34" charset="-122"/>
                <a:cs typeface="IBM Plex Sans" pitchFamily="34" charset="-120"/>
              </a:rPr>
              <a:t> </a:t>
            </a:r>
            <a:r>
              <a:rPr lang="tr-TR" sz="1800" dirty="0" err="1">
                <a:solidFill>
                  <a:srgbClr val="14213D"/>
                </a:solidFill>
                <a:latin typeface="IBM Plex Sans" pitchFamily="34" charset="0"/>
                <a:ea typeface="IBM Plex Sans" pitchFamily="34" charset="-122"/>
                <a:cs typeface="IBM Plex Sans" pitchFamily="34" charset="-120"/>
              </a:rPr>
              <a:t>bir</a:t>
            </a:r>
            <a:r>
              <a:rPr lang="tr-TR" sz="1800" dirty="0">
                <a:solidFill>
                  <a:srgbClr val="14213D"/>
                </a:solidFill>
                <a:latin typeface="IBM Plex Sans" pitchFamily="34" charset="0"/>
                <a:ea typeface="IBM Plex Sans" pitchFamily="34" charset="-122"/>
                <a:cs typeface="IBM Plex Sans" pitchFamily="34" charset="-120"/>
              </a:rPr>
              <a:t> </a:t>
            </a:r>
            <a:r>
              <a:rPr lang="tr-TR" sz="1800" dirty="0" err="1">
                <a:solidFill>
                  <a:srgbClr val="14213D"/>
                </a:solidFill>
                <a:latin typeface="IBM Plex Sans" pitchFamily="34" charset="0"/>
                <a:ea typeface="IBM Plex Sans" pitchFamily="34" charset="-122"/>
                <a:cs typeface="IBM Plex Sans" pitchFamily="34" charset="-120"/>
              </a:rPr>
              <a:t>analiz</a:t>
            </a:r>
            <a:r>
              <a:rPr lang="tr-TR" sz="1800" dirty="0">
                <a:solidFill>
                  <a:srgbClr val="14213D"/>
                </a:solidFill>
                <a:latin typeface="IBM Plex Sans" pitchFamily="34" charset="0"/>
                <a:ea typeface="IBM Plex Sans" pitchFamily="34" charset="-122"/>
                <a:cs typeface="IBM Plex Sans" pitchFamily="34" charset="-120"/>
              </a:rPr>
              <a:t> </a:t>
            </a:r>
            <a:r>
              <a:rPr lang="tr-TR" sz="1800" dirty="0" err="1">
                <a:solidFill>
                  <a:srgbClr val="14213D"/>
                </a:solidFill>
                <a:latin typeface="IBM Plex Sans" pitchFamily="34" charset="0"/>
                <a:ea typeface="IBM Plex Sans" pitchFamily="34" charset="-122"/>
                <a:cs typeface="IBM Plex Sans" pitchFamily="34" charset="-120"/>
              </a:rPr>
              <a:t>ortamı</a:t>
            </a:r>
            <a:r>
              <a:rPr lang="tr-TR" sz="1800" dirty="0">
                <a:solidFill>
                  <a:srgbClr val="14213D"/>
                </a:solidFill>
                <a:latin typeface="IBM Plex Sans" pitchFamily="34" charset="0"/>
                <a:ea typeface="IBM Plex Sans" pitchFamily="34" charset="-122"/>
                <a:cs typeface="IBM Plex Sans" pitchFamily="34" charset="-120"/>
              </a:rPr>
              <a:t> </a:t>
            </a:r>
            <a:r>
              <a:rPr lang="tr-TR" sz="1800" dirty="0" err="1">
                <a:solidFill>
                  <a:srgbClr val="14213D"/>
                </a:solidFill>
                <a:latin typeface="IBM Plex Sans" pitchFamily="34" charset="0"/>
                <a:ea typeface="IBM Plex Sans" pitchFamily="34" charset="-122"/>
                <a:cs typeface="IBM Plex Sans" pitchFamily="34" charset="-120"/>
              </a:rPr>
              <a:t>bulunmuyor</a:t>
            </a:r>
            <a:r>
              <a:rPr lang="tr-TR" sz="1800" dirty="0">
                <a:solidFill>
                  <a:srgbClr val="14213D"/>
                </a:solidFill>
                <a:latin typeface="IBM Plex Sans" pitchFamily="34" charset="0"/>
                <a:ea typeface="IBM Plex Sans" pitchFamily="34" charset="-122"/>
                <a:cs typeface="IBM Plex Sans" pitchFamily="34" charset="-120"/>
              </a:rPr>
              <a:t>.</a:t>
            </a:r>
            <a:endParaRPr lang="en-US" sz="1800" dirty="0"/>
          </a:p>
        </p:txBody>
      </p:sp>
      <p:pic>
        <p:nvPicPr>
          <p:cNvPr id="8" name="Image 0" descr="line"/>
          <p:cNvPicPr>
            <a:picLocks noChangeAspect="1"/>
          </p:cNvPicPr>
          <p:nvPr/>
        </p:nvPicPr>
        <p:blipFill>
          <a:blip r:embed="rId3"/>
          <a:srcRect/>
          <a:stretch/>
        </p:blipFill>
        <p:spPr>
          <a:xfrm>
            <a:off x="4826000" y="3530000"/>
            <a:ext cx="6749796" cy="12700"/>
          </a:xfrm>
          <a:prstGeom prst="rect">
            <a:avLst/>
          </a:prstGeom>
        </p:spPr>
      </p:pic>
      <p:sp>
        <p:nvSpPr>
          <p:cNvPr id="9" name="Text 6"/>
          <p:cNvSpPr/>
          <p:nvPr/>
        </p:nvSpPr>
        <p:spPr>
          <a:xfrm>
            <a:off x="4826000" y="3770000"/>
            <a:ext cx="6749796"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A84A14"/>
                </a:solidFill>
                <a:latin typeface="IBM Plex Mono" pitchFamily="49" charset="0"/>
                <a:ea typeface="IBM Plex Mono" pitchFamily="49" charset="-122"/>
                <a:cs typeface="IBM Plex Mono" pitchFamily="49" charset="-120"/>
              </a:rPr>
              <a:t>NE AMAÇLIYOR</a:t>
            </a:r>
            <a:endParaRPr lang="en-US" sz="1200" dirty="0"/>
          </a:p>
        </p:txBody>
      </p:sp>
      <p:sp>
        <p:nvSpPr>
          <p:cNvPr id="10" name="Text 7"/>
          <p:cNvSpPr/>
          <p:nvPr/>
        </p:nvSpPr>
        <p:spPr>
          <a:xfrm>
            <a:off x="4897120" y="4110000"/>
            <a:ext cx="6671056" cy="1151391"/>
          </a:xfrm>
          <a:prstGeom prst="rect">
            <a:avLst/>
          </a:prstGeom>
          <a:noFill/>
          <a:ln/>
        </p:spPr>
        <p:txBody>
          <a:bodyPr wrap="square" lIns="0" tIns="0" rIns="0" bIns="0" rtlCol="0" anchor="t">
            <a:normAutofit/>
          </a:bodyPr>
          <a:lstStyle/>
          <a:p>
            <a:pPr marL="182880" indent="-182880" algn="l">
              <a:lnSpc>
                <a:spcPts val="2175"/>
              </a:lnSpc>
              <a:buSzPct val="100000"/>
              <a:buChar char="•"/>
            </a:pPr>
            <a:r>
              <a:rPr lang="tr-TR" sz="1500" dirty="0">
                <a:solidFill>
                  <a:srgbClr val="4A5568"/>
                </a:solidFill>
                <a:latin typeface="IBM Plex Sans" pitchFamily="34" charset="0"/>
                <a:ea typeface="IBM Plex Sans" pitchFamily="34" charset="-122"/>
                <a:cs typeface="IBM Plex Sans" pitchFamily="34" charset="-120"/>
              </a:rPr>
              <a:t>Soruyu doğal dille sorup cevabını grafiğiyle birlikte almak</a:t>
            </a:r>
            <a:endParaRPr lang="en-US" sz="1500" dirty="0"/>
          </a:p>
          <a:p>
            <a:pPr marL="182880" indent="-182880" algn="l">
              <a:lnSpc>
                <a:spcPts val="2175"/>
              </a:lnSpc>
              <a:buSzPct val="100000"/>
              <a:buChar char="•"/>
            </a:pPr>
            <a:r>
              <a:rPr lang="tr-TR" sz="1500" dirty="0">
                <a:solidFill>
                  <a:srgbClr val="4A5568"/>
                </a:solidFill>
                <a:latin typeface="IBM Plex Sans" pitchFamily="34" charset="0"/>
                <a:ea typeface="IBM Plex Sans" pitchFamily="34" charset="-122"/>
                <a:cs typeface="IBM Plex Sans" pitchFamily="34" charset="-120"/>
              </a:rPr>
              <a:t>SSAS </a:t>
            </a:r>
            <a:r>
              <a:rPr lang="tr-TR" sz="1500" dirty="0" err="1">
                <a:solidFill>
                  <a:srgbClr val="4A5568"/>
                </a:solidFill>
                <a:latin typeface="IBM Plex Sans" pitchFamily="34" charset="0"/>
                <a:ea typeface="IBM Plex Sans" pitchFamily="34" charset="-122"/>
                <a:cs typeface="IBM Plex Sans" pitchFamily="34" charset="-120"/>
              </a:rPr>
              <a:t>veri</a:t>
            </a:r>
            <a:r>
              <a:rPr lang="tr-TR" sz="1500" dirty="0">
                <a:solidFill>
                  <a:srgbClr val="4A5568"/>
                </a:solidFill>
                <a:latin typeface="IBM Plex Sans" pitchFamily="34" charset="0"/>
                <a:ea typeface="IBM Plex Sans" pitchFamily="34" charset="-122"/>
                <a:cs typeface="IBM Plex Sans" pitchFamily="34" charset="-120"/>
              </a:rPr>
              <a:t> </a:t>
            </a:r>
            <a:r>
              <a:rPr lang="tr-TR" sz="1500" dirty="0" err="1">
                <a:solidFill>
                  <a:srgbClr val="4A5568"/>
                </a:solidFill>
                <a:latin typeface="IBM Plex Sans" pitchFamily="34" charset="0"/>
                <a:ea typeface="IBM Plex Sans" pitchFamily="34" charset="-122"/>
                <a:cs typeface="IBM Plex Sans" pitchFamily="34" charset="-120"/>
              </a:rPr>
              <a:t>modellerine</a:t>
            </a:r>
            <a:r>
              <a:rPr lang="tr-TR" sz="1500" dirty="0">
                <a:solidFill>
                  <a:srgbClr val="4A5568"/>
                </a:solidFill>
                <a:latin typeface="IBM Plex Sans" pitchFamily="34" charset="0"/>
                <a:ea typeface="IBM Plex Sans" pitchFamily="34" charset="-122"/>
                <a:cs typeface="IBM Plex Sans" pitchFamily="34" charset="-120"/>
              </a:rPr>
              <a:t> </a:t>
            </a:r>
            <a:r>
              <a:rPr lang="tr-TR" sz="1500" dirty="0" err="1">
                <a:solidFill>
                  <a:srgbClr val="4A5568"/>
                </a:solidFill>
                <a:latin typeface="IBM Plex Sans" pitchFamily="34" charset="0"/>
                <a:ea typeface="IBM Plex Sans" pitchFamily="34" charset="-122"/>
                <a:cs typeface="IBM Plex Sans" pitchFamily="34" charset="-120"/>
              </a:rPr>
              <a:t>bağlanarak</a:t>
            </a:r>
            <a:r>
              <a:rPr lang="tr-TR" sz="1500" dirty="0">
                <a:solidFill>
                  <a:srgbClr val="4A5568"/>
                </a:solidFill>
                <a:latin typeface="IBM Plex Sans" pitchFamily="34" charset="0"/>
                <a:ea typeface="IBM Plex Sans" pitchFamily="34" charset="-122"/>
                <a:cs typeface="IBM Plex Sans" pitchFamily="34" charset="-120"/>
              </a:rPr>
              <a:t> </a:t>
            </a:r>
            <a:r>
              <a:rPr lang="tr-TR" sz="1500" dirty="0" err="1">
                <a:solidFill>
                  <a:srgbClr val="4A5568"/>
                </a:solidFill>
                <a:latin typeface="IBM Plex Sans" pitchFamily="34" charset="0"/>
                <a:ea typeface="IBM Plex Sans" pitchFamily="34" charset="-122"/>
                <a:cs typeface="IBM Plex Sans" pitchFamily="34" charset="-120"/>
              </a:rPr>
              <a:t>analiz</a:t>
            </a:r>
            <a:r>
              <a:rPr lang="tr-TR" sz="1500" dirty="0">
                <a:solidFill>
                  <a:srgbClr val="4A5568"/>
                </a:solidFill>
                <a:latin typeface="IBM Plex Sans" pitchFamily="34" charset="0"/>
                <a:ea typeface="IBM Plex Sans" pitchFamily="34" charset="-122"/>
                <a:cs typeface="IBM Plex Sans" pitchFamily="34" charset="-120"/>
              </a:rPr>
              <a:t> </a:t>
            </a:r>
            <a:r>
              <a:rPr lang="tr-TR" sz="1500" dirty="0" err="1">
                <a:solidFill>
                  <a:srgbClr val="4A5568"/>
                </a:solidFill>
                <a:latin typeface="IBM Plex Sans" pitchFamily="34" charset="0"/>
                <a:ea typeface="IBM Plex Sans" pitchFamily="34" charset="-122"/>
                <a:cs typeface="IBM Plex Sans" pitchFamily="34" charset="-120"/>
              </a:rPr>
              <a:t>imkanı</a:t>
            </a:r>
            <a:r>
              <a:rPr lang="tr-TR" sz="1500" dirty="0">
                <a:solidFill>
                  <a:srgbClr val="4A5568"/>
                </a:solidFill>
                <a:latin typeface="IBM Plex Sans" pitchFamily="34" charset="0"/>
                <a:ea typeface="IBM Plex Sans" pitchFamily="34" charset="-122"/>
                <a:cs typeface="IBM Plex Sans" pitchFamily="34" charset="-120"/>
              </a:rPr>
              <a:t> </a:t>
            </a:r>
            <a:r>
              <a:rPr lang="tr-TR" sz="1500" dirty="0" err="1">
                <a:solidFill>
                  <a:srgbClr val="4A5568"/>
                </a:solidFill>
                <a:latin typeface="IBM Plex Sans" pitchFamily="34" charset="0"/>
                <a:ea typeface="IBM Plex Sans" pitchFamily="34" charset="-122"/>
                <a:cs typeface="IBM Plex Sans" pitchFamily="34" charset="-120"/>
              </a:rPr>
              <a:t>sunmak</a:t>
            </a:r>
            <a:endParaRPr lang="en-US" sz="1500" dirty="0">
              <a:solidFill>
                <a:srgbClr val="4A5568"/>
              </a:solidFill>
              <a:latin typeface="IBM Plex Sans" pitchFamily="34" charset="0"/>
              <a:ea typeface="IBM Plex Sans" pitchFamily="34" charset="-122"/>
              <a:cs typeface="IBM Plex Sans" pitchFamily="34" charset="-120"/>
            </a:endParaRPr>
          </a:p>
          <a:p>
            <a:pPr marL="182880" indent="-182880" algn="l">
              <a:lnSpc>
                <a:spcPts val="2175"/>
              </a:lnSpc>
              <a:buSzPct val="100000"/>
              <a:buChar char="•"/>
            </a:pPr>
            <a:r>
              <a:rPr lang="tr-TR" sz="1500" dirty="0" err="1">
                <a:solidFill>
                  <a:srgbClr val="4A5568"/>
                </a:solidFill>
                <a:latin typeface="IBM Plex Sans" pitchFamily="34" charset="0"/>
                <a:ea typeface="IBM Plex Sans" pitchFamily="34" charset="-122"/>
                <a:cs typeface="IBM Plex Sans" pitchFamily="34" charset="-120"/>
              </a:rPr>
              <a:t>Veriyi</a:t>
            </a:r>
            <a:r>
              <a:rPr lang="tr-TR" sz="1500" dirty="0">
                <a:solidFill>
                  <a:srgbClr val="4A5568"/>
                </a:solidFill>
                <a:latin typeface="IBM Plex Sans" pitchFamily="34" charset="0"/>
                <a:ea typeface="IBM Plex Sans" pitchFamily="34" charset="-122"/>
                <a:cs typeface="IBM Plex Sans" pitchFamily="34" charset="-120"/>
              </a:rPr>
              <a:t> </a:t>
            </a:r>
            <a:r>
              <a:rPr lang="tr-TR" sz="1500" dirty="0" err="1">
                <a:solidFill>
                  <a:srgbClr val="4A5568"/>
                </a:solidFill>
                <a:latin typeface="IBM Plex Sans" pitchFamily="34" charset="0"/>
                <a:ea typeface="IBM Plex Sans" pitchFamily="34" charset="-122"/>
                <a:cs typeface="IBM Plex Sans" pitchFamily="34" charset="-120"/>
              </a:rPr>
              <a:t>değiştirme</a:t>
            </a:r>
            <a:r>
              <a:rPr lang="tr-TR" sz="1500" dirty="0">
                <a:solidFill>
                  <a:srgbClr val="4A5568"/>
                </a:solidFill>
                <a:latin typeface="IBM Plex Sans" pitchFamily="34" charset="0"/>
                <a:ea typeface="IBM Plex Sans" pitchFamily="34" charset="-122"/>
                <a:cs typeface="IBM Plex Sans" pitchFamily="34" charset="-120"/>
              </a:rPr>
              <a:t> </a:t>
            </a:r>
            <a:r>
              <a:rPr lang="tr-TR" sz="1500" dirty="0" err="1">
                <a:solidFill>
                  <a:srgbClr val="4A5568"/>
                </a:solidFill>
                <a:latin typeface="IBM Plex Sans" pitchFamily="34" charset="0"/>
                <a:ea typeface="IBM Plex Sans" pitchFamily="34" charset="-122"/>
                <a:cs typeface="IBM Plex Sans" pitchFamily="34" charset="-120"/>
              </a:rPr>
              <a:t>riski</a:t>
            </a:r>
            <a:r>
              <a:rPr lang="tr-TR" sz="1500" dirty="0">
                <a:solidFill>
                  <a:srgbClr val="4A5568"/>
                </a:solidFill>
                <a:latin typeface="IBM Plex Sans" pitchFamily="34" charset="0"/>
                <a:ea typeface="IBM Plex Sans" pitchFamily="34" charset="-122"/>
                <a:cs typeface="IBM Plex Sans" pitchFamily="34" charset="-120"/>
              </a:rPr>
              <a:t> </a:t>
            </a:r>
            <a:r>
              <a:rPr lang="tr-TR" sz="1500" dirty="0" err="1">
                <a:solidFill>
                  <a:srgbClr val="4A5568"/>
                </a:solidFill>
                <a:latin typeface="IBM Plex Sans" pitchFamily="34" charset="0"/>
                <a:ea typeface="IBM Plex Sans" pitchFamily="34" charset="-122"/>
                <a:cs typeface="IBM Plex Sans" pitchFamily="34" charset="-120"/>
              </a:rPr>
              <a:t>olmadan</a:t>
            </a:r>
            <a:r>
              <a:rPr lang="tr-TR" sz="1500" dirty="0">
                <a:solidFill>
                  <a:srgbClr val="4A5568"/>
                </a:solidFill>
                <a:latin typeface="IBM Plex Sans" pitchFamily="34" charset="0"/>
                <a:ea typeface="IBM Plex Sans" pitchFamily="34" charset="-122"/>
                <a:cs typeface="IBM Plex Sans" pitchFamily="34" charset="-120"/>
              </a:rPr>
              <a:t> </a:t>
            </a:r>
            <a:r>
              <a:rPr lang="tr-TR" sz="1500" dirty="0" err="1">
                <a:solidFill>
                  <a:srgbClr val="4A5568"/>
                </a:solidFill>
                <a:latin typeface="IBM Plex Sans" pitchFamily="34" charset="0"/>
                <a:ea typeface="IBM Plex Sans" pitchFamily="34" charset="-122"/>
                <a:cs typeface="IBM Plex Sans" pitchFamily="34" charset="-120"/>
              </a:rPr>
              <a:t>sorgulama</a:t>
            </a:r>
            <a:r>
              <a:rPr lang="tr-TR" sz="1500" dirty="0">
                <a:solidFill>
                  <a:srgbClr val="4A5568"/>
                </a:solidFill>
                <a:latin typeface="IBM Plex Sans" pitchFamily="34" charset="0"/>
                <a:ea typeface="IBM Plex Sans" pitchFamily="34" charset="-122"/>
                <a:cs typeface="IBM Plex Sans" pitchFamily="34" charset="-120"/>
              </a:rPr>
              <a:t> </a:t>
            </a:r>
            <a:r>
              <a:rPr lang="tr-TR" sz="1500" dirty="0" err="1">
                <a:solidFill>
                  <a:srgbClr val="4A5568"/>
                </a:solidFill>
                <a:latin typeface="IBM Plex Sans" pitchFamily="34" charset="0"/>
                <a:ea typeface="IBM Plex Sans" pitchFamily="34" charset="-122"/>
                <a:cs typeface="IBM Plex Sans" pitchFamily="34" charset="-120"/>
              </a:rPr>
              <a:t>yapabilmek</a:t>
            </a:r>
            <a:endParaRPr lang="en-US" sz="1500" dirty="0"/>
          </a:p>
        </p:txBody>
      </p:sp>
      <p:sp>
        <p:nvSpPr>
          <p:cNvPr id="11" name="Text 8"/>
          <p:cNvSpPr/>
          <p:nvPr/>
        </p:nvSpPr>
        <p:spPr>
          <a:xfrm>
            <a:off x="812800" y="6238280"/>
            <a:ext cx="193839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AI Vibe Coding Projeleri</a:t>
            </a:r>
            <a:endParaRPr lang="en-US" sz="1200" dirty="0"/>
          </a:p>
        </p:txBody>
      </p:sp>
      <p:sp>
        <p:nvSpPr>
          <p:cNvPr id="12" name="Text 9"/>
          <p:cNvSpPr/>
          <p:nvPr/>
        </p:nvSpPr>
        <p:spPr>
          <a:xfrm>
            <a:off x="11145490" y="6238280"/>
            <a:ext cx="23371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nSpc>
                <a:spcPts val="1680"/>
              </a:lnSpc>
            </a:pPr>
            <a:r>
              <a:rPr lang="en-US" sz="1200" kern="0" spc="100" dirty="0">
                <a:solidFill>
                  <a:srgbClr val="A84A14"/>
                </a:solidFill>
                <a:latin typeface="IBM Plex Mono" pitchFamily="49" charset="0"/>
                <a:ea typeface="IBM Plex Mono" pitchFamily="49" charset="-122"/>
                <a:cs typeface="IBM Plex Mono" pitchFamily="49" charset="-120"/>
              </a:rPr>
              <a:t>· NASIL ÇALIŞIR · </a:t>
            </a:r>
            <a:endParaRPr lang="en-US" sz="1200" dirty="0"/>
          </a:p>
        </p:txBody>
      </p:sp>
      <p:sp>
        <p:nvSpPr>
          <p:cNvPr id="3" name="Text 1"/>
          <p:cNvSpPr>
            <a:spLocks noGrp="1"/>
          </p:cNvSpPr>
          <p:nvPr>
            <p:ph type="title"/>
          </p:nvPr>
        </p:nvSpPr>
        <p:spPr>
          <a:xfrm>
            <a:off x="812800" y="11277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LLM Destekli BI Paneli</a:t>
            </a:r>
            <a:endParaRPr lang="en-US" sz="3200" dirty="0"/>
          </a:p>
        </p:txBody>
      </p:sp>
      <p:sp>
        <p:nvSpPr>
          <p:cNvPr id="4" name="Text 2"/>
          <p:cNvSpPr/>
          <p:nvPr/>
        </p:nvSpPr>
        <p:spPr>
          <a:xfrm>
            <a:off x="812800" y="167635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Python · Streamlit · Plotly · local dil modeli Qwen3 8B</a:t>
            </a:r>
            <a:endParaRPr lang="en-US" sz="1400" dirty="0"/>
          </a:p>
        </p:txBody>
      </p:sp>
      <p:sp>
        <p:nvSpPr>
          <p:cNvPr id="5" name="Shape 3"/>
          <p:cNvSpPr/>
          <p:nvPr/>
        </p:nvSpPr>
        <p:spPr>
          <a:xfrm>
            <a:off x="815975" y="2233216"/>
            <a:ext cx="2292350" cy="1950000"/>
          </a:xfrm>
          <a:prstGeom prst="roundRect">
            <a:avLst>
              <a:gd name="adj" fmla="val 5737"/>
            </a:avLst>
          </a:prstGeom>
          <a:solidFill>
            <a:srgbClr val="FFFDF8"/>
          </a:solidFill>
          <a:ln w="6350">
            <a:solidFill>
              <a:srgbClr val="DDD7CA"/>
            </a:solidFill>
            <a:prstDash val="solid"/>
          </a:ln>
        </p:spPr>
        <p:txBody>
          <a:bodyPr/>
          <a:lstStyle/>
          <a:p>
            <a:endParaRPr lang="en-TR"/>
          </a:p>
        </p:txBody>
      </p:sp>
      <p:sp>
        <p:nvSpPr>
          <p:cNvPr id="6" name="Text 4"/>
          <p:cNvSpPr/>
          <p:nvPr/>
        </p:nvSpPr>
        <p:spPr>
          <a:xfrm>
            <a:off x="1022350" y="2439591"/>
            <a:ext cx="193598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84A14"/>
                </a:solidFill>
                <a:latin typeface="IBM Plex Mono" pitchFamily="49" charset="0"/>
                <a:ea typeface="IBM Plex Mono" pitchFamily="49" charset="-122"/>
                <a:cs typeface="IBM Plex Mono" pitchFamily="49" charset="-120"/>
              </a:rPr>
              <a:t>1</a:t>
            </a:r>
            <a:endParaRPr lang="en-US" sz="1200" dirty="0"/>
          </a:p>
        </p:txBody>
      </p:sp>
      <p:sp>
        <p:nvSpPr>
          <p:cNvPr id="7" name="Text 5"/>
          <p:cNvSpPr/>
          <p:nvPr/>
        </p:nvSpPr>
        <p:spPr>
          <a:xfrm>
            <a:off x="1022350" y="2729111"/>
            <a:ext cx="1935988"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Soru sor</a:t>
            </a:r>
            <a:endParaRPr lang="en-US" sz="1600" dirty="0"/>
          </a:p>
        </p:txBody>
      </p:sp>
      <p:sp>
        <p:nvSpPr>
          <p:cNvPr id="8" name="Text 6"/>
          <p:cNvSpPr/>
          <p:nvPr/>
        </p:nvSpPr>
        <p:spPr>
          <a:xfrm>
            <a:off x="1022350" y="3049141"/>
            <a:ext cx="1935988"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"Risk seviyesine göre dağılımı karşılaştır" gibi.</a:t>
            </a:r>
            <a:endParaRPr lang="en-US" sz="1300" dirty="0"/>
          </a:p>
        </p:txBody>
      </p:sp>
      <p:pic>
        <p:nvPicPr>
          <p:cNvPr id="9" name="Image 0" descr="arrow-right"/>
          <p:cNvPicPr>
            <a:picLocks noChangeAspect="1"/>
          </p:cNvPicPr>
          <p:nvPr/>
        </p:nvPicPr>
        <p:blipFill>
          <a:blip r:embed="rId3"/>
          <a:srcRect/>
          <a:stretch/>
        </p:blipFill>
        <p:spPr>
          <a:xfrm>
            <a:off x="3213100" y="3132016"/>
            <a:ext cx="254000" cy="152400"/>
          </a:xfrm>
          <a:prstGeom prst="rect">
            <a:avLst/>
          </a:prstGeom>
        </p:spPr>
      </p:pic>
      <p:sp>
        <p:nvSpPr>
          <p:cNvPr id="10" name="Shape 7"/>
          <p:cNvSpPr/>
          <p:nvPr/>
        </p:nvSpPr>
        <p:spPr>
          <a:xfrm>
            <a:off x="3571875" y="2233216"/>
            <a:ext cx="2292350" cy="1950000"/>
          </a:xfrm>
          <a:prstGeom prst="roundRect">
            <a:avLst>
              <a:gd name="adj" fmla="val 5737"/>
            </a:avLst>
          </a:prstGeom>
          <a:solidFill>
            <a:srgbClr val="FFFDF8"/>
          </a:solidFill>
          <a:ln w="6350">
            <a:solidFill>
              <a:srgbClr val="DDD7CA"/>
            </a:solidFill>
            <a:prstDash val="solid"/>
          </a:ln>
        </p:spPr>
        <p:txBody>
          <a:bodyPr/>
          <a:lstStyle/>
          <a:p>
            <a:endParaRPr lang="en-TR"/>
          </a:p>
        </p:txBody>
      </p:sp>
      <p:sp>
        <p:nvSpPr>
          <p:cNvPr id="11" name="Text 8"/>
          <p:cNvSpPr/>
          <p:nvPr/>
        </p:nvSpPr>
        <p:spPr>
          <a:xfrm>
            <a:off x="3778250" y="2439591"/>
            <a:ext cx="193598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84A14"/>
                </a:solidFill>
                <a:latin typeface="IBM Plex Mono" pitchFamily="49" charset="0"/>
                <a:ea typeface="IBM Plex Mono" pitchFamily="49" charset="-122"/>
                <a:cs typeface="IBM Plex Mono" pitchFamily="49" charset="-120"/>
              </a:rPr>
              <a:t>2</a:t>
            </a:r>
            <a:endParaRPr lang="en-US" sz="1200" dirty="0"/>
          </a:p>
        </p:txBody>
      </p:sp>
      <p:sp>
        <p:nvSpPr>
          <p:cNvPr id="12" name="Text 9"/>
          <p:cNvSpPr/>
          <p:nvPr/>
        </p:nvSpPr>
        <p:spPr>
          <a:xfrm>
            <a:off x="3778250" y="2729111"/>
            <a:ext cx="1935988"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Şemayı bul</a:t>
            </a:r>
            <a:endParaRPr lang="en-US" sz="1600" dirty="0"/>
          </a:p>
        </p:txBody>
      </p:sp>
      <p:sp>
        <p:nvSpPr>
          <p:cNvPr id="13" name="Text 10"/>
          <p:cNvSpPr/>
          <p:nvPr/>
        </p:nvSpPr>
        <p:spPr>
          <a:xfrm>
            <a:off x="3778250" y="3049141"/>
            <a:ext cx="1935988"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AI yalnızca ilgili tablo ve ölçüleri seçer.</a:t>
            </a:r>
            <a:endParaRPr lang="en-US" sz="1300" dirty="0"/>
          </a:p>
        </p:txBody>
      </p:sp>
      <p:pic>
        <p:nvPicPr>
          <p:cNvPr id="14" name="Image 1" descr="arrow-right"/>
          <p:cNvPicPr>
            <a:picLocks noChangeAspect="1"/>
          </p:cNvPicPr>
          <p:nvPr/>
        </p:nvPicPr>
        <p:blipFill>
          <a:blip r:embed="rId3"/>
          <a:srcRect/>
          <a:stretch/>
        </p:blipFill>
        <p:spPr>
          <a:xfrm>
            <a:off x="5969000" y="3132016"/>
            <a:ext cx="254000" cy="152400"/>
          </a:xfrm>
          <a:prstGeom prst="rect">
            <a:avLst/>
          </a:prstGeom>
        </p:spPr>
      </p:pic>
      <p:sp>
        <p:nvSpPr>
          <p:cNvPr id="15" name="Shape 11"/>
          <p:cNvSpPr/>
          <p:nvPr/>
        </p:nvSpPr>
        <p:spPr>
          <a:xfrm>
            <a:off x="6327775" y="2233216"/>
            <a:ext cx="2292350" cy="1950000"/>
          </a:xfrm>
          <a:prstGeom prst="roundRect">
            <a:avLst>
              <a:gd name="adj" fmla="val 5737"/>
            </a:avLst>
          </a:prstGeom>
          <a:solidFill>
            <a:srgbClr val="FFFDF8"/>
          </a:solidFill>
          <a:ln w="6350">
            <a:solidFill>
              <a:srgbClr val="DDD7CA"/>
            </a:solidFill>
            <a:prstDash val="solid"/>
          </a:ln>
        </p:spPr>
        <p:txBody>
          <a:bodyPr/>
          <a:lstStyle/>
          <a:p>
            <a:endParaRPr lang="en-TR"/>
          </a:p>
        </p:txBody>
      </p:sp>
      <p:sp>
        <p:nvSpPr>
          <p:cNvPr id="16" name="Text 12"/>
          <p:cNvSpPr/>
          <p:nvPr/>
        </p:nvSpPr>
        <p:spPr>
          <a:xfrm>
            <a:off x="6534150" y="2439591"/>
            <a:ext cx="193598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84A14"/>
                </a:solidFill>
                <a:latin typeface="IBM Plex Mono" pitchFamily="49" charset="0"/>
                <a:ea typeface="IBM Plex Mono" pitchFamily="49" charset="-122"/>
                <a:cs typeface="IBM Plex Mono" pitchFamily="49" charset="-120"/>
              </a:rPr>
              <a:t>3</a:t>
            </a:r>
            <a:endParaRPr lang="en-US" sz="1200" dirty="0"/>
          </a:p>
        </p:txBody>
      </p:sp>
      <p:sp>
        <p:nvSpPr>
          <p:cNvPr id="17" name="Text 13"/>
          <p:cNvSpPr/>
          <p:nvPr/>
        </p:nvSpPr>
        <p:spPr>
          <a:xfrm>
            <a:off x="6534150" y="2729111"/>
            <a:ext cx="1935988"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DAX üret, doğrula</a:t>
            </a:r>
            <a:endParaRPr lang="en-US" sz="1600" dirty="0"/>
          </a:p>
        </p:txBody>
      </p:sp>
      <p:sp>
        <p:nvSpPr>
          <p:cNvPr id="18" name="Text 14"/>
          <p:cNvSpPr/>
          <p:nvPr/>
        </p:nvSpPr>
        <p:spPr>
          <a:xfrm>
            <a:off x="6534150" y="3049141"/>
            <a:ext cx="1935988" cy="71879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Yalnızca okuma yapan sorgular geçer; değişiklik reddedilir.</a:t>
            </a:r>
            <a:endParaRPr lang="en-US" sz="1300" dirty="0"/>
          </a:p>
        </p:txBody>
      </p:sp>
      <p:pic>
        <p:nvPicPr>
          <p:cNvPr id="19" name="Image 2" descr="arrow-right"/>
          <p:cNvPicPr>
            <a:picLocks noChangeAspect="1"/>
          </p:cNvPicPr>
          <p:nvPr/>
        </p:nvPicPr>
        <p:blipFill>
          <a:blip r:embed="rId3"/>
          <a:srcRect/>
          <a:stretch/>
        </p:blipFill>
        <p:spPr>
          <a:xfrm>
            <a:off x="8724900" y="3132016"/>
            <a:ext cx="254000" cy="152400"/>
          </a:xfrm>
          <a:prstGeom prst="rect">
            <a:avLst/>
          </a:prstGeom>
        </p:spPr>
      </p:pic>
      <p:sp>
        <p:nvSpPr>
          <p:cNvPr id="20" name="Shape 15"/>
          <p:cNvSpPr/>
          <p:nvPr/>
        </p:nvSpPr>
        <p:spPr>
          <a:xfrm>
            <a:off x="9083675" y="2233216"/>
            <a:ext cx="2292350" cy="1950000"/>
          </a:xfrm>
          <a:prstGeom prst="roundRect">
            <a:avLst>
              <a:gd name="adj" fmla="val 5737"/>
            </a:avLst>
          </a:prstGeom>
          <a:solidFill>
            <a:srgbClr val="FFFDF8"/>
          </a:solidFill>
          <a:ln w="6350">
            <a:solidFill>
              <a:srgbClr val="DDD7CA"/>
            </a:solidFill>
            <a:prstDash val="solid"/>
          </a:ln>
        </p:spPr>
        <p:txBody>
          <a:bodyPr/>
          <a:lstStyle/>
          <a:p>
            <a:endParaRPr lang="en-TR"/>
          </a:p>
        </p:txBody>
      </p:sp>
      <p:sp>
        <p:nvSpPr>
          <p:cNvPr id="21" name="Text 16"/>
          <p:cNvSpPr/>
          <p:nvPr/>
        </p:nvSpPr>
        <p:spPr>
          <a:xfrm>
            <a:off x="9290050" y="2439591"/>
            <a:ext cx="193598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84A14"/>
                </a:solidFill>
                <a:latin typeface="IBM Plex Mono" pitchFamily="49" charset="0"/>
                <a:ea typeface="IBM Plex Mono" pitchFamily="49" charset="-122"/>
                <a:cs typeface="IBM Plex Mono" pitchFamily="49" charset="-120"/>
              </a:rPr>
              <a:t>4</a:t>
            </a:r>
            <a:endParaRPr lang="en-US" sz="1200" dirty="0"/>
          </a:p>
        </p:txBody>
      </p:sp>
      <p:sp>
        <p:nvSpPr>
          <p:cNvPr id="22" name="Text 17"/>
          <p:cNvSpPr/>
          <p:nvPr/>
        </p:nvSpPr>
        <p:spPr>
          <a:xfrm>
            <a:off x="9290050" y="2729111"/>
            <a:ext cx="1935988"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Dashboard</a:t>
            </a:r>
            <a:endParaRPr lang="en-US" sz="1600" dirty="0"/>
          </a:p>
        </p:txBody>
      </p:sp>
      <p:sp>
        <p:nvSpPr>
          <p:cNvPr id="23" name="Text 18"/>
          <p:cNvSpPr/>
          <p:nvPr/>
        </p:nvSpPr>
        <p:spPr>
          <a:xfrm>
            <a:off x="9290050" y="3049141"/>
            <a:ext cx="1935988"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Sonuca uygun </a:t>
            </a:r>
            <a:r>
              <a:rPr lang="en-US" sz="1300" dirty="0" err="1">
                <a:solidFill>
                  <a:srgbClr val="4A5568"/>
                </a:solidFill>
                <a:latin typeface="IBM Plex Sans" pitchFamily="34" charset="0"/>
                <a:ea typeface="IBM Plex Sans" pitchFamily="34" charset="-122"/>
                <a:cs typeface="IBM Plex Sans" pitchFamily="34" charset="-120"/>
              </a:rPr>
              <a:t>grafik</a:t>
            </a:r>
            <a:r>
              <a:rPr lang="en-US" sz="1300" dirty="0">
                <a:solidFill>
                  <a:srgbClr val="4A5568"/>
                </a:solidFill>
                <a:latin typeface="IBM Plex Sans" pitchFamily="34" charset="0"/>
                <a:ea typeface="IBM Plex Sans" pitchFamily="34" charset="-122"/>
                <a:cs typeface="IBM Plex Sans" pitchFamily="34" charset="-120"/>
              </a:rPr>
              <a:t> </a:t>
            </a:r>
            <a:r>
              <a:rPr lang="en-US" sz="1300" dirty="0" err="1">
                <a:solidFill>
                  <a:srgbClr val="4A5568"/>
                </a:solidFill>
                <a:latin typeface="IBM Plex Sans" pitchFamily="34" charset="0"/>
                <a:ea typeface="IBM Plex Sans" pitchFamily="34" charset="-122"/>
                <a:cs typeface="IBM Plex Sans" pitchFamily="34" charset="-120"/>
              </a:rPr>
              <a:t>veya</a:t>
            </a:r>
            <a:r>
              <a:rPr lang="en-US" sz="1300" dirty="0">
                <a:solidFill>
                  <a:srgbClr val="4A5568"/>
                </a:solidFill>
                <a:latin typeface="IBM Plex Sans" pitchFamily="34" charset="0"/>
                <a:ea typeface="IBM Plex Sans" pitchFamily="34" charset="-122"/>
                <a:cs typeface="IBM Plex Sans" pitchFamily="34" charset="-120"/>
              </a:rPr>
              <a:t> </a:t>
            </a:r>
            <a:r>
              <a:rPr lang="en-US" sz="1300" dirty="0" err="1">
                <a:solidFill>
                  <a:srgbClr val="4A5568"/>
                </a:solidFill>
                <a:latin typeface="IBM Plex Sans" pitchFamily="34" charset="0"/>
                <a:ea typeface="IBM Plex Sans" pitchFamily="34" charset="-122"/>
                <a:cs typeface="IBM Plex Sans" pitchFamily="34" charset="-120"/>
              </a:rPr>
              <a:t>KPI'lar</a:t>
            </a:r>
            <a:r>
              <a:rPr lang="en-US" sz="1300" dirty="0">
                <a:solidFill>
                  <a:srgbClr val="4A5568"/>
                </a:solidFill>
                <a:latin typeface="IBM Plex Sans" pitchFamily="34" charset="0"/>
                <a:ea typeface="IBM Plex Sans" pitchFamily="34" charset="-122"/>
                <a:cs typeface="IBM Plex Sans" pitchFamily="34" charset="-120"/>
              </a:rPr>
              <a:t> </a:t>
            </a:r>
            <a:r>
              <a:rPr lang="en-US" sz="1300" dirty="0" err="1">
                <a:solidFill>
                  <a:srgbClr val="4A5568"/>
                </a:solidFill>
                <a:latin typeface="IBM Plex Sans" pitchFamily="34" charset="0"/>
                <a:ea typeface="IBM Plex Sans" pitchFamily="34" charset="-122"/>
                <a:cs typeface="IBM Plex Sans" pitchFamily="34" charset="-120"/>
              </a:rPr>
              <a:t>üretilir</a:t>
            </a:r>
            <a:r>
              <a:rPr lang="en-US" sz="1300" dirty="0">
                <a:solidFill>
                  <a:srgbClr val="4A5568"/>
                </a:solidFill>
                <a:latin typeface="IBM Plex Sans" pitchFamily="34" charset="0"/>
                <a:ea typeface="IBM Plex Sans" pitchFamily="34" charset="-122"/>
                <a:cs typeface="IBM Plex Sans" pitchFamily="34" charset="-120"/>
              </a:rPr>
              <a:t>.</a:t>
            </a:r>
            <a:endParaRPr lang="en-US" sz="1300" dirty="0"/>
          </a:p>
        </p:txBody>
      </p:sp>
      <p:sp>
        <p:nvSpPr>
          <p:cNvPr id="33" name="Text 28"/>
          <p:cNvSpPr/>
          <p:nvPr/>
        </p:nvSpPr>
        <p:spPr>
          <a:xfrm>
            <a:off x="812800" y="6238280"/>
            <a:ext cx="193839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AI Vibe Coding Projeleri</a:t>
            </a:r>
            <a:endParaRPr lang="en-US" sz="1200" dirty="0"/>
          </a:p>
        </p:txBody>
      </p:sp>
      <p:sp>
        <p:nvSpPr>
          <p:cNvPr id="34" name="Text 29"/>
          <p:cNvSpPr/>
          <p:nvPr/>
        </p:nvSpPr>
        <p:spPr>
          <a:xfrm>
            <a:off x="11145490" y="6238280"/>
            <a:ext cx="23371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F59E5B"/>
                </a:solidFill>
                <a:latin typeface="IBM Plex Mono" pitchFamily="49" charset="0"/>
                <a:ea typeface="IBM Plex Mono" pitchFamily="49" charset="-122"/>
                <a:cs typeface="IBM Plex Mono" pitchFamily="49" charset="-120"/>
              </a:rPr>
              <a:t>ORTAK YAKLAŞIM</a:t>
            </a:r>
            <a:endParaRPr lang="en-US" sz="1200" dirty="0"/>
          </a:p>
        </p:txBody>
      </p:sp>
      <p:sp>
        <p:nvSpPr>
          <p:cNvPr id="3" name="Text 1"/>
          <p:cNvSpPr>
            <a:spLocks noGrp="1"/>
          </p:cNvSpPr>
          <p:nvPr>
            <p:ph type="title"/>
          </p:nvPr>
        </p:nvSpPr>
        <p:spPr>
          <a:xfrm>
            <a:off x="812800" y="11277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6F4EF"/>
                </a:solidFill>
                <a:latin typeface="IBM Plex Sans" pitchFamily="34" charset="0"/>
                <a:ea typeface="IBM Plex Sans" pitchFamily="34" charset="-122"/>
                <a:cs typeface="IBM Plex Sans" pitchFamily="34" charset="-120"/>
              </a:rPr>
              <a:t>Dört projenin ortak ilkeleri</a:t>
            </a:r>
            <a:endParaRPr lang="en-US" sz="3600" dirty="0"/>
          </a:p>
        </p:txBody>
      </p:sp>
      <p:sp>
        <p:nvSpPr>
          <p:cNvPr id="4" name="Text 2"/>
          <p:cNvSpPr/>
          <p:nvPr/>
        </p:nvSpPr>
        <p:spPr>
          <a:xfrm>
            <a:off x="812800" y="1732211"/>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E3"/>
                </a:solidFill>
                <a:latin typeface="IBM Plex Sans" pitchFamily="34" charset="0"/>
                <a:ea typeface="IBM Plex Sans" pitchFamily="34" charset="-122"/>
                <a:cs typeface="IBM Plex Sans" pitchFamily="34" charset="-120"/>
              </a:rPr>
              <a:t>Dördü de AI kodlama asistanlarıyla, vibe coding yaklaşımıyla geliştirildi.</a:t>
            </a:r>
            <a:endParaRPr lang="en-US" sz="1400" dirty="0"/>
          </a:p>
        </p:txBody>
      </p:sp>
      <p:sp>
        <p:nvSpPr>
          <p:cNvPr id="5" name="Shape 3"/>
          <p:cNvSpPr/>
          <p:nvPr/>
        </p:nvSpPr>
        <p:spPr>
          <a:xfrm>
            <a:off x="812800" y="2336701"/>
            <a:ext cx="5181600" cy="1651050"/>
          </a:xfrm>
          <a:prstGeom prst="roundRect">
            <a:avLst>
              <a:gd name="adj" fmla="val 4615"/>
            </a:avLst>
          </a:prstGeom>
          <a:solidFill>
            <a:srgbClr val="1F2F52"/>
          </a:solidFill>
          <a:ln/>
        </p:spPr>
        <p:txBody>
          <a:bodyPr/>
          <a:lstStyle/>
          <a:p>
            <a:endParaRPr lang="en-TR"/>
          </a:p>
        </p:txBody>
      </p:sp>
      <p:sp>
        <p:nvSpPr>
          <p:cNvPr id="6" name="Shape 4"/>
          <p:cNvSpPr/>
          <p:nvPr/>
        </p:nvSpPr>
        <p:spPr>
          <a:xfrm>
            <a:off x="812800" y="2336701"/>
            <a:ext cx="5181600" cy="1651050"/>
          </a:xfrm>
          <a:custGeom>
            <a:avLst/>
            <a:gdLst/>
            <a:ahLst/>
            <a:cxnLst/>
            <a:rect l="l" t="t" r="r" b="b"/>
            <a:pathLst>
              <a:path w="5181600" h="1651050">
                <a:moveTo>
                  <a:pt x="76200" y="1651050"/>
                </a:moveTo>
                <a:lnTo>
                  <a:pt x="76200" y="1651050"/>
                </a:lnTo>
                <a:arcTo wR="76200" hR="76200" stAng="5400000" swAng="5400000"/>
                <a:lnTo>
                  <a:pt x="0" y="76200"/>
                </a:lnTo>
                <a:arcTo wR="76200" hR="76200" stAng="10800000" swAng="5400000"/>
                <a:lnTo>
                  <a:pt x="76200" y="0"/>
                </a:lnTo>
                <a:arcTo wR="38100" hR="76200" stAng="16200000" swAng="-5400000"/>
                <a:lnTo>
                  <a:pt x="38100" y="1574850"/>
                </a:lnTo>
                <a:arcTo wR="38100" hR="76200" stAng="10800000" swAng="-5400000"/>
                <a:close/>
              </a:path>
            </a:pathLst>
          </a:custGeom>
          <a:solidFill>
            <a:srgbClr val="F59E5B"/>
          </a:solidFill>
          <a:ln/>
        </p:spPr>
        <p:txBody>
          <a:bodyPr/>
          <a:lstStyle/>
          <a:p>
            <a:endParaRPr lang="en-TR"/>
          </a:p>
        </p:txBody>
      </p:sp>
      <p:sp>
        <p:nvSpPr>
          <p:cNvPr id="7" name="Text 5"/>
          <p:cNvSpPr/>
          <p:nvPr/>
        </p:nvSpPr>
        <p:spPr>
          <a:xfrm>
            <a:off x="1079500" y="2565301"/>
            <a:ext cx="4826889"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6F4EF"/>
                </a:solidFill>
                <a:latin typeface="IBM Plex Sans" pitchFamily="34" charset="0"/>
                <a:ea typeface="IBM Plex Sans" pitchFamily="34" charset="-122"/>
                <a:cs typeface="IBM Plex Sans" pitchFamily="34" charset="-120"/>
              </a:rPr>
              <a:t>Veri kurum dışına çıkmaz</a:t>
            </a:r>
            <a:endParaRPr lang="en-US" sz="1800" dirty="0"/>
          </a:p>
        </p:txBody>
      </p:sp>
      <p:sp>
        <p:nvSpPr>
          <p:cNvPr id="8" name="Text 6"/>
          <p:cNvSpPr/>
          <p:nvPr/>
        </p:nvSpPr>
        <p:spPr>
          <a:xfrm>
            <a:off x="1079500" y="2915791"/>
            <a:ext cx="4826889"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E3"/>
                </a:solidFill>
                <a:latin typeface="IBM Plex Sans" pitchFamily="34" charset="0"/>
                <a:ea typeface="IBM Plex Sans" pitchFamily="34" charset="-122"/>
                <a:cs typeface="IBM Plex Sans" pitchFamily="34" charset="-120"/>
              </a:rPr>
              <a:t>AI kullanan araçlarda dil modeli </a:t>
            </a:r>
            <a:r>
              <a:rPr lang="en-US" sz="1400" dirty="0" err="1">
                <a:solidFill>
                  <a:srgbClr val="C9D3E3"/>
                </a:solidFill>
                <a:latin typeface="IBM Plex Sans" pitchFamily="34" charset="0"/>
                <a:ea typeface="IBM Plex Sans" pitchFamily="34" charset="-122"/>
                <a:cs typeface="IBM Plex Sans" pitchFamily="34" charset="-120"/>
              </a:rPr>
              <a:t>bilgisayarda</a:t>
            </a:r>
            <a:r>
              <a:rPr lang="en-US" sz="1400" dirty="0">
                <a:solidFill>
                  <a:srgbClr val="C9D3E3"/>
                </a:solidFill>
                <a:latin typeface="IBM Plex Sans" pitchFamily="34" charset="0"/>
                <a:ea typeface="IBM Plex Sans" pitchFamily="34" charset="-122"/>
                <a:cs typeface="IBM Plex Sans" pitchFamily="34" charset="-120"/>
              </a:rPr>
              <a:t> </a:t>
            </a:r>
            <a:r>
              <a:rPr lang="en-US" sz="1400" dirty="0" err="1">
                <a:solidFill>
                  <a:srgbClr val="C9D3E3"/>
                </a:solidFill>
                <a:latin typeface="IBM Plex Sans" pitchFamily="34" charset="0"/>
                <a:ea typeface="IBM Plex Sans" pitchFamily="34" charset="-122"/>
                <a:cs typeface="IBM Plex Sans" pitchFamily="34" charset="-120"/>
              </a:rPr>
              <a:t>yerel</a:t>
            </a:r>
            <a:r>
              <a:rPr lang="en-US" sz="1400" dirty="0">
                <a:solidFill>
                  <a:srgbClr val="C9D3E3"/>
                </a:solidFill>
                <a:latin typeface="IBM Plex Sans" pitchFamily="34" charset="0"/>
                <a:ea typeface="IBM Plex Sans" pitchFamily="34" charset="-122"/>
                <a:cs typeface="IBM Plex Sans" pitchFamily="34" charset="-120"/>
              </a:rPr>
              <a:t> </a:t>
            </a:r>
            <a:r>
              <a:rPr lang="en-US" sz="1400" dirty="0" err="1">
                <a:solidFill>
                  <a:srgbClr val="C9D3E3"/>
                </a:solidFill>
                <a:latin typeface="IBM Plex Sans" pitchFamily="34" charset="0"/>
                <a:ea typeface="IBM Plex Sans" pitchFamily="34" charset="-122"/>
                <a:cs typeface="IBM Plex Sans" pitchFamily="34" charset="-120"/>
              </a:rPr>
              <a:t>çalışır</a:t>
            </a:r>
            <a:r>
              <a:rPr lang="en-US" sz="1400" dirty="0">
                <a:solidFill>
                  <a:srgbClr val="C9D3E3"/>
                </a:solidFill>
                <a:latin typeface="IBM Plex Sans" pitchFamily="34" charset="0"/>
                <a:ea typeface="IBM Plex Sans" pitchFamily="34" charset="-122"/>
                <a:cs typeface="IBM Plex Sans" pitchFamily="34" charset="-120"/>
              </a:rPr>
              <a:t>, </a:t>
            </a:r>
            <a:r>
              <a:rPr lang="en-US" sz="1400" dirty="0" err="1">
                <a:solidFill>
                  <a:srgbClr val="C9D3E3"/>
                </a:solidFill>
                <a:latin typeface="IBM Plex Sans" pitchFamily="34" charset="0"/>
                <a:ea typeface="IBM Plex Sans" pitchFamily="34" charset="-122"/>
                <a:cs typeface="IBM Plex Sans" pitchFamily="34" charset="-120"/>
              </a:rPr>
              <a:t>bulut</a:t>
            </a:r>
            <a:r>
              <a:rPr lang="en-US" sz="1400" dirty="0">
                <a:solidFill>
                  <a:srgbClr val="C9D3E3"/>
                </a:solidFill>
                <a:latin typeface="IBM Plex Sans" pitchFamily="34" charset="0"/>
                <a:ea typeface="IBM Plex Sans" pitchFamily="34" charset="-122"/>
                <a:cs typeface="IBM Plex Sans" pitchFamily="34" charset="-120"/>
              </a:rPr>
              <a:t> servisine veri gönderilmez.</a:t>
            </a:r>
            <a:endParaRPr lang="en-US" sz="1400" dirty="0"/>
          </a:p>
        </p:txBody>
      </p:sp>
      <p:sp>
        <p:nvSpPr>
          <p:cNvPr id="9" name="Shape 7"/>
          <p:cNvSpPr/>
          <p:nvPr/>
        </p:nvSpPr>
        <p:spPr>
          <a:xfrm>
            <a:off x="6197600" y="2336701"/>
            <a:ext cx="5181600" cy="1651050"/>
          </a:xfrm>
          <a:prstGeom prst="roundRect">
            <a:avLst>
              <a:gd name="adj" fmla="val 4615"/>
            </a:avLst>
          </a:prstGeom>
          <a:solidFill>
            <a:srgbClr val="1F2F52"/>
          </a:solidFill>
          <a:ln/>
        </p:spPr>
        <p:txBody>
          <a:bodyPr/>
          <a:lstStyle/>
          <a:p>
            <a:endParaRPr lang="en-TR"/>
          </a:p>
        </p:txBody>
      </p:sp>
      <p:sp>
        <p:nvSpPr>
          <p:cNvPr id="10" name="Shape 8"/>
          <p:cNvSpPr/>
          <p:nvPr/>
        </p:nvSpPr>
        <p:spPr>
          <a:xfrm>
            <a:off x="6197600" y="2336701"/>
            <a:ext cx="5181600" cy="1651050"/>
          </a:xfrm>
          <a:custGeom>
            <a:avLst/>
            <a:gdLst/>
            <a:ahLst/>
            <a:cxnLst/>
            <a:rect l="l" t="t" r="r" b="b"/>
            <a:pathLst>
              <a:path w="5181600" h="1651050">
                <a:moveTo>
                  <a:pt x="76200" y="1651050"/>
                </a:moveTo>
                <a:lnTo>
                  <a:pt x="76200" y="1651050"/>
                </a:lnTo>
                <a:arcTo wR="76200" hR="76200" stAng="5400000" swAng="5400000"/>
                <a:lnTo>
                  <a:pt x="0" y="76200"/>
                </a:lnTo>
                <a:arcTo wR="76200" hR="76200" stAng="10800000" swAng="5400000"/>
                <a:lnTo>
                  <a:pt x="76200" y="0"/>
                </a:lnTo>
                <a:arcTo wR="38100" hR="76200" stAng="16200000" swAng="-5400000"/>
                <a:lnTo>
                  <a:pt x="38100" y="1574850"/>
                </a:lnTo>
                <a:arcTo wR="38100" hR="76200" stAng="10800000" swAng="-5400000"/>
                <a:close/>
              </a:path>
            </a:pathLst>
          </a:custGeom>
          <a:solidFill>
            <a:srgbClr val="F59E5B"/>
          </a:solidFill>
          <a:ln/>
        </p:spPr>
        <p:txBody>
          <a:bodyPr/>
          <a:lstStyle/>
          <a:p>
            <a:endParaRPr lang="en-TR"/>
          </a:p>
        </p:txBody>
      </p:sp>
      <p:sp>
        <p:nvSpPr>
          <p:cNvPr id="11" name="Text 9"/>
          <p:cNvSpPr/>
          <p:nvPr/>
        </p:nvSpPr>
        <p:spPr>
          <a:xfrm>
            <a:off x="6464300" y="2565301"/>
            <a:ext cx="4826889"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6F4EF"/>
                </a:solidFill>
                <a:latin typeface="IBM Plex Sans" pitchFamily="34" charset="0"/>
                <a:ea typeface="IBM Plex Sans" pitchFamily="34" charset="-122"/>
                <a:cs typeface="IBM Plex Sans" pitchFamily="34" charset="-120"/>
              </a:rPr>
              <a:t>Mevcut araçlarla çalışır</a:t>
            </a:r>
            <a:endParaRPr lang="en-US" sz="1800" dirty="0"/>
          </a:p>
        </p:txBody>
      </p:sp>
      <p:sp>
        <p:nvSpPr>
          <p:cNvPr id="12" name="Text 10"/>
          <p:cNvSpPr/>
          <p:nvPr/>
        </p:nvSpPr>
        <p:spPr>
          <a:xfrm>
            <a:off x="6464300" y="2915791"/>
            <a:ext cx="4826889"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E3"/>
                </a:solidFill>
                <a:latin typeface="IBM Plex Sans" pitchFamily="34" charset="0"/>
                <a:ea typeface="IBM Plex Sans" pitchFamily="34" charset="-122"/>
                <a:cs typeface="IBM Plex Sans" pitchFamily="34" charset="-120"/>
              </a:rPr>
              <a:t>Power BI şablonu (.pbit) ve SSAS modeli üzerinden çalışır; yeni bir platform gerektirmez.</a:t>
            </a:r>
            <a:endParaRPr lang="en-US" sz="1400" dirty="0"/>
          </a:p>
        </p:txBody>
      </p:sp>
      <p:sp>
        <p:nvSpPr>
          <p:cNvPr id="13" name="Shape 11"/>
          <p:cNvSpPr/>
          <p:nvPr/>
        </p:nvSpPr>
        <p:spPr>
          <a:xfrm>
            <a:off x="812800" y="4190950"/>
            <a:ext cx="5181600" cy="1651050"/>
          </a:xfrm>
          <a:prstGeom prst="roundRect">
            <a:avLst>
              <a:gd name="adj" fmla="val 4615"/>
            </a:avLst>
          </a:prstGeom>
          <a:solidFill>
            <a:srgbClr val="1F2F52"/>
          </a:solidFill>
          <a:ln/>
        </p:spPr>
        <p:txBody>
          <a:bodyPr/>
          <a:lstStyle/>
          <a:p>
            <a:endParaRPr lang="en-TR"/>
          </a:p>
        </p:txBody>
      </p:sp>
      <p:sp>
        <p:nvSpPr>
          <p:cNvPr id="14" name="Shape 12"/>
          <p:cNvSpPr/>
          <p:nvPr/>
        </p:nvSpPr>
        <p:spPr>
          <a:xfrm>
            <a:off x="812800" y="4190950"/>
            <a:ext cx="5181600" cy="1651050"/>
          </a:xfrm>
          <a:custGeom>
            <a:avLst/>
            <a:gdLst/>
            <a:ahLst/>
            <a:cxnLst/>
            <a:rect l="l" t="t" r="r" b="b"/>
            <a:pathLst>
              <a:path w="5181600" h="1651050">
                <a:moveTo>
                  <a:pt x="76200" y="1651050"/>
                </a:moveTo>
                <a:lnTo>
                  <a:pt x="76200" y="1651050"/>
                </a:lnTo>
                <a:arcTo wR="76200" hR="76200" stAng="5400000" swAng="5400000"/>
                <a:lnTo>
                  <a:pt x="0" y="76200"/>
                </a:lnTo>
                <a:arcTo wR="76200" hR="76200" stAng="10800000" swAng="5400000"/>
                <a:lnTo>
                  <a:pt x="76200" y="0"/>
                </a:lnTo>
                <a:arcTo wR="38100" hR="76200" stAng="16200000" swAng="-5400000"/>
                <a:lnTo>
                  <a:pt x="38100" y="1574850"/>
                </a:lnTo>
                <a:arcTo wR="38100" hR="76200" stAng="10800000" swAng="-5400000"/>
                <a:close/>
              </a:path>
            </a:pathLst>
          </a:custGeom>
          <a:solidFill>
            <a:srgbClr val="F59E5B"/>
          </a:solidFill>
          <a:ln/>
        </p:spPr>
        <p:txBody>
          <a:bodyPr/>
          <a:lstStyle/>
          <a:p>
            <a:endParaRPr lang="en-TR"/>
          </a:p>
        </p:txBody>
      </p:sp>
      <p:sp>
        <p:nvSpPr>
          <p:cNvPr id="15" name="Text 13"/>
          <p:cNvSpPr/>
          <p:nvPr/>
        </p:nvSpPr>
        <p:spPr>
          <a:xfrm>
            <a:off x="1079500" y="4419550"/>
            <a:ext cx="4826889"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6F4EF"/>
                </a:solidFill>
                <a:latin typeface="IBM Plex Sans" pitchFamily="34" charset="0"/>
                <a:ea typeface="IBM Plex Sans" pitchFamily="34" charset="-122"/>
                <a:cs typeface="IBM Plex Sans" pitchFamily="34" charset="-120"/>
              </a:rPr>
              <a:t>AI önerir, kurallar doğrular</a:t>
            </a:r>
            <a:endParaRPr lang="en-US" sz="1800" dirty="0"/>
          </a:p>
        </p:txBody>
      </p:sp>
      <p:sp>
        <p:nvSpPr>
          <p:cNvPr id="16" name="Text 14"/>
          <p:cNvSpPr/>
          <p:nvPr/>
        </p:nvSpPr>
        <p:spPr>
          <a:xfrm>
            <a:off x="1079500" y="4770041"/>
            <a:ext cx="4826889"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E3"/>
                </a:solidFill>
                <a:latin typeface="IBM Plex Sans" pitchFamily="34" charset="0"/>
                <a:ea typeface="IBM Plex Sans" pitchFamily="34" charset="-122"/>
                <a:cs typeface="IBM Plex Sans" pitchFamily="34" charset="-120"/>
              </a:rPr>
              <a:t>AI çıktısı kural kontrolünden geçer. Model yanıt vermezse araç kural tabanlı çalışmaya devam eder.</a:t>
            </a:r>
            <a:endParaRPr lang="en-US" sz="1400" dirty="0"/>
          </a:p>
        </p:txBody>
      </p:sp>
      <p:sp>
        <p:nvSpPr>
          <p:cNvPr id="17" name="Shape 15"/>
          <p:cNvSpPr/>
          <p:nvPr/>
        </p:nvSpPr>
        <p:spPr>
          <a:xfrm>
            <a:off x="6197600" y="4190950"/>
            <a:ext cx="5181600" cy="1651050"/>
          </a:xfrm>
          <a:prstGeom prst="roundRect">
            <a:avLst>
              <a:gd name="adj" fmla="val 4615"/>
            </a:avLst>
          </a:prstGeom>
          <a:solidFill>
            <a:srgbClr val="1F2F52"/>
          </a:solidFill>
          <a:ln/>
        </p:spPr>
        <p:txBody>
          <a:bodyPr/>
          <a:lstStyle/>
          <a:p>
            <a:endParaRPr lang="en-TR"/>
          </a:p>
        </p:txBody>
      </p:sp>
      <p:sp>
        <p:nvSpPr>
          <p:cNvPr id="18" name="Shape 16"/>
          <p:cNvSpPr/>
          <p:nvPr/>
        </p:nvSpPr>
        <p:spPr>
          <a:xfrm>
            <a:off x="6197600" y="4190950"/>
            <a:ext cx="5181600" cy="1651050"/>
          </a:xfrm>
          <a:custGeom>
            <a:avLst/>
            <a:gdLst/>
            <a:ahLst/>
            <a:cxnLst/>
            <a:rect l="l" t="t" r="r" b="b"/>
            <a:pathLst>
              <a:path w="5181600" h="1651050">
                <a:moveTo>
                  <a:pt x="76200" y="1651050"/>
                </a:moveTo>
                <a:lnTo>
                  <a:pt x="76200" y="1651050"/>
                </a:lnTo>
                <a:arcTo wR="76200" hR="76200" stAng="5400000" swAng="5400000"/>
                <a:lnTo>
                  <a:pt x="0" y="76200"/>
                </a:lnTo>
                <a:arcTo wR="76200" hR="76200" stAng="10800000" swAng="5400000"/>
                <a:lnTo>
                  <a:pt x="76200" y="0"/>
                </a:lnTo>
                <a:arcTo wR="38100" hR="76200" stAng="16200000" swAng="-5400000"/>
                <a:lnTo>
                  <a:pt x="38100" y="1574850"/>
                </a:lnTo>
                <a:arcTo wR="38100" hR="76200" stAng="10800000" swAng="-5400000"/>
                <a:close/>
              </a:path>
            </a:pathLst>
          </a:custGeom>
          <a:solidFill>
            <a:srgbClr val="F59E5B"/>
          </a:solidFill>
          <a:ln/>
        </p:spPr>
        <p:txBody>
          <a:bodyPr/>
          <a:lstStyle/>
          <a:p>
            <a:endParaRPr lang="en-TR"/>
          </a:p>
        </p:txBody>
      </p:sp>
      <p:sp>
        <p:nvSpPr>
          <p:cNvPr id="19" name="Text 17"/>
          <p:cNvSpPr/>
          <p:nvPr/>
        </p:nvSpPr>
        <p:spPr>
          <a:xfrm>
            <a:off x="6464300" y="4419550"/>
            <a:ext cx="4826889" cy="299690"/>
          </a:xfrm>
          <a:prstGeom prst="rect">
            <a:avLst/>
          </a:prstGeom>
          <a:noFill/>
          <a:ln/>
        </p:spPr>
        <p:txBody>
          <a:bodyPr wrap="square" lIns="0" tIns="0" rIns="0" bIns="0" rtlCol="0" anchor="t">
            <a:normAutofit/>
          </a:bodyPr>
          <a:lstStyle/>
          <a:p>
            <a:pPr marL="0" indent="0" algn="l">
              <a:lnSpc>
                <a:spcPts val="2160"/>
              </a:lnSpc>
              <a:buNone/>
            </a:pPr>
            <a:r>
              <a:rPr lang="en-US" sz="1800" b="1" dirty="0" err="1">
                <a:solidFill>
                  <a:srgbClr val="F6F4EF"/>
                </a:solidFill>
                <a:latin typeface="IBM Plex Sans" pitchFamily="34" charset="0"/>
                <a:ea typeface="IBM Plex Sans" pitchFamily="34" charset="-122"/>
                <a:cs typeface="IBM Plex Sans" pitchFamily="34" charset="-120"/>
              </a:rPr>
              <a:t>Varsayım</a:t>
            </a:r>
            <a:r>
              <a:rPr lang="en-US" sz="1800" b="1" dirty="0">
                <a:solidFill>
                  <a:srgbClr val="F6F4EF"/>
                </a:solidFill>
                <a:latin typeface="IBM Plex Sans" pitchFamily="34" charset="0"/>
                <a:ea typeface="IBM Plex Sans" pitchFamily="34" charset="-122"/>
                <a:cs typeface="IBM Plex Sans" pitchFamily="34" charset="-120"/>
              </a:rPr>
              <a:t> yok, sınırlar açık</a:t>
            </a:r>
            <a:endParaRPr lang="en-US" sz="1800" dirty="0"/>
          </a:p>
        </p:txBody>
      </p:sp>
      <p:sp>
        <p:nvSpPr>
          <p:cNvPr id="20" name="Text 18"/>
          <p:cNvSpPr/>
          <p:nvPr/>
        </p:nvSpPr>
        <p:spPr>
          <a:xfrm>
            <a:off x="6464300" y="4770041"/>
            <a:ext cx="4826889"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E3"/>
                </a:solidFill>
                <a:latin typeface="IBM Plex Sans" pitchFamily="34" charset="0"/>
                <a:ea typeface="IBM Plex Sans" pitchFamily="34" charset="-122"/>
                <a:cs typeface="IBM Plex Sans" pitchFamily="34" charset="-120"/>
              </a:rPr>
              <a:t>Desteklenmeyen her şey raporda açıkça belirtilir; tahmine dayalı çıktı üretilmez.</a:t>
            </a:r>
            <a:endParaRPr lang="en-US" sz="1400" dirty="0"/>
          </a:p>
        </p:txBody>
      </p:sp>
      <p:sp>
        <p:nvSpPr>
          <p:cNvPr id="21" name="Text 19"/>
          <p:cNvSpPr/>
          <p:nvPr/>
        </p:nvSpPr>
        <p:spPr>
          <a:xfrm>
            <a:off x="812800" y="6238280"/>
            <a:ext cx="193839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8BF"/>
                </a:solidFill>
                <a:latin typeface="IBM Plex Sans" pitchFamily="34" charset="0"/>
                <a:ea typeface="IBM Plex Sans" pitchFamily="34" charset="-122"/>
                <a:cs typeface="IBM Plex Sans" pitchFamily="34" charset="-120"/>
              </a:rPr>
              <a:t>AI Vibe Coding Projeleri</a:t>
            </a:r>
            <a:endParaRPr lang="en-US" sz="1200" dirty="0"/>
          </a:p>
        </p:txBody>
      </p:sp>
      <p:sp>
        <p:nvSpPr>
          <p:cNvPr id="22" name="Text 20"/>
          <p:cNvSpPr/>
          <p:nvPr/>
        </p:nvSpPr>
        <p:spPr>
          <a:xfrm>
            <a:off x="11145490" y="6238280"/>
            <a:ext cx="23371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AA8BF"/>
                </a:solidFill>
                <a:latin typeface="IBM Plex Sans" pitchFamily="34" charset="0"/>
                <a:ea typeface="IBM Plex Sans" pitchFamily="34" charset="-122"/>
                <a:cs typeface="IBM Plex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F59E5B"/>
          </a:solidFill>
          <a:ln/>
        </p:spPr>
        <p:txBody>
          <a:bodyPr/>
          <a:lstStyle/>
          <a:p>
            <a:endParaRPr lang="en-TR"/>
          </a:p>
        </p:txBody>
      </p:sp>
      <p:sp>
        <p:nvSpPr>
          <p:cNvPr id="3" name="Text 1"/>
          <p:cNvSpPr/>
          <p:nvPr/>
        </p:nvSpPr>
        <p:spPr>
          <a:xfrm>
            <a:off x="812800" y="226065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kern="0" spc="150" dirty="0">
                <a:solidFill>
                  <a:srgbClr val="F59E5B"/>
                </a:solidFill>
                <a:latin typeface="IBM Plex Mono" pitchFamily="49" charset="0"/>
                <a:ea typeface="IBM Plex Mono" pitchFamily="49" charset="-122"/>
                <a:cs typeface="IBM Plex Mono" pitchFamily="49" charset="-120"/>
              </a:rPr>
              <a:t>TEŞEKKÜRLER</a:t>
            </a:r>
            <a:endParaRPr lang="en-US" sz="1400" dirty="0"/>
          </a:p>
        </p:txBody>
      </p:sp>
      <p:sp>
        <p:nvSpPr>
          <p:cNvPr id="4" name="Text 2"/>
          <p:cNvSpPr>
            <a:spLocks noGrp="1"/>
          </p:cNvSpPr>
          <p:nvPr>
            <p:ph type="title"/>
          </p:nvPr>
        </p:nvSpPr>
        <p:spPr>
          <a:xfrm>
            <a:off x="812800" y="2763540"/>
            <a:ext cx="10883392" cy="878830"/>
          </a:xfrm>
          <a:prstGeom prst="rect">
            <a:avLst/>
          </a:prstGeom>
          <a:noFill/>
          <a:ln/>
        </p:spPr>
        <p:txBody>
          <a:bodyPr wrap="square" lIns="0" tIns="0" rIns="0" bIns="0" rtlCol="0" anchor="t">
            <a:normAutofit/>
          </a:bodyPr>
          <a:lstStyle/>
          <a:p>
            <a:pPr marL="0" indent="0" algn="l">
              <a:lnSpc>
                <a:spcPts val="6720"/>
              </a:lnSpc>
              <a:buNone/>
            </a:pPr>
            <a:r>
              <a:rPr lang="en-US" sz="6400" b="1" i="0" dirty="0">
                <a:solidFill>
                  <a:srgbClr val="F6F4EF"/>
                </a:solidFill>
                <a:latin typeface="IBM Plex Sans" pitchFamily="34" charset="0"/>
                <a:ea typeface="IBM Plex Sans" pitchFamily="34" charset="-122"/>
                <a:cs typeface="IBM Plex Sans" pitchFamily="34" charset="-120"/>
              </a:rPr>
              <a:t>Sorular ve demo</a:t>
            </a:r>
            <a:endParaRPr lang="en-US" sz="6400" dirty="0"/>
          </a:p>
        </p:txBody>
      </p:sp>
      <p:sp>
        <p:nvSpPr>
          <p:cNvPr id="5" name="Text 3"/>
          <p:cNvSpPr/>
          <p:nvPr/>
        </p:nvSpPr>
        <p:spPr>
          <a:xfrm>
            <a:off x="812800" y="3870970"/>
            <a:ext cx="10883392" cy="75178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C9D3E3"/>
                </a:solidFill>
                <a:latin typeface="IBM Plex Sans" pitchFamily="34" charset="0"/>
                <a:ea typeface="IBM Plex Sans" pitchFamily="34" charset="-122"/>
                <a:cs typeface="IBM Plex Sans" pitchFamily="34" charset="-120"/>
              </a:rPr>
              <a:t>SSAS Generator · BI Skorlama</a:t>
            </a:r>
            <a:endParaRPr lang="en-US" sz="2200" dirty="0"/>
          </a:p>
          <a:p>
            <a:pPr marL="0" indent="0" algn="l">
              <a:lnSpc>
                <a:spcPts val="2860"/>
              </a:lnSpc>
              <a:buNone/>
            </a:pPr>
            <a:r>
              <a:rPr lang="en-US" sz="2200" dirty="0">
                <a:solidFill>
                  <a:srgbClr val="C9D3E3"/>
                </a:solidFill>
                <a:latin typeface="IBM Plex Sans" pitchFamily="34" charset="0"/>
                <a:ea typeface="IBM Plex Sans" pitchFamily="34" charset="-122"/>
                <a:cs typeface="IBM Plex Sans" pitchFamily="34" charset="-120"/>
              </a:rPr>
              <a:t>BI UX Designer · LLM Destekli BI Paneli</a:t>
            </a:r>
            <a:endParaRPr lang="en-US" sz="2200" dirty="0"/>
          </a:p>
        </p:txBody>
      </p:sp>
    </p:spTree>
  </p:cSld>
  <p:clrMapOvr>
    <a:masterClrMapping/>
  </p:clrMapOvr>
</p:sld>
</file>

<file path=ppt/theme/theme1.xml><?xml version="1.0" encoding="utf-8"?>
<a:theme xmlns:a="http://schemas.openxmlformats.org/drawingml/2006/main" name="AI Vibe Coding Projeleri">
  <a:themeElements>
    <a:clrScheme name="AI Vibe Coding Projeleri">
      <a:dk1>
        <a:srgbClr val="14213D"/>
      </a:dk1>
      <a:lt1>
        <a:srgbClr val="F6F4EF"/>
      </a:lt1>
      <a:dk2>
        <a:srgbClr val="4D566A"/>
      </a:dk2>
      <a:lt2>
        <a:srgbClr val="DFDFDD"/>
      </a:lt2>
      <a:accent1>
        <a:srgbClr val="A84A14"/>
      </a:accent1>
      <a:accent2>
        <a:srgbClr val="F59E5B"/>
      </a:accent2>
      <a:accent3>
        <a:srgbClr val="2F5D8C"/>
      </a:accent3>
      <a:accent4>
        <a:srgbClr val="4A5568"/>
      </a:accent4>
      <a:accent5>
        <a:srgbClr val="6B7280"/>
      </a:accent5>
      <a:accent6>
        <a:srgbClr val="C9D3E3"/>
      </a:accent6>
      <a:hlink>
        <a:srgbClr val="0563C1"/>
      </a:hlink>
      <a:folHlink>
        <a:srgbClr val="954F72"/>
      </a:folHlink>
    </a:clrScheme>
    <a:fontScheme name="AI Vibe Coding Projeleri">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9e923255-b694-4734-b055-efbd556a65fc}" enabled="1" method="Standard" siteId="{a71b8764-0a7a-4511-8f04-04867f0718ab}" contentBits="0" removed="0"/>
</clbl:labelList>
</file>

<file path=docProps/app.xml><?xml version="1.0" encoding="utf-8"?>
<Properties xmlns="http://schemas.openxmlformats.org/officeDocument/2006/extended-properties" xmlns:vt="http://schemas.openxmlformats.org/officeDocument/2006/docPropsVTypes">
  <TotalTime>518</TotalTime>
  <Words>1432</Words>
  <Application>Microsoft Macintosh PowerPoint</Application>
  <PresentationFormat>Widescreen</PresentationFormat>
  <Paragraphs>194</Paragraphs>
  <Slides>16</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IBM Plex Mono</vt:lpstr>
      <vt:lpstr>IBM Plex Sans</vt:lpstr>
      <vt:lpstr>AI Vibe Coding Projeleri</vt:lpstr>
      <vt:lpstr>AI Vibe Coding Projeleri</vt:lpstr>
      <vt:lpstr>PowerPoint Presentation</vt:lpstr>
      <vt:lpstr>SSAS Generator</vt:lpstr>
      <vt:lpstr>SSAS Generator</vt:lpstr>
      <vt:lpstr>SSAS Generator</vt:lpstr>
      <vt:lpstr>BI Skorlama</vt:lpstr>
      <vt:lpstr>BI Skorlama</vt:lpstr>
      <vt:lpstr>BI Skorlama</vt:lpstr>
      <vt:lpstr>BI Skorlama</vt:lpstr>
      <vt:lpstr>BI UX Designer</vt:lpstr>
      <vt:lpstr>BI UX Designer</vt:lpstr>
      <vt:lpstr>BI UX Designer</vt:lpstr>
      <vt:lpstr>LLM Destekli BI Paneli</vt:lpstr>
      <vt:lpstr>LLM Destekli BI Paneli</vt:lpstr>
      <vt:lpstr>Dört projenin ortak ilkeleri</vt:lpstr>
      <vt:lpstr>Sorular ve demo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Vibe Coding Projeleri</dc:title>
  <dc:subject/>
  <dc:creator/>
  <cp:lastModifiedBy>Ahmet Enes Zeybek / Kuveyt Türk - Veri Hazırlama ve İş Zekası</cp:lastModifiedBy>
  <cp:revision>30</cp:revision>
  <dcterms:created xsi:type="dcterms:W3CDTF">2026-10-11T19:55:54Z</dcterms:created>
  <dcterms:modified xsi:type="dcterms:W3CDTF">2026-10-12T07:10:08Z</dcterms:modified>
</cp:coreProperties>
</file>